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Glacial Indifference Bold" panose="020B0604020202020204" charset="0"/>
      <p:regular r:id="rId25"/>
    </p:embeddedFont>
    <p:embeddedFont>
      <p:font typeface="MediaPro" panose="020B0604020202020204" charset="0"/>
      <p:regular r:id="rId26"/>
    </p:embeddedFont>
    <p:embeddedFont>
      <p:font typeface="MediaPro Heavy Condensed" panose="020B0604020202020204" charset="-79"/>
      <p:regular r:id="rId27"/>
    </p:embeddedFont>
    <p:embeddedFont>
      <p:font typeface="Montserrat" panose="00000500000000000000" pitchFamily="2" charset="0"/>
      <p:regular r:id="rId28"/>
    </p:embeddedFont>
    <p:embeddedFont>
      <p:font typeface="Montserrat Bold" panose="00000800000000000000" charset="0"/>
      <p:regular r:id="rId29"/>
    </p:embeddedFont>
    <p:embeddedFont>
      <p:font typeface="Montserrat Medium" panose="00000600000000000000" pitchFamily="2" charset="0"/>
      <p:regular r:id="rId30"/>
    </p:embeddedFont>
    <p:embeddedFont>
      <p:font typeface="Open Sans" panose="020B0606030504020204" pitchFamily="34" charset="0"/>
      <p:regular r:id="rId31"/>
    </p:embeddedFont>
    <p:embeddedFont>
      <p:font typeface="Open Sans Bold" panose="020B0806030504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3636" autoAdjust="0"/>
    <p:restoredTop sz="94622" autoAdjust="0"/>
  </p:normalViewPr>
  <p:slideViewPr>
    <p:cSldViewPr>
      <p:cViewPr varScale="1">
        <p:scale>
          <a:sx n="67" d="100"/>
          <a:sy n="67" d="100"/>
        </p:scale>
        <p:origin x="303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0" t="-8748" r="-2702" b="-1310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0" y="1028700"/>
            <a:ext cx="5469507" cy="1313060"/>
          </a:xfrm>
          <a:custGeom>
            <a:avLst/>
            <a:gdLst/>
            <a:ahLst/>
            <a:cxnLst/>
            <a:rect l="l" t="t" r="r" b="b"/>
            <a:pathLst>
              <a:path w="5469507" h="1313060">
                <a:moveTo>
                  <a:pt x="0" y="0"/>
                </a:moveTo>
                <a:lnTo>
                  <a:pt x="5469507" y="0"/>
                </a:lnTo>
                <a:lnTo>
                  <a:pt x="5469507" y="1313060"/>
                </a:lnTo>
                <a:lnTo>
                  <a:pt x="0" y="1313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4624825" y="7256099"/>
            <a:ext cx="2634475" cy="2002201"/>
          </a:xfrm>
          <a:custGeom>
            <a:avLst/>
            <a:gdLst/>
            <a:ahLst/>
            <a:cxnLst/>
            <a:rect l="l" t="t" r="r" b="b"/>
            <a:pathLst>
              <a:path w="2634475" h="2002201">
                <a:moveTo>
                  <a:pt x="0" y="0"/>
                </a:moveTo>
                <a:lnTo>
                  <a:pt x="2634475" y="0"/>
                </a:lnTo>
                <a:lnTo>
                  <a:pt x="2634475" y="2002201"/>
                </a:lnTo>
                <a:lnTo>
                  <a:pt x="0" y="2002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028700" y="6784334"/>
            <a:ext cx="16239035" cy="838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4"/>
              </a:lnSpc>
              <a:spcBef>
                <a:spcPct val="0"/>
              </a:spcBef>
            </a:pPr>
            <a:r>
              <a:rPr lang="en-US" sz="4853" u="none" strike="noStrike">
                <a:solidFill>
                  <a:srgbClr val="000012"/>
                </a:solidFill>
                <a:latin typeface="MediaPro"/>
                <a:ea typeface="MediaPro"/>
                <a:cs typeface="MediaPro"/>
                <a:sym typeface="MediaPro"/>
              </a:rPr>
              <a:t>PRÉSENTATION DE STAGE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269" y="4359314"/>
            <a:ext cx="9265148" cy="1482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54"/>
              </a:lnSpc>
              <a:spcBef>
                <a:spcPct val="0"/>
              </a:spcBef>
            </a:pPr>
            <a:r>
              <a:rPr lang="en-US" sz="4253" u="none" strike="noStrike">
                <a:solidFill>
                  <a:srgbClr val="000012"/>
                </a:solidFill>
                <a:latin typeface="MediaPro Heavy Condensed"/>
                <a:ea typeface="MediaPro Heavy Condensed"/>
                <a:cs typeface="MediaPro Heavy Condensed"/>
                <a:sym typeface="MediaPro Heavy Condensed"/>
              </a:rPr>
              <a:t>ANALYSE D’OBSOLESCENCE ET CRITICITÉ D’UNE LIGNE DE PRODUCTION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495620"/>
            <a:ext cx="9260583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4"/>
              </a:lnSpc>
            </a:pPr>
            <a:r>
              <a:rPr lang="en-US" sz="3353" dirty="0">
                <a:solidFill>
                  <a:srgbClr val="000012"/>
                </a:solidFill>
                <a:latin typeface="MediaPro"/>
                <a:ea typeface="MediaPro"/>
                <a:cs typeface="MediaPro"/>
                <a:sym typeface="MediaPro"/>
              </a:rPr>
              <a:t>MAITRE DE STAGE : MOUTAKKI ABDELHAMID</a:t>
            </a:r>
          </a:p>
          <a:p>
            <a:pPr>
              <a:lnSpc>
                <a:spcPts val="4694"/>
              </a:lnSpc>
            </a:pPr>
            <a:r>
              <a:rPr lang="en-US" sz="3353" dirty="0">
                <a:solidFill>
                  <a:srgbClr val="000012"/>
                </a:solidFill>
                <a:latin typeface="MediaPro"/>
                <a:ea typeface="MediaPro"/>
                <a:cs typeface="MediaPro"/>
                <a:sym typeface="MediaPro"/>
              </a:rPr>
              <a:t>TUTEUR DE STAGE : JONAS-SZATANSKI JACEK</a:t>
            </a:r>
          </a:p>
          <a:p>
            <a:pPr>
              <a:lnSpc>
                <a:spcPts val="4694"/>
              </a:lnSpc>
            </a:pPr>
            <a:r>
              <a:rPr lang="en-US" sz="3353" dirty="0">
                <a:solidFill>
                  <a:srgbClr val="000012"/>
                </a:solidFill>
                <a:latin typeface="MediaPro"/>
                <a:ea typeface="MediaPro"/>
                <a:cs typeface="MediaPro"/>
                <a:sym typeface="MediaPro"/>
              </a:rPr>
              <a:t>ÉTUDIANT: ADDA SABIR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39200" y="8607946"/>
            <a:ext cx="9260583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94"/>
              </a:lnSpc>
              <a:spcBef>
                <a:spcPct val="0"/>
              </a:spcBef>
            </a:pPr>
            <a:r>
              <a:rPr lang="en-US" sz="3353" dirty="0">
                <a:solidFill>
                  <a:srgbClr val="000012"/>
                </a:solidFill>
                <a:latin typeface="MediaPro"/>
                <a:ea typeface="MediaPro"/>
                <a:cs typeface="MediaPro"/>
                <a:sym typeface="MediaPro"/>
              </a:rPr>
              <a:t>ANNÉE ACADÉMIQUE 2025-2026</a:t>
            </a:r>
          </a:p>
          <a:p>
            <a:pPr algn="l">
              <a:lnSpc>
                <a:spcPts val="4694"/>
              </a:lnSpc>
              <a:spcBef>
                <a:spcPct val="0"/>
              </a:spcBef>
            </a:pPr>
            <a:endParaRPr lang="en-US" sz="3353" dirty="0">
              <a:solidFill>
                <a:srgbClr val="000012"/>
              </a:solidFill>
              <a:latin typeface="MediaPro"/>
              <a:ea typeface="MediaPro"/>
              <a:cs typeface="MediaPro"/>
              <a:sym typeface="Media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80" r="-4025" b="-2273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7856676" y="1182363"/>
            <a:ext cx="11245319" cy="2942114"/>
            <a:chOff x="0" y="0"/>
            <a:chExt cx="2961730" cy="7748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61730" cy="774878"/>
            </a:xfrm>
            <a:custGeom>
              <a:avLst/>
              <a:gdLst/>
              <a:ahLst/>
              <a:cxnLst/>
              <a:rect l="l" t="t" r="r" b="b"/>
              <a:pathLst>
                <a:path w="2961730" h="774878">
                  <a:moveTo>
                    <a:pt x="0" y="0"/>
                  </a:moveTo>
                  <a:lnTo>
                    <a:pt x="2961730" y="0"/>
                  </a:lnTo>
                  <a:lnTo>
                    <a:pt x="2961730" y="774878"/>
                  </a:lnTo>
                  <a:lnTo>
                    <a:pt x="0" y="774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961730" cy="774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05571" y="1462874"/>
            <a:ext cx="10591670" cy="213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33"/>
              </a:lnSpc>
              <a:spcBef>
                <a:spcPct val="0"/>
              </a:spcBef>
            </a:pPr>
            <a:r>
              <a:rPr lang="en-US" sz="12381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SOMMAIRE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92733" y="4214485"/>
            <a:ext cx="8253729" cy="7305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Présentation de l’entreprise</a:t>
            </a:r>
          </a:p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Contexte et Objectifs</a:t>
            </a:r>
          </a:p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Ligne de production</a:t>
            </a:r>
          </a:p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Analyse d'obsolescence </a:t>
            </a:r>
          </a:p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Bilan </a:t>
            </a:r>
          </a:p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Sécurité </a:t>
            </a:r>
          </a:p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Missions annexes</a:t>
            </a:r>
          </a:p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Valeurs humaines</a:t>
            </a:r>
          </a:p>
          <a:p>
            <a:pPr algn="l">
              <a:lnSpc>
                <a:spcPts val="5253"/>
              </a:lnSpc>
            </a:pPr>
            <a:r>
              <a:rPr lang="en-US" sz="3752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</a:p>
          <a:p>
            <a:pPr algn="l">
              <a:lnSpc>
                <a:spcPts val="5253"/>
              </a:lnSpc>
            </a:pPr>
            <a:endParaRPr lang="en-US" sz="3752" b="1">
              <a:solidFill>
                <a:srgbClr val="00001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5253"/>
              </a:lnSpc>
              <a:spcBef>
                <a:spcPct val="0"/>
              </a:spcBef>
            </a:pPr>
            <a:endParaRPr lang="en-US" sz="3752" b="1">
              <a:solidFill>
                <a:srgbClr val="00001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808" y="-342581"/>
            <a:ext cx="6194746" cy="11061627"/>
            <a:chOff x="0" y="0"/>
            <a:chExt cx="775345" cy="13844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5345" cy="1384492"/>
            </a:xfrm>
            <a:custGeom>
              <a:avLst/>
              <a:gdLst/>
              <a:ahLst/>
              <a:cxnLst/>
              <a:rect l="l" t="t" r="r" b="b"/>
              <a:pathLst>
                <a:path w="775345" h="1384492">
                  <a:moveTo>
                    <a:pt x="0" y="0"/>
                  </a:moveTo>
                  <a:lnTo>
                    <a:pt x="775345" y="0"/>
                  </a:lnTo>
                  <a:lnTo>
                    <a:pt x="775345" y="1384492"/>
                  </a:lnTo>
                  <a:lnTo>
                    <a:pt x="0" y="1384492"/>
                  </a:lnTo>
                  <a:close/>
                </a:path>
              </a:pathLst>
            </a:custGeom>
            <a:blipFill>
              <a:blip r:embed="rId2"/>
              <a:stretch>
                <a:fillRect l="-55100" r="-112913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050495" y="765503"/>
            <a:ext cx="9926270" cy="264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3"/>
              </a:lnSpc>
            </a:pPr>
            <a:r>
              <a:rPr lang="en-US" sz="8672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PRÉSENTATION DE L’ENTREPRISE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30984" y="3599162"/>
            <a:ext cx="9926270" cy="613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Entreprise 100% marocaine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Laboratoire pharmaceutique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Développement et production de médicaments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Conditionnement de médicaments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Seringue liquide/gel, ampoules, comprimés, vaccins, génériques etc..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Médicaments vendus à des hopitaux ou à des distributeurs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Plus de 300 produits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Exportation dans 35 pays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7961" y="146448"/>
            <a:ext cx="15499839" cy="9994105"/>
          </a:xfrm>
          <a:custGeom>
            <a:avLst/>
            <a:gdLst/>
            <a:ahLst/>
            <a:cxnLst/>
            <a:rect l="l" t="t" r="r" b="b"/>
            <a:pathLst>
              <a:path w="15499839" h="9994105">
                <a:moveTo>
                  <a:pt x="0" y="0"/>
                </a:moveTo>
                <a:lnTo>
                  <a:pt x="15499839" y="0"/>
                </a:lnTo>
                <a:lnTo>
                  <a:pt x="15499839" y="9994104"/>
                </a:lnTo>
                <a:lnTo>
                  <a:pt x="0" y="9994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67705" y="1378049"/>
            <a:ext cx="13097222" cy="7530903"/>
          </a:xfrm>
          <a:custGeom>
            <a:avLst/>
            <a:gdLst/>
            <a:ahLst/>
            <a:cxnLst/>
            <a:rect l="l" t="t" r="r" b="b"/>
            <a:pathLst>
              <a:path w="13097222" h="7530903">
                <a:moveTo>
                  <a:pt x="0" y="0"/>
                </a:moveTo>
                <a:lnTo>
                  <a:pt x="13097222" y="0"/>
                </a:lnTo>
                <a:lnTo>
                  <a:pt x="13097222" y="7530902"/>
                </a:lnTo>
                <a:lnTo>
                  <a:pt x="0" y="75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808" y="-342581"/>
            <a:ext cx="6194746" cy="11061627"/>
            <a:chOff x="0" y="0"/>
            <a:chExt cx="775345" cy="13844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5345" cy="1384492"/>
            </a:xfrm>
            <a:custGeom>
              <a:avLst/>
              <a:gdLst/>
              <a:ahLst/>
              <a:cxnLst/>
              <a:rect l="l" t="t" r="r" b="b"/>
              <a:pathLst>
                <a:path w="775345" h="1384492">
                  <a:moveTo>
                    <a:pt x="0" y="0"/>
                  </a:moveTo>
                  <a:lnTo>
                    <a:pt x="775345" y="0"/>
                  </a:lnTo>
                  <a:lnTo>
                    <a:pt x="775345" y="1384492"/>
                  </a:lnTo>
                  <a:lnTo>
                    <a:pt x="0" y="1384492"/>
                  </a:lnTo>
                  <a:close/>
                </a:path>
              </a:pathLst>
            </a:custGeom>
            <a:blipFill>
              <a:blip r:embed="rId2"/>
              <a:stretch>
                <a:fillRect l="-24923" r="-8999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333030" y="502214"/>
            <a:ext cx="9926270" cy="264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3"/>
              </a:lnSpc>
            </a:pPr>
            <a:r>
              <a:rPr lang="en-US" sz="8672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CONTEXTE ET OBJECTIFS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50495" y="4359746"/>
            <a:ext cx="9926270" cy="489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Machine achetée entre 1995 et 2010</a:t>
            </a:r>
          </a:p>
          <a:p>
            <a:pPr algn="l">
              <a:lnSpc>
                <a:spcPts val="4886"/>
              </a:lnSpc>
            </a:pPr>
            <a:r>
              <a:rPr lang="en-US" sz="2714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→ composants obsolètes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 b="1">
                <a:solidFill>
                  <a:srgbClr val="CC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Risque </a:t>
            </a:r>
            <a:r>
              <a:rPr lang="en-US" sz="2714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Panne d’un composant </a:t>
            </a:r>
          </a:p>
          <a:p>
            <a:pPr algn="l">
              <a:lnSpc>
                <a:spcPts val="4886"/>
              </a:lnSpc>
            </a:pPr>
            <a:r>
              <a:rPr lang="en-US" sz="2714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→ arrêt de la production de plusieurs semaines</a:t>
            </a:r>
          </a:p>
          <a:p>
            <a:pPr marL="586063" lvl="1" indent="-293032" algn="l">
              <a:lnSpc>
                <a:spcPts val="4886"/>
              </a:lnSpc>
              <a:buFont typeface="Arial"/>
              <a:buChar char="•"/>
            </a:pPr>
            <a:r>
              <a:rPr lang="en-US" sz="2714" b="1">
                <a:solidFill>
                  <a:srgbClr val="00001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Solution : Réaliser une analyse de l’obsolescence et de criticité afin de determiner l’ordre de rétrofit des machines</a:t>
            </a:r>
          </a:p>
          <a:p>
            <a:pPr algn="l">
              <a:lnSpc>
                <a:spcPts val="4886"/>
              </a:lnSpc>
            </a:pPr>
            <a:endParaRPr lang="en-US" sz="2714" b="1">
              <a:solidFill>
                <a:srgbClr val="00001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455" y="4281779"/>
            <a:ext cx="18143545" cy="2766891"/>
          </a:xfrm>
          <a:custGeom>
            <a:avLst/>
            <a:gdLst/>
            <a:ahLst/>
            <a:cxnLst/>
            <a:rect l="l" t="t" r="r" b="b"/>
            <a:pathLst>
              <a:path w="18143545" h="2766891">
                <a:moveTo>
                  <a:pt x="0" y="0"/>
                </a:moveTo>
                <a:lnTo>
                  <a:pt x="18143545" y="0"/>
                </a:lnTo>
                <a:lnTo>
                  <a:pt x="18143545" y="2766891"/>
                </a:lnTo>
                <a:lnTo>
                  <a:pt x="0" y="2766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3944971" y="424337"/>
            <a:ext cx="9926270" cy="219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8"/>
              </a:lnSpc>
            </a:pPr>
            <a:r>
              <a:rPr lang="en-US" sz="7172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LIGNE DE PRODUCTION SERINGUE LIQUIDE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2557" y="3652619"/>
            <a:ext cx="18065443" cy="3793743"/>
          </a:xfrm>
          <a:custGeom>
            <a:avLst/>
            <a:gdLst/>
            <a:ahLst/>
            <a:cxnLst/>
            <a:rect l="l" t="t" r="r" b="b"/>
            <a:pathLst>
              <a:path w="18065443" h="3793743">
                <a:moveTo>
                  <a:pt x="0" y="0"/>
                </a:moveTo>
                <a:lnTo>
                  <a:pt x="18065443" y="0"/>
                </a:lnTo>
                <a:lnTo>
                  <a:pt x="18065443" y="3793743"/>
                </a:lnTo>
                <a:lnTo>
                  <a:pt x="0" y="379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3944971" y="424337"/>
            <a:ext cx="9926270" cy="219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8"/>
              </a:lnSpc>
            </a:pPr>
            <a:r>
              <a:rPr lang="en-US" sz="7172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CYCLE DE VIE SERINGUE LIQUIDE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86836" y="476042"/>
            <a:ext cx="13314329" cy="109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8"/>
              </a:lnSpc>
            </a:pPr>
            <a:r>
              <a:rPr lang="en-US" sz="7172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DÉMARCHE PROFESSIONELLE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86460"/>
            <a:ext cx="17259300" cy="865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Présentation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 la mission</a:t>
            </a:r>
          </a:p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Présentation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 la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ligne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 production</a:t>
            </a:r>
          </a:p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Présentation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chaque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machine de manière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détaillée</a:t>
            </a:r>
            <a:endParaRPr lang="en-US" sz="3399" dirty="0">
              <a:solidFill>
                <a:srgbClr val="0000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Établissement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d’un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inventaire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des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composants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 la machine                                     ( armoire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électrique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et armoire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déportée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)</a:t>
            </a:r>
          </a:p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Récupération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des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schémas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électriques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 la machine</a:t>
            </a:r>
          </a:p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Comparaison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Vérification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chaque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composant</a:t>
            </a:r>
            <a:endParaRPr lang="en-US" sz="3399" dirty="0">
              <a:solidFill>
                <a:srgbClr val="0000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Évaluation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du cycle de vie de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chaque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composant</a:t>
            </a:r>
            <a:endParaRPr lang="en-US" sz="3399" dirty="0">
              <a:solidFill>
                <a:srgbClr val="0000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Évaluation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des interactions des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composants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obsolètes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avec les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autres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734059" lvl="1" indent="-367030" algn="l">
              <a:lnSpc>
                <a:spcPts val="6221"/>
              </a:lnSpc>
              <a:buAutoNum type="arabicPeriod"/>
            </a:pP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Choix des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remplaçants</a:t>
            </a:r>
            <a:endParaRPr lang="en-US" sz="3399" dirty="0">
              <a:solidFill>
                <a:srgbClr val="0000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67029" lvl="1" algn="l">
              <a:lnSpc>
                <a:spcPts val="6221"/>
              </a:lnSpc>
            </a:pPr>
            <a:endParaRPr lang="en-US" sz="3399" dirty="0">
              <a:solidFill>
                <a:srgbClr val="00001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97209" y="1571833"/>
            <a:ext cx="10693581" cy="8110180"/>
          </a:xfrm>
          <a:custGeom>
            <a:avLst/>
            <a:gdLst/>
            <a:ahLst/>
            <a:cxnLst/>
            <a:rect l="l" t="t" r="r" b="b"/>
            <a:pathLst>
              <a:path w="10693581" h="8110180">
                <a:moveTo>
                  <a:pt x="0" y="0"/>
                </a:moveTo>
                <a:lnTo>
                  <a:pt x="10693582" y="0"/>
                </a:lnTo>
                <a:lnTo>
                  <a:pt x="10693582" y="8110180"/>
                </a:lnTo>
                <a:lnTo>
                  <a:pt x="0" y="811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0863" y="476042"/>
            <a:ext cx="14446275" cy="109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8"/>
              </a:lnSpc>
            </a:pPr>
            <a:r>
              <a:rPr lang="en-US" sz="7172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REMPLISSEUSE-BOUCHONNEUSE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362335" cy="10287000"/>
          </a:xfrm>
          <a:custGeom>
            <a:avLst/>
            <a:gdLst/>
            <a:ahLst/>
            <a:cxnLst/>
            <a:rect l="l" t="t" r="r" b="b"/>
            <a:pathLst>
              <a:path w="8362335" h="10287000">
                <a:moveTo>
                  <a:pt x="0" y="0"/>
                </a:moveTo>
                <a:lnTo>
                  <a:pt x="8362335" y="0"/>
                </a:lnTo>
                <a:lnTo>
                  <a:pt x="836233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517" t="-25726" r="-51738" b="-9024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8532756" y="2930057"/>
            <a:ext cx="9907644" cy="5647357"/>
          </a:xfrm>
          <a:custGeom>
            <a:avLst/>
            <a:gdLst/>
            <a:ahLst/>
            <a:cxnLst/>
            <a:rect l="l" t="t" r="r" b="b"/>
            <a:pathLst>
              <a:path w="9907644" h="5647357">
                <a:moveTo>
                  <a:pt x="0" y="0"/>
                </a:moveTo>
                <a:lnTo>
                  <a:pt x="9907644" y="0"/>
                </a:lnTo>
                <a:lnTo>
                  <a:pt x="9907644" y="5647357"/>
                </a:lnTo>
                <a:lnTo>
                  <a:pt x="0" y="5647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" name="TextBox 4"/>
          <p:cNvSpPr txBox="1"/>
          <p:nvPr/>
        </p:nvSpPr>
        <p:spPr>
          <a:xfrm>
            <a:off x="8514918" y="592711"/>
            <a:ext cx="9773082" cy="86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2"/>
              </a:lnSpc>
            </a:pPr>
            <a:r>
              <a:rPr lang="en-US" sz="5646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ANALYSE D'OBSOLESCENCE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937007" y="476042"/>
            <a:ext cx="12413985" cy="109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8"/>
              </a:lnSpc>
            </a:pPr>
            <a:r>
              <a:rPr lang="en-US" sz="7172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ANALYSE D'OBSOLESCENCE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2514600" y="8120289"/>
            <a:ext cx="12433324" cy="258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080" lvl="1" indent="-206040" algn="l">
              <a:lnSpc>
                <a:spcPts val="3435"/>
              </a:lnSpc>
              <a:buFont typeface="Arial"/>
              <a:buChar char="•"/>
            </a:pPr>
            <a:r>
              <a:rPr lang="en-US" sz="1908" b="1" dirty="0" err="1">
                <a:solidFill>
                  <a:srgbClr val="00001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élément</a:t>
            </a:r>
            <a:r>
              <a:rPr lang="en-US" sz="1908" b="1" dirty="0">
                <a:solidFill>
                  <a:srgbClr val="00001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critique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composant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lié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à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d’autres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composants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et qui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nécessite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le changement de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plusieurs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élément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afin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de le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moderniser</a:t>
            </a:r>
            <a:endParaRPr lang="en-US" sz="1908" dirty="0">
              <a:solidFill>
                <a:srgbClr val="0000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435"/>
              </a:lnSpc>
            </a:pPr>
            <a:endParaRPr lang="en-US" sz="1908" dirty="0">
              <a:solidFill>
                <a:srgbClr val="0000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12080" lvl="1" indent="-206040" algn="l">
              <a:lnSpc>
                <a:spcPts val="3435"/>
              </a:lnSpc>
              <a:buFont typeface="Arial"/>
              <a:buChar char="•"/>
            </a:pPr>
            <a:r>
              <a:rPr lang="en-US" sz="1908" b="1" dirty="0" err="1">
                <a:solidFill>
                  <a:srgbClr val="00001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élément</a:t>
            </a:r>
            <a:r>
              <a:rPr lang="en-US" sz="1908" b="1" dirty="0">
                <a:solidFill>
                  <a:srgbClr val="00001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programmable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composant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qu’il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faut coder </a:t>
            </a:r>
            <a:r>
              <a:rPr lang="en-US" sz="1908" dirty="0" err="1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1908" dirty="0">
                <a:solidFill>
                  <a:srgbClr val="000012"/>
                </a:solidFill>
                <a:latin typeface="Montserrat"/>
                <a:ea typeface="Montserrat"/>
                <a:cs typeface="Montserrat"/>
                <a:sym typeface="Montserrat"/>
              </a:rPr>
              <a:t> on le change</a:t>
            </a:r>
          </a:p>
          <a:p>
            <a:pPr algn="l">
              <a:lnSpc>
                <a:spcPts val="3435"/>
              </a:lnSpc>
            </a:pPr>
            <a:endParaRPr lang="en-US" sz="1908" dirty="0">
              <a:solidFill>
                <a:srgbClr val="00001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435"/>
              </a:lnSpc>
            </a:pPr>
            <a:endParaRPr lang="en-US" sz="1908" dirty="0">
              <a:solidFill>
                <a:srgbClr val="00001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47C0B84-499E-1720-A2DD-34853B2C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276" y="1808031"/>
            <a:ext cx="8367724" cy="552822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B3EDC80-68E7-5AD4-A2B6-445DFAB60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298" y="1575297"/>
            <a:ext cx="4558302" cy="65993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9200" y="1281941"/>
            <a:ext cx="14641174" cy="8839200"/>
          </a:xfrm>
          <a:custGeom>
            <a:avLst/>
            <a:gdLst/>
            <a:ahLst/>
            <a:cxnLst/>
            <a:rect l="l" t="t" r="r" b="b"/>
            <a:pathLst>
              <a:path w="13234916" h="7295747">
                <a:moveTo>
                  <a:pt x="0" y="0"/>
                </a:moveTo>
                <a:lnTo>
                  <a:pt x="13234916" y="0"/>
                </a:lnTo>
                <a:lnTo>
                  <a:pt x="13234916" y="7295747"/>
                </a:lnTo>
                <a:lnTo>
                  <a:pt x="0" y="7295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937007" y="165859"/>
            <a:ext cx="12413985" cy="108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8"/>
              </a:lnSpc>
            </a:pPr>
            <a:r>
              <a:rPr lang="en-US" sz="7172" b="1">
                <a:solidFill>
                  <a:srgbClr val="00001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ANALYSE DE CRITICITÉ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4284028"/>
            <a:ext cx="9525" cy="155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139238" y="4661852"/>
            <a:ext cx="952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8181955" y="5414902"/>
            <a:ext cx="5337080" cy="1981391"/>
          </a:xfrm>
          <a:custGeom>
            <a:avLst/>
            <a:gdLst/>
            <a:ahLst/>
            <a:cxnLst/>
            <a:rect l="l" t="t" r="r" b="b"/>
            <a:pathLst>
              <a:path w="5337080" h="1981391">
                <a:moveTo>
                  <a:pt x="0" y="0"/>
                </a:moveTo>
                <a:lnTo>
                  <a:pt x="5337081" y="0"/>
                </a:lnTo>
                <a:lnTo>
                  <a:pt x="5337081" y="1981391"/>
                </a:lnTo>
                <a:lnTo>
                  <a:pt x="0" y="19813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937007" y="485567"/>
            <a:ext cx="12413985" cy="108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8"/>
              </a:lnSpc>
            </a:pPr>
            <a:r>
              <a:rPr lang="en-US" sz="7172" b="1">
                <a:solidFill>
                  <a:srgbClr val="00001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ANALYSE DE CRITICITÉ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C060154-4548-41B9-9A4F-B261064CA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14502"/>
            <a:ext cx="4398013" cy="64008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E0A3C53-B100-9BB5-001B-79C177C51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955" y="3162300"/>
            <a:ext cx="5337080" cy="7801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99135" y="-360904"/>
            <a:ext cx="8485803" cy="11008809"/>
          </a:xfrm>
          <a:custGeom>
            <a:avLst/>
            <a:gdLst/>
            <a:ahLst/>
            <a:cxnLst/>
            <a:rect l="l" t="t" r="r" b="b"/>
            <a:pathLst>
              <a:path w="8485803" h="11008809">
                <a:moveTo>
                  <a:pt x="0" y="0"/>
                </a:moveTo>
                <a:lnTo>
                  <a:pt x="8485803" y="0"/>
                </a:lnTo>
                <a:lnTo>
                  <a:pt x="8485803" y="11008808"/>
                </a:lnTo>
                <a:lnTo>
                  <a:pt x="0" y="1100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586" r="-1213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38162" y="831408"/>
            <a:ext cx="3700867" cy="14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82"/>
              </a:lnSpc>
            </a:pPr>
            <a:r>
              <a:rPr lang="en-US" sz="9179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8162" y="2921220"/>
            <a:ext cx="10160973" cy="711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Il faut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moderniser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remplisseuse-bouchonneuse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priorité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car:</a:t>
            </a:r>
          </a:p>
          <a:p>
            <a:pPr marL="734059" lvl="1" indent="-367030" algn="l">
              <a:lnSpc>
                <a:spcPts val="4929"/>
              </a:lnSpc>
              <a:buFont typeface="Arial"/>
              <a:buChar char="•"/>
            </a:pP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Beaucoup de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composants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4929"/>
              </a:lnSpc>
            </a:pP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      → + de chance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qu’un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tombe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panne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C’est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un process qui se fait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zone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stérile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donc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pas moyen de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dépanner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avec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une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autre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machine)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Elle a un score de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criticité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de 80,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tandis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l’étiqueteuse</a:t>
            </a:r>
            <a:r>
              <a:rPr lang="en-US" sz="3399" dirty="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 a un score de 68</a:t>
            </a:r>
          </a:p>
          <a:p>
            <a:pPr algn="l">
              <a:lnSpc>
                <a:spcPts val="6391"/>
              </a:lnSpc>
            </a:pPr>
            <a:endParaRPr lang="en-US" sz="3399" dirty="0">
              <a:solidFill>
                <a:srgbClr val="00001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6391"/>
              </a:lnSpc>
            </a:pPr>
            <a:endParaRPr lang="en-US" sz="3399" dirty="0">
              <a:solidFill>
                <a:srgbClr val="00001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06906" y="0"/>
            <a:ext cx="4481094" cy="10287000"/>
          </a:xfrm>
          <a:custGeom>
            <a:avLst/>
            <a:gdLst/>
            <a:ahLst/>
            <a:cxnLst/>
            <a:rect l="l" t="t" r="r" b="b"/>
            <a:pathLst>
              <a:path w="4481094" h="10287000">
                <a:moveTo>
                  <a:pt x="0" y="0"/>
                </a:moveTo>
                <a:lnTo>
                  <a:pt x="4481094" y="0"/>
                </a:lnTo>
                <a:lnTo>
                  <a:pt x="44810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13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47750" y="529818"/>
            <a:ext cx="11763447" cy="1940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3"/>
              </a:lnSpc>
            </a:pPr>
            <a:r>
              <a:rPr lang="en-US" sz="6180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SÉCURITÉ , ENVIRONNEMENT ET QUALITÉ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817" y="2778760"/>
            <a:ext cx="12539214" cy="686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Respect des Bonnes Pratiques de Fabrication (BPF)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Respect des normes d’hygiène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Respect des règles de sécurité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Respect des zones stériles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Gestion des déchets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Sensibilisation aux risques électriques et mécaniques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Sensibilisation à l’importance du travail d’équipe et d’une bonne communication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Sensibilisation à la gestion des conflits dans l’équipe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01562" y="0"/>
            <a:ext cx="5786438" cy="10287000"/>
          </a:xfrm>
          <a:custGeom>
            <a:avLst/>
            <a:gdLst/>
            <a:ahLst/>
            <a:cxnLst/>
            <a:rect l="l" t="t" r="r" b="b"/>
            <a:pathLst>
              <a:path w="5786438" h="10287000">
                <a:moveTo>
                  <a:pt x="0" y="0"/>
                </a:moveTo>
                <a:lnTo>
                  <a:pt x="5786438" y="0"/>
                </a:lnTo>
                <a:lnTo>
                  <a:pt x="57864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29818"/>
            <a:ext cx="11763447" cy="9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3"/>
              </a:lnSpc>
            </a:pPr>
            <a:r>
              <a:rPr lang="en-US" sz="6180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MISSIONS ANNEXES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856623"/>
            <a:ext cx="10281848" cy="6112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Recherche d’une solution pour un soucis CONFIDENTIEL</a:t>
            </a:r>
          </a:p>
          <a:p>
            <a:pPr marL="734059" lvl="1" indent="-367030" algn="l">
              <a:lnSpc>
                <a:spcPts val="503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Modification de l’encartonneuse (3 plaquettes par boite → 1 plaquette par boite)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Paramétrage d’un variateur de vitesse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Cablage de cables électriques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Maintenance des aiguilles de remplissage</a:t>
            </a:r>
          </a:p>
          <a:p>
            <a:pPr marL="734059" lvl="1" indent="-367030" algn="l">
              <a:lnSpc>
                <a:spcPts val="4793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Résolution de divers problèmes sur des machines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131697"/>
            <a:ext cx="10281848" cy="581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Travail dans un secteur où la rigueur a un impact direct sur la sécurité des patients</a:t>
            </a:r>
          </a:p>
          <a:p>
            <a:pPr marL="734059" lvl="1" indent="-367030" algn="l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Traité comme un membre à part entière dès le premier jour</a:t>
            </a:r>
          </a:p>
          <a:p>
            <a:pPr marL="734059" lvl="1" indent="-367030" algn="l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Responsabilité réelle, pas un exercice factice</a:t>
            </a:r>
          </a:p>
          <a:p>
            <a:pPr marL="734059" lvl="1" indent="-367030" algn="l">
              <a:lnSpc>
                <a:spcPts val="591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Découverte de la culture de l’entreprise</a:t>
            </a:r>
          </a:p>
          <a:p>
            <a:pPr algn="l">
              <a:lnSpc>
                <a:spcPts val="5915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93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472431" y="0"/>
            <a:ext cx="5815569" cy="10287000"/>
          </a:xfrm>
          <a:custGeom>
            <a:avLst/>
            <a:gdLst/>
            <a:ahLst/>
            <a:cxnLst/>
            <a:rect l="l" t="t" r="r" b="b"/>
            <a:pathLst>
              <a:path w="5815569" h="10287000">
                <a:moveTo>
                  <a:pt x="0" y="0"/>
                </a:moveTo>
                <a:lnTo>
                  <a:pt x="5815569" y="0"/>
                </a:lnTo>
                <a:lnTo>
                  <a:pt x="58155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172" b="-1106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29818"/>
            <a:ext cx="11868703" cy="1940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3"/>
              </a:lnSpc>
            </a:pPr>
            <a:r>
              <a:rPr lang="en-US" sz="6180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VALEURS HUMAINES ET ETHIQUES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30262" y="0"/>
            <a:ext cx="4757738" cy="10287000"/>
          </a:xfrm>
          <a:custGeom>
            <a:avLst/>
            <a:gdLst/>
            <a:ahLst/>
            <a:cxnLst/>
            <a:rect l="l" t="t" r="r" b="b"/>
            <a:pathLst>
              <a:path w="4757738" h="10287000">
                <a:moveTo>
                  <a:pt x="0" y="0"/>
                </a:moveTo>
                <a:lnTo>
                  <a:pt x="4757738" y="0"/>
                </a:lnTo>
                <a:lnTo>
                  <a:pt x="4757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29818"/>
            <a:ext cx="11868703" cy="9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3"/>
              </a:lnSpc>
            </a:pPr>
            <a:r>
              <a:rPr lang="en-US" sz="6180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162810"/>
            <a:ext cx="10356279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 qui est fait 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Inventaire des composants des machines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Analyse de l’obsolescence des composants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Hiérarchisation des machines selon leur criticité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076825"/>
            <a:ext cx="12356381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 qui reste à faire 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Commande du matériel nécessaire au rétrofit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Reverse engineering des automates et servodrives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Installation et mise en service des nouveaux équipements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200" t="-8748" r="-2702" b="-3090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859019" y="6495972"/>
            <a:ext cx="13450611" cy="3121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85"/>
              </a:lnSpc>
            </a:pPr>
            <a:r>
              <a:rPr lang="en-US" sz="11620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MERCI POUR VOTRE ATTENTION 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71950" y="645184"/>
            <a:ext cx="12061894" cy="9559051"/>
          </a:xfrm>
          <a:custGeom>
            <a:avLst/>
            <a:gdLst/>
            <a:ahLst/>
            <a:cxnLst/>
            <a:rect l="l" t="t" r="r" b="b"/>
            <a:pathLst>
              <a:path w="12061894" h="9559051">
                <a:moveTo>
                  <a:pt x="0" y="0"/>
                </a:moveTo>
                <a:lnTo>
                  <a:pt x="12061894" y="0"/>
                </a:lnTo>
                <a:lnTo>
                  <a:pt x="12061894" y="9559051"/>
                </a:lnTo>
                <a:lnTo>
                  <a:pt x="0" y="9559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417059" y="769009"/>
            <a:ext cx="5815233" cy="115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8"/>
              </a:lnSpc>
            </a:pPr>
            <a:r>
              <a:rPr lang="en-US" sz="8421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ANNEXE 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1131" y="2381755"/>
            <a:ext cx="16296486" cy="7964908"/>
          </a:xfrm>
          <a:custGeom>
            <a:avLst/>
            <a:gdLst/>
            <a:ahLst/>
            <a:cxnLst/>
            <a:rect l="l" t="t" r="r" b="b"/>
            <a:pathLst>
              <a:path w="16296486" h="7964908">
                <a:moveTo>
                  <a:pt x="0" y="0"/>
                </a:moveTo>
                <a:lnTo>
                  <a:pt x="16296486" y="0"/>
                </a:lnTo>
                <a:lnTo>
                  <a:pt x="16296486" y="7964908"/>
                </a:lnTo>
                <a:lnTo>
                  <a:pt x="0" y="7964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5481351" y="1152525"/>
            <a:ext cx="5815233" cy="115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8"/>
              </a:lnSpc>
            </a:pPr>
            <a:r>
              <a:rPr lang="en-US" sz="8421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ANNEXE 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14328" y="1028700"/>
            <a:ext cx="5107615" cy="8321979"/>
          </a:xfrm>
          <a:custGeom>
            <a:avLst/>
            <a:gdLst/>
            <a:ahLst/>
            <a:cxnLst/>
            <a:rect l="l" t="t" r="r" b="b"/>
            <a:pathLst>
              <a:path w="5107615" h="8321979">
                <a:moveTo>
                  <a:pt x="0" y="0"/>
                </a:moveTo>
                <a:lnTo>
                  <a:pt x="5107615" y="0"/>
                </a:lnTo>
                <a:lnTo>
                  <a:pt x="5107615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1152525"/>
            <a:ext cx="5815233" cy="1152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8"/>
              </a:lnSpc>
            </a:pPr>
            <a:r>
              <a:rPr lang="en-US" sz="8421" b="1">
                <a:solidFill>
                  <a:srgbClr val="00001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ANNEXE 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12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545</Words>
  <Application>Microsoft Office PowerPoint</Application>
  <PresentationFormat>Personnalisé</PresentationFormat>
  <Paragraphs>114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4" baseType="lpstr">
      <vt:lpstr>MediaPro Heavy Condensed</vt:lpstr>
      <vt:lpstr>Arial</vt:lpstr>
      <vt:lpstr>Montserrat</vt:lpstr>
      <vt:lpstr>Open Sans</vt:lpstr>
      <vt:lpstr>Open Sans Bold</vt:lpstr>
      <vt:lpstr>MediaPro</vt:lpstr>
      <vt:lpstr>Calibri</vt:lpstr>
      <vt:lpstr>Glacial Indifference Bold</vt:lpstr>
      <vt:lpstr>Montserrat Bold</vt:lpstr>
      <vt:lpstr>Montserrat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SOTHEMA</dc:title>
  <cp:lastModifiedBy>Sabir Adda</cp:lastModifiedBy>
  <cp:revision>4</cp:revision>
  <dcterms:created xsi:type="dcterms:W3CDTF">2006-08-16T00:00:00Z</dcterms:created>
  <dcterms:modified xsi:type="dcterms:W3CDTF">2026-05-11T10:55:07Z</dcterms:modified>
  <dc:identifier>DAHIzvgocBM</dc:identifier>
</cp:coreProperties>
</file>