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2"/>
  </p:notesMasterIdLst>
  <p:sldIdLst>
    <p:sldId id="256" r:id="rId2"/>
    <p:sldId id="259" r:id="rId3"/>
    <p:sldId id="258" r:id="rId4"/>
    <p:sldId id="265" r:id="rId5"/>
    <p:sldId id="261" r:id="rId6"/>
    <p:sldId id="266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dou DIALLO" userId="78ebb7f9-b775-4e77-a4b4-b3fc4d312a90" providerId="ADAL" clId="{0AABDA2D-CC14-4E0D-AC26-54A7833194BC}"/>
    <pc:docChg chg="modSld">
      <pc:chgData name="Amadou DIALLO" userId="78ebb7f9-b775-4e77-a4b4-b3fc4d312a90" providerId="ADAL" clId="{0AABDA2D-CC14-4E0D-AC26-54A7833194BC}" dt="2025-04-07T17:07:31.217" v="3" actId="14100"/>
      <pc:docMkLst>
        <pc:docMk/>
      </pc:docMkLst>
      <pc:sldChg chg="modSp mod">
        <pc:chgData name="Amadou DIALLO" userId="78ebb7f9-b775-4e77-a4b4-b3fc4d312a90" providerId="ADAL" clId="{0AABDA2D-CC14-4E0D-AC26-54A7833194BC}" dt="2025-04-07T17:07:31.217" v="3" actId="14100"/>
        <pc:sldMkLst>
          <pc:docMk/>
          <pc:sldMk cId="0" sldId="260"/>
        </pc:sldMkLst>
        <pc:picChg chg="mod">
          <ac:chgData name="Amadou DIALLO" userId="78ebb7f9-b775-4e77-a4b4-b3fc4d312a90" providerId="ADAL" clId="{0AABDA2D-CC14-4E0D-AC26-54A7833194BC}" dt="2025-04-07T17:07:31.217" v="3" actId="14100"/>
          <ac:picMkLst>
            <pc:docMk/>
            <pc:sldMk cId="0" sldId="260"/>
            <ac:picMk id="3" creationId="{9DCF664A-7102-5B4C-E8B6-C67BD6466FA4}"/>
          </ac:picMkLst>
        </pc:picChg>
      </pc:sldChg>
    </pc:docChg>
  </pc:docChgLst>
  <pc:docChgLst>
    <pc:chgData name="Mohamed Chouaa" userId="b68b8064-9fa6-4160-98e0-55cfab36db13" providerId="ADAL" clId="{0211BB2F-5B0F-4BE3-A242-80C20B8C2010}"/>
    <pc:docChg chg="undo custSel modSld">
      <pc:chgData name="Mohamed Chouaa" userId="b68b8064-9fa6-4160-98e0-55cfab36db13" providerId="ADAL" clId="{0211BB2F-5B0F-4BE3-A242-80C20B8C2010}" dt="2024-10-07T17:57:58.053" v="575" actId="1076"/>
      <pc:docMkLst>
        <pc:docMk/>
      </pc:docMkLst>
      <pc:sldChg chg="modSp mod">
        <pc:chgData name="Mohamed Chouaa" userId="b68b8064-9fa6-4160-98e0-55cfab36db13" providerId="ADAL" clId="{0211BB2F-5B0F-4BE3-A242-80C20B8C2010}" dt="2024-10-07T17:57:58.053" v="575" actId="1076"/>
        <pc:sldMkLst>
          <pc:docMk/>
          <pc:sldMk cId="0" sldId="258"/>
        </pc:sldMkLst>
      </pc:sldChg>
      <pc:sldChg chg="modSp mod">
        <pc:chgData name="Mohamed Chouaa" userId="b68b8064-9fa6-4160-98e0-55cfab36db13" providerId="ADAL" clId="{0211BB2F-5B0F-4BE3-A242-80C20B8C2010}" dt="2024-09-28T15:31:31.554" v="30" actId="1076"/>
        <pc:sldMkLst>
          <pc:docMk/>
          <pc:sldMk cId="0" sldId="259"/>
        </pc:sldMkLst>
      </pc:sldChg>
      <pc:sldChg chg="addSp delSp modSp mod">
        <pc:chgData name="Mohamed Chouaa" userId="b68b8064-9fa6-4160-98e0-55cfab36db13" providerId="ADAL" clId="{0211BB2F-5B0F-4BE3-A242-80C20B8C2010}" dt="2024-09-28T16:00:22.946" v="41" actId="1076"/>
        <pc:sldMkLst>
          <pc:docMk/>
          <pc:sldMk cId="0" sldId="260"/>
        </pc:sldMkLst>
      </pc:sldChg>
      <pc:sldChg chg="modSp mod">
        <pc:chgData name="Mohamed Chouaa" userId="b68b8064-9fa6-4160-98e0-55cfab36db13" providerId="ADAL" clId="{0211BB2F-5B0F-4BE3-A242-80C20B8C2010}" dt="2024-09-28T16:00:31.791" v="43" actId="20577"/>
        <pc:sldMkLst>
          <pc:docMk/>
          <pc:sldMk cId="0" sldId="262"/>
        </pc:sldMkLst>
      </pc:sldChg>
      <pc:sldChg chg="addSp delSp modSp mod">
        <pc:chgData name="Mohamed Chouaa" userId="b68b8064-9fa6-4160-98e0-55cfab36db13" providerId="ADAL" clId="{0211BB2F-5B0F-4BE3-A242-80C20B8C2010}" dt="2024-09-29T14:22:21.313" v="333" actId="20577"/>
        <pc:sldMkLst>
          <pc:docMk/>
          <pc:sldMk cId="0" sldId="263"/>
        </pc:sldMkLst>
      </pc:sldChg>
      <pc:sldChg chg="addSp delSp modSp mod">
        <pc:chgData name="Mohamed Chouaa" userId="b68b8064-9fa6-4160-98e0-55cfab36db13" providerId="ADAL" clId="{0211BB2F-5B0F-4BE3-A242-80C20B8C2010}" dt="2024-09-29T19:22:44.082" v="544" actId="1076"/>
        <pc:sldMkLst>
          <pc:docMk/>
          <pc:sldMk cId="2175675273" sldId="264"/>
        </pc:sldMkLst>
      </pc:sldChg>
      <pc:sldChg chg="addSp delSp modSp mod">
        <pc:chgData name="Mohamed Chouaa" userId="b68b8064-9fa6-4160-98e0-55cfab36db13" providerId="ADAL" clId="{0211BB2F-5B0F-4BE3-A242-80C20B8C2010}" dt="2024-10-07T17:56:20.240" v="550" actId="1076"/>
        <pc:sldMkLst>
          <pc:docMk/>
          <pc:sldMk cId="2424116604" sldId="265"/>
        </pc:sldMkLst>
      </pc:sldChg>
    </pc:docChg>
  </pc:docChgLst>
  <pc:docChgLst>
    <pc:chgData name="Ibrahim Bentirhi" userId="S::23264@ecam.be::05d9f302-a510-43f7-b6e7-a274a59dd2fc" providerId="AD" clId="Web-{AF9ABB05-1CD2-3FBD-D332-7FA6EB0EE22B}"/>
    <pc:docChg chg="modSld">
      <pc:chgData name="Ibrahim Bentirhi" userId="S::23264@ecam.be::05d9f302-a510-43f7-b6e7-a274a59dd2fc" providerId="AD" clId="Web-{AF9ABB05-1CD2-3FBD-D332-7FA6EB0EE22B}" dt="2024-09-28T15:54:25.670" v="121"/>
      <pc:docMkLst>
        <pc:docMk/>
      </pc:docMkLst>
      <pc:sldChg chg="modSp">
        <pc:chgData name="Ibrahim Bentirhi" userId="S::23264@ecam.be::05d9f302-a510-43f7-b6e7-a274a59dd2fc" providerId="AD" clId="Web-{AF9ABB05-1CD2-3FBD-D332-7FA6EB0EE22B}" dt="2024-09-28T15:34:48.653" v="4" actId="20577"/>
        <pc:sldMkLst>
          <pc:docMk/>
          <pc:sldMk cId="2684327247" sldId="256"/>
        </pc:sldMkLst>
      </pc:sldChg>
      <pc:sldChg chg="modSp">
        <pc:chgData name="Ibrahim Bentirhi" userId="S::23264@ecam.be::05d9f302-a510-43f7-b6e7-a274a59dd2fc" providerId="AD" clId="Web-{AF9ABB05-1CD2-3FBD-D332-7FA6EB0EE22B}" dt="2024-09-28T15:53:32.121" v="115" actId="20577"/>
        <pc:sldMkLst>
          <pc:docMk/>
          <pc:sldMk cId="0" sldId="258"/>
        </pc:sldMkLst>
      </pc:sldChg>
      <pc:sldChg chg="modSp">
        <pc:chgData name="Ibrahim Bentirhi" userId="S::23264@ecam.be::05d9f302-a510-43f7-b6e7-a274a59dd2fc" providerId="AD" clId="Web-{AF9ABB05-1CD2-3FBD-D332-7FA6EB0EE22B}" dt="2024-09-28T15:53:46.762" v="118" actId="20577"/>
        <pc:sldMkLst>
          <pc:docMk/>
          <pc:sldMk cId="0" sldId="259"/>
        </pc:sldMkLst>
      </pc:sldChg>
      <pc:sldChg chg="modSp">
        <pc:chgData name="Ibrahim Bentirhi" userId="S::23264@ecam.be::05d9f302-a510-43f7-b6e7-a274a59dd2fc" providerId="AD" clId="Web-{AF9ABB05-1CD2-3FBD-D332-7FA6EB0EE22B}" dt="2024-09-28T15:53:16.495" v="110" actId="20577"/>
        <pc:sldMkLst>
          <pc:docMk/>
          <pc:sldMk cId="0" sldId="260"/>
        </pc:sldMkLst>
      </pc:sldChg>
      <pc:sldChg chg="modSp">
        <pc:chgData name="Ibrahim Bentirhi" userId="S::23264@ecam.be::05d9f302-a510-43f7-b6e7-a274a59dd2fc" providerId="AD" clId="Web-{AF9ABB05-1CD2-3FBD-D332-7FA6EB0EE22B}" dt="2024-09-28T15:53:26.230" v="113" actId="20577"/>
        <pc:sldMkLst>
          <pc:docMk/>
          <pc:sldMk cId="2912548121" sldId="261"/>
        </pc:sldMkLst>
      </pc:sldChg>
      <pc:sldChg chg="modSp">
        <pc:chgData name="Ibrahim Bentirhi" userId="S::23264@ecam.be::05d9f302-a510-43f7-b6e7-a274a59dd2fc" providerId="AD" clId="Web-{AF9ABB05-1CD2-3FBD-D332-7FA6EB0EE22B}" dt="2024-09-28T15:53:08.542" v="108" actId="20577"/>
        <pc:sldMkLst>
          <pc:docMk/>
          <pc:sldMk cId="0" sldId="262"/>
        </pc:sldMkLst>
      </pc:sldChg>
      <pc:sldChg chg="modSp">
        <pc:chgData name="Ibrahim Bentirhi" userId="S::23264@ecam.be::05d9f302-a510-43f7-b6e7-a274a59dd2fc" providerId="AD" clId="Web-{AF9ABB05-1CD2-3FBD-D332-7FA6EB0EE22B}" dt="2024-09-28T15:53:54.372" v="119" actId="20577"/>
        <pc:sldMkLst>
          <pc:docMk/>
          <pc:sldMk cId="0" sldId="263"/>
        </pc:sldMkLst>
      </pc:sldChg>
      <pc:sldChg chg="delSp modSp">
        <pc:chgData name="Ibrahim Bentirhi" userId="S::23264@ecam.be::05d9f302-a510-43f7-b6e7-a274a59dd2fc" providerId="AD" clId="Web-{AF9ABB05-1CD2-3FBD-D332-7FA6EB0EE22B}" dt="2024-09-28T15:54:25.670" v="121"/>
        <pc:sldMkLst>
          <pc:docMk/>
          <pc:sldMk cId="2175675273" sldId="264"/>
        </pc:sldMkLst>
      </pc:sldChg>
      <pc:sldChg chg="modSp">
        <pc:chgData name="Ibrahim Bentirhi" userId="S::23264@ecam.be::05d9f302-a510-43f7-b6e7-a274a59dd2fc" providerId="AD" clId="Web-{AF9ABB05-1CD2-3FBD-D332-7FA6EB0EE22B}" dt="2024-09-28T15:53:21.027" v="111" actId="20577"/>
        <pc:sldMkLst>
          <pc:docMk/>
          <pc:sldMk cId="367412311" sldId="266"/>
        </pc:sldMkLst>
      </pc:sldChg>
    </pc:docChg>
  </pc:docChgLst>
  <pc:docChgLst>
    <pc:chgData name="Sabir Adda" userId="S::23027@ecam.be::a70e973c-9168-4dfd-b916-5c3d76174f23" providerId="AD" clId="Web-{1FB9121B-22D8-6B61-F028-9D23302132BF}"/>
    <pc:docChg chg="modSld">
      <pc:chgData name="Sabir Adda" userId="S::23027@ecam.be::a70e973c-9168-4dfd-b916-5c3d76174f23" providerId="AD" clId="Web-{1FB9121B-22D8-6B61-F028-9D23302132BF}" dt="2024-09-29T18:34:45.322" v="80" actId="20577"/>
      <pc:docMkLst>
        <pc:docMk/>
      </pc:docMkLst>
      <pc:sldChg chg="addSp delSp modSp">
        <pc:chgData name="Sabir Adda" userId="S::23027@ecam.be::a70e973c-9168-4dfd-b916-5c3d76174f23" providerId="AD" clId="Web-{1FB9121B-22D8-6B61-F028-9D23302132BF}" dt="2024-09-29T18:34:45.322" v="80" actId="20577"/>
        <pc:sldMkLst>
          <pc:docMk/>
          <pc:sldMk cId="0" sldId="263"/>
        </pc:sldMkLst>
      </pc:sldChg>
    </pc:docChg>
  </pc:docChgLst>
  <pc:docChgLst>
    <pc:chgData name="Ibrahim Bentirhi" userId="S::23264@ecam.be::05d9f302-a510-43f7-b6e7-a274a59dd2fc" providerId="AD" clId="Web-{3DB7EC0D-9337-E183-C78D-299CEA413833}"/>
    <pc:docChg chg="modSld">
      <pc:chgData name="Ibrahim Bentirhi" userId="S::23264@ecam.be::05d9f302-a510-43f7-b6e7-a274a59dd2fc" providerId="AD" clId="Web-{3DB7EC0D-9337-E183-C78D-299CEA413833}" dt="2024-10-07T23:09:58.560" v="0" actId="1076"/>
      <pc:docMkLst>
        <pc:docMk/>
      </pc:docMkLst>
      <pc:sldChg chg="modSp">
        <pc:chgData name="Ibrahim Bentirhi" userId="S::23264@ecam.be::05d9f302-a510-43f7-b6e7-a274a59dd2fc" providerId="AD" clId="Web-{3DB7EC0D-9337-E183-C78D-299CEA413833}" dt="2024-10-07T23:09:58.560" v="0" actId="1076"/>
        <pc:sldMkLst>
          <pc:docMk/>
          <pc:sldMk cId="367412311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E0404-1A36-4464-B908-F927C996F3E7}" type="datetimeFigureOut">
              <a:rPr lang="fr-BE" smtClean="0"/>
              <a:t>07-04-25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F73BC-37E4-4ED3-B71A-0B78E8D44A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841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73BC-37E4-4ED3-B71A-0B78E8D44A9C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73BC-37E4-4ED3-B71A-0B78E8D44A9C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5703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1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53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87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26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6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98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2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6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0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7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re de diapositiv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Titre de diapositive</a:t>
            </a:r>
          </a:p>
        </p:txBody>
      </p:sp>
      <p:sp>
        <p:nvSpPr>
          <p:cNvPr id="43" name="Texte niveau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de puce de diapositive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ous-titre de diapositiv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1192324"/>
            <a:ext cx="10972801" cy="416307"/>
          </a:xfrm>
          <a:prstGeom prst="rect">
            <a:avLst/>
          </a:prstGeom>
        </p:spPr>
        <p:txBody>
          <a:bodyPr/>
          <a:lstStyle>
            <a:lvl1pPr marL="0" indent="0" algn="ctr" defTabSz="396240">
              <a:lnSpc>
                <a:spcPct val="100000"/>
              </a:lnSpc>
              <a:spcBef>
                <a:spcPts val="0"/>
              </a:spcBef>
              <a:buSzTx/>
              <a:buNone/>
              <a:defRPr sz="2112" spc="-2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Sous-titre de diapositive</a:t>
            </a:r>
          </a:p>
        </p:txBody>
      </p:sp>
      <p:sp>
        <p:nvSpPr>
          <p:cNvPr id="45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485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0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  <p:sldLayoutId id="214748370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7BC2A4-E810-6A4C-658C-E0A0F211D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306" y="300433"/>
            <a:ext cx="6948152" cy="1926406"/>
          </a:xfrm>
        </p:spPr>
        <p:txBody>
          <a:bodyPr>
            <a:normAutofit/>
          </a:bodyPr>
          <a:lstStyle/>
          <a:p>
            <a:pPr algn="ctr"/>
            <a:r>
              <a:rPr lang="fr-FR" sz="5400" b="1">
                <a:latin typeface="Arial Rounded MT Bold" panose="020F0704030504030204" pitchFamily="34" charset="0"/>
                <a:cs typeface="Times New Roman" panose="02020603050405020304" pitchFamily="18" charset="0"/>
              </a:rPr>
              <a:t>Laboratoire de thermodynamique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5AF60C-3A96-BC32-B055-2B29D17C6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7448" y="2352851"/>
            <a:ext cx="6707366" cy="1569486"/>
          </a:xfrm>
        </p:spPr>
        <p:txBody>
          <a:bodyPr>
            <a:normAutofit/>
          </a:bodyPr>
          <a:lstStyle/>
          <a:p>
            <a:pPr algn="ctr"/>
            <a:r>
              <a:rPr lang="fr-FR">
                <a:latin typeface="Arial Rounded MT Bold" panose="020F0704030504030204" pitchFamily="34" charset="0"/>
              </a:rPr>
              <a:t>Le premier principe de la thermodynamique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001BA1"/>
          </a:solidFill>
          <a:ln w="38100" cap="rnd">
            <a:solidFill>
              <a:srgbClr val="001BA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6B938C-AC94-4707-FB91-A26D2374B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1862718"/>
            <a:ext cx="4087368" cy="310513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D5931C7-153B-7160-9237-F879247DA864}"/>
              </a:ext>
            </a:extLst>
          </p:cNvPr>
          <p:cNvSpPr txBox="1"/>
          <p:nvPr/>
        </p:nvSpPr>
        <p:spPr>
          <a:xfrm>
            <a:off x="5135442" y="4770186"/>
            <a:ext cx="46570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latin typeface="Arial Rounded MT Bold" panose="020F0704030504030204" pitchFamily="34" charset="0"/>
              </a:rPr>
              <a:t>Anis Bicha - 23076</a:t>
            </a:r>
          </a:p>
          <a:p>
            <a:r>
              <a:rPr lang="fr-FR">
                <a:latin typeface="Arial Rounded MT Bold" panose="020F0704030504030204" pitchFamily="34" charset="0"/>
              </a:rPr>
              <a:t>Amadou Diallo - 23247</a:t>
            </a:r>
          </a:p>
          <a:p>
            <a:r>
              <a:rPr lang="fr-FR">
                <a:latin typeface="Arial Rounded MT Bold" panose="020F0704030504030204" pitchFamily="34" charset="0"/>
              </a:rPr>
              <a:t>Ibrahim </a:t>
            </a:r>
            <a:r>
              <a:rPr lang="fr-FR" err="1">
                <a:latin typeface="Arial Rounded MT Bold" panose="020F0704030504030204" pitchFamily="34" charset="0"/>
              </a:rPr>
              <a:t>Benthiri</a:t>
            </a:r>
            <a:r>
              <a:rPr lang="fr-FR">
                <a:latin typeface="Arial Rounded MT Bold" panose="020F0704030504030204" pitchFamily="34" charset="0"/>
              </a:rPr>
              <a:t> – 23264</a:t>
            </a:r>
          </a:p>
          <a:p>
            <a:r>
              <a:rPr lang="fr-FR">
                <a:latin typeface="Arial Rounded MT Bold" panose="020F0704030504030204" pitchFamily="34" charset="0"/>
              </a:rPr>
              <a:t>Mohamed </a:t>
            </a:r>
            <a:r>
              <a:rPr lang="fr-FR" err="1">
                <a:latin typeface="Arial Rounded MT Bold" panose="020F0704030504030204" pitchFamily="34" charset="0"/>
              </a:rPr>
              <a:t>Chouaa</a:t>
            </a:r>
            <a:r>
              <a:rPr lang="fr-FR">
                <a:latin typeface="Arial Rounded MT Bold" panose="020F0704030504030204" pitchFamily="34" charset="0"/>
              </a:rPr>
              <a:t> - 23105</a:t>
            </a:r>
          </a:p>
          <a:p>
            <a:r>
              <a:rPr lang="fr-FR" err="1">
                <a:latin typeface="Arial Rounded MT Bold" panose="020F0704030504030204" pitchFamily="34" charset="0"/>
              </a:rPr>
              <a:t>Wiame</a:t>
            </a:r>
            <a:r>
              <a:rPr lang="fr-FR">
                <a:latin typeface="Arial Rounded MT Bold" panose="020F0704030504030204" pitchFamily="34" charset="0"/>
              </a:rPr>
              <a:t> </a:t>
            </a:r>
            <a:r>
              <a:rPr lang="fr-FR" err="1">
                <a:latin typeface="Arial Rounded MT Bold" panose="020F0704030504030204" pitchFamily="34" charset="0"/>
              </a:rPr>
              <a:t>Nassir</a:t>
            </a:r>
            <a:r>
              <a:rPr lang="fr-FR">
                <a:latin typeface="Arial Rounded MT Bold" panose="020F0704030504030204" pitchFamily="34" charset="0"/>
              </a:rPr>
              <a:t> – 23011</a:t>
            </a:r>
          </a:p>
          <a:p>
            <a:r>
              <a:rPr lang="fr-FR">
                <a:latin typeface="Arial Rounded MT Bold" panose="020F0704030504030204" pitchFamily="34" charset="0"/>
              </a:rPr>
              <a:t>Sabir Adda - 23027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D95F7D6-15DF-DFDB-128A-D454DD5F1B9E}"/>
              </a:ext>
            </a:extLst>
          </p:cNvPr>
          <p:cNvSpPr txBox="1"/>
          <p:nvPr/>
        </p:nvSpPr>
        <p:spPr>
          <a:xfrm>
            <a:off x="5071110" y="3944787"/>
            <a:ext cx="124508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>
                <a:latin typeface="Arial Rounded MT Bold"/>
              </a:rPr>
              <a:t>Groupe B</a:t>
            </a:r>
            <a:endParaRPr lang="fr-FR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327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bjectif du laboratoire 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BE" u="sng">
                <a:latin typeface="Arial Rounded MT Bold"/>
              </a:rPr>
              <a:t>Objectif du </a:t>
            </a:r>
            <a:r>
              <a:rPr lang="fr-BE" u="sng" err="1">
                <a:latin typeface="Arial Rounded MT Bold"/>
              </a:rPr>
              <a:t>laboratoire</a:t>
            </a:r>
            <a:r>
              <a:rPr lang="fr-BE" u="sng">
                <a:latin typeface="Arial Rounded MT Bold"/>
              </a:rPr>
              <a:t> ?</a:t>
            </a:r>
            <a:r>
              <a:rPr lang="fr-BE">
                <a:latin typeface="Arial Rounded MT Bold"/>
              </a:rPr>
              <a:t> </a:t>
            </a:r>
          </a:p>
        </p:txBody>
      </p:sp>
      <p:sp>
        <p:nvSpPr>
          <p:cNvPr id="156" name="==&gt; Observer le premier principe de la thermodynamique :…"/>
          <p:cNvSpPr txBox="1">
            <a:spLocks noGrp="1"/>
          </p:cNvSpPr>
          <p:nvPr>
            <p:ph type="body" idx="1"/>
          </p:nvPr>
        </p:nvSpPr>
        <p:spPr>
          <a:xfrm>
            <a:off x="636851" y="967409"/>
            <a:ext cx="10581911" cy="340042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rPr sz="2800">
                <a:latin typeface="Arial Rounded MT Bold" panose="020F0704030504030204" pitchFamily="34" charset="0"/>
              </a:rPr>
              <a:t>Observer le premier </a:t>
            </a:r>
            <a:r>
              <a:rPr sz="2800" err="1">
                <a:latin typeface="Arial Rounded MT Bold" panose="020F0704030504030204" pitchFamily="34" charset="0"/>
              </a:rPr>
              <a:t>principe</a:t>
            </a:r>
            <a:r>
              <a:rPr sz="2800">
                <a:latin typeface="Arial Rounded MT Bold" panose="020F0704030504030204" pitchFamily="34" charset="0"/>
              </a:rPr>
              <a:t> de la </a:t>
            </a:r>
            <a:r>
              <a:rPr sz="2800" err="1">
                <a:latin typeface="Arial Rounded MT Bold" panose="020F0704030504030204" pitchFamily="34" charset="0"/>
              </a:rPr>
              <a:t>thermodynamique</a:t>
            </a:r>
            <a:r>
              <a:rPr sz="2800">
                <a:latin typeface="Arial Rounded MT Bold" panose="020F0704030504030204" pitchFamily="34" charset="0"/>
              </a:rPr>
              <a:t> </a:t>
            </a:r>
            <a:r>
              <a:t>: </a:t>
            </a:r>
          </a:p>
          <a:p>
            <a:pPr marL="0" indent="0" algn="ctr">
              <a:buNone/>
            </a:pPr>
            <a:endParaRPr/>
          </a:p>
          <a:p>
            <a:pPr marL="0" indent="0" algn="ctr" defTabSz="228600">
              <a:lnSpc>
                <a:spcPct val="100000"/>
              </a:lnSpc>
              <a:spcBef>
                <a:spcPts val="0"/>
              </a:spcBef>
              <a:buNone/>
              <a:defRPr sz="4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fr-FR"/>
              <a:t>∆U=Q+W</a:t>
            </a:r>
            <a:endParaRPr lang="fr-FR" sz="100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algn="ctr" defTabSz="228600">
              <a:lnSpc>
                <a:spcPct val="100000"/>
              </a:lnSpc>
              <a:spcBef>
                <a:spcPts val="0"/>
              </a:spcBef>
              <a:buNone/>
              <a:defRPr sz="48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7" name="Rectangle"/>
          <p:cNvSpPr/>
          <p:nvPr/>
        </p:nvSpPr>
        <p:spPr>
          <a:xfrm>
            <a:off x="4324618" y="2673665"/>
            <a:ext cx="3542764" cy="1084129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defTabSz="565150"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1600"/>
          </a:p>
        </p:txBody>
      </p:sp>
      <p:sp>
        <p:nvSpPr>
          <p:cNvPr id="158" name="Avec :…"/>
          <p:cNvSpPr txBox="1"/>
          <p:nvPr/>
        </p:nvSpPr>
        <p:spPr>
          <a:xfrm>
            <a:off x="8352147" y="2741633"/>
            <a:ext cx="3226204" cy="1374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spcBef>
                <a:spcPts val="1200"/>
              </a:spcBef>
              <a:defRPr sz="4400"/>
            </a:pPr>
            <a:r>
              <a:rPr sz="2200">
                <a:latin typeface="Arial Rounded MT Bold" panose="020F0704030504030204" pitchFamily="34" charset="0"/>
              </a:rPr>
              <a:t>Avec : 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sz="2200">
                <a:latin typeface="Arial Rounded MT Bold" panose="020F0704030504030204" pitchFamily="34" charset="0"/>
              </a:rPr>
              <a:t>Q = </a:t>
            </a:r>
            <a:r>
              <a:rPr sz="2200" err="1">
                <a:latin typeface="Arial Rounded MT Bold" panose="020F0704030504030204" pitchFamily="34" charset="0"/>
              </a:rPr>
              <a:t>chaleur</a:t>
            </a:r>
            <a:r>
              <a:rPr sz="2200">
                <a:latin typeface="Arial Rounded MT Bold" panose="020F0704030504030204" pitchFamily="34" charset="0"/>
              </a:rPr>
              <a:t> [Calorie]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sz="2200">
                <a:latin typeface="Arial Rounded MT Bold" panose="020F0704030504030204" pitchFamily="34" charset="0"/>
              </a:rPr>
              <a:t>W = Travail [Joule]</a:t>
            </a:r>
          </a:p>
        </p:txBody>
      </p:sp>
      <p:sp>
        <p:nvSpPr>
          <p:cNvPr id="159" name="==&gt; Deux questions à se poser :…"/>
          <p:cNvSpPr txBox="1"/>
          <p:nvPr/>
        </p:nvSpPr>
        <p:spPr>
          <a:xfrm>
            <a:off x="1507052" y="4892950"/>
            <a:ext cx="5635132" cy="1374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spcBef>
                <a:spcPts val="1200"/>
              </a:spcBef>
              <a:defRPr sz="4400"/>
            </a:pPr>
            <a:r>
              <a:rPr lang="fr-FR" sz="2200">
                <a:latin typeface="Arial Rounded MT Bold" panose="020F0704030504030204" pitchFamily="34" charset="0"/>
              </a:rPr>
              <a:t>Questions </a:t>
            </a:r>
            <a:r>
              <a:rPr sz="2200">
                <a:latin typeface="Arial Rounded MT Bold" panose="020F0704030504030204" pitchFamily="34" charset="0"/>
              </a:rPr>
              <a:t>à se poser : 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sz="2200" err="1">
                <a:latin typeface="Arial Rounded MT Bold" panose="020F0704030504030204" pitchFamily="34" charset="0"/>
              </a:rPr>
              <a:t>Qu’est-ce</a:t>
            </a:r>
            <a:r>
              <a:rPr sz="2200">
                <a:latin typeface="Arial Rounded MT Bold" panose="020F0704030504030204" pitchFamily="34" charset="0"/>
              </a:rPr>
              <a:t> </a:t>
            </a:r>
            <a:r>
              <a:rPr sz="2200" err="1">
                <a:latin typeface="Arial Rounded MT Bold" panose="020F0704030504030204" pitchFamily="34" charset="0"/>
              </a:rPr>
              <a:t>qu’une</a:t>
            </a:r>
            <a:r>
              <a:rPr sz="2200">
                <a:latin typeface="Arial Rounded MT Bold" panose="020F0704030504030204" pitchFamily="34" charset="0"/>
              </a:rPr>
              <a:t> calorie ? 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sz="2200">
                <a:latin typeface="Arial Rounded MT Bold" panose="020F0704030504030204" pitchFamily="34" charset="0"/>
              </a:rPr>
              <a:t>Est-</a:t>
            </a:r>
            <a:r>
              <a:rPr sz="2200" err="1">
                <a:latin typeface="Arial Rounded MT Bold" panose="020F0704030504030204" pitchFamily="34" charset="0"/>
              </a:rPr>
              <a:t>ce</a:t>
            </a:r>
            <a:r>
              <a:rPr sz="2200">
                <a:latin typeface="Arial Rounded MT Bold" panose="020F0704030504030204" pitchFamily="34" charset="0"/>
              </a:rPr>
              <a:t> que le </a:t>
            </a:r>
            <a:r>
              <a:rPr sz="2200" err="1">
                <a:latin typeface="Arial Rounded MT Bold" panose="020F0704030504030204" pitchFamily="34" charset="0"/>
              </a:rPr>
              <a:t>système</a:t>
            </a:r>
            <a:r>
              <a:rPr sz="2200">
                <a:latin typeface="Arial Rounded MT Bold" panose="020F0704030504030204" pitchFamily="34" charset="0"/>
              </a:rPr>
              <a:t> </a:t>
            </a:r>
            <a:r>
              <a:rPr sz="2200" err="1">
                <a:latin typeface="Arial Rounded MT Bold" panose="020F0704030504030204" pitchFamily="34" charset="0"/>
              </a:rPr>
              <a:t>est</a:t>
            </a:r>
            <a:r>
              <a:rPr sz="2200">
                <a:latin typeface="Arial Rounded MT Bold" panose="020F0704030504030204" pitchFamily="34" charset="0"/>
              </a:rPr>
              <a:t> bien fermé ?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L’expérie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BE" u="sng" err="1">
                <a:latin typeface="Arial Rounded MT Bold"/>
              </a:rPr>
              <a:t>L’expérience</a:t>
            </a:r>
            <a:r>
              <a:rPr lang="fr-BE" u="sng">
                <a:latin typeface="Arial Rounded MT Bold"/>
              </a:rPr>
              <a:t> </a:t>
            </a:r>
          </a:p>
        </p:txBody>
      </p:sp>
      <p:sp>
        <p:nvSpPr>
          <p:cNvPr id="162" name="—&gt; Équivalent mécanique de la chaleur"/>
          <p:cNvSpPr txBox="1">
            <a:spLocks noGrp="1"/>
          </p:cNvSpPr>
          <p:nvPr>
            <p:ph type="body" idx="21"/>
          </p:nvPr>
        </p:nvSpPr>
        <p:spPr>
          <a:xfrm>
            <a:off x="701932" y="1339554"/>
            <a:ext cx="4692949" cy="41630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fontScale="92500"/>
          </a:bodyPr>
          <a:lstStyle/>
          <a:p>
            <a:r>
              <a:rPr err="1">
                <a:latin typeface="Arial Rounded MT Bold" panose="020F0704030504030204" pitchFamily="34" charset="0"/>
              </a:rPr>
              <a:t>Équivalent</a:t>
            </a:r>
            <a:r>
              <a:rPr>
                <a:latin typeface="Arial Rounded MT Bold" panose="020F0704030504030204" pitchFamily="34" charset="0"/>
              </a:rPr>
              <a:t> </a:t>
            </a:r>
            <a:r>
              <a:rPr err="1">
                <a:latin typeface="Arial Rounded MT Bold" panose="020F0704030504030204" pitchFamily="34" charset="0"/>
              </a:rPr>
              <a:t>mécanique</a:t>
            </a:r>
            <a:r>
              <a:rPr>
                <a:latin typeface="Arial Rounded MT Bold" panose="020F0704030504030204" pitchFamily="34" charset="0"/>
              </a:rPr>
              <a:t> de la </a:t>
            </a:r>
            <a:r>
              <a:rPr err="1">
                <a:latin typeface="Arial Rounded MT Bold" panose="020F0704030504030204" pitchFamily="34" charset="0"/>
              </a:rPr>
              <a:t>chaleur</a:t>
            </a:r>
            <a:r>
              <a:rPr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164" name="Texte"/>
          <p:cNvSpPr txBox="1"/>
          <p:nvPr/>
        </p:nvSpPr>
        <p:spPr>
          <a:xfrm>
            <a:off x="1069855" y="-1288479"/>
            <a:ext cx="70532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457200">
              <a:lnSpc>
                <a:spcPct val="100000"/>
              </a:lnSpc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600"/>
              <a:t> </a:t>
            </a:r>
          </a:p>
        </p:txBody>
      </p:sp>
      <p:sp>
        <p:nvSpPr>
          <p:cNvPr id="165" name="Matériel :…"/>
          <p:cNvSpPr txBox="1"/>
          <p:nvPr/>
        </p:nvSpPr>
        <p:spPr>
          <a:xfrm>
            <a:off x="1010092" y="2707224"/>
            <a:ext cx="4651273" cy="2882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spcBef>
                <a:spcPts val="1200"/>
              </a:spcBef>
              <a:defRPr sz="4400"/>
            </a:pPr>
            <a:r>
              <a:rPr sz="2400">
                <a:latin typeface="Arial Rounded MT Bold" panose="020F0704030504030204" pitchFamily="34" charset="0"/>
              </a:rPr>
              <a:t>Matériel : 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lang="fr-FR" sz="2200">
                <a:latin typeface="Arial Rounded MT Bold" panose="020F0704030504030204" pitchFamily="34" charset="0"/>
              </a:rPr>
              <a:t>C</a:t>
            </a:r>
            <a:r>
              <a:rPr sz="2200" err="1">
                <a:latin typeface="Arial Rounded MT Bold" panose="020F0704030504030204" pitchFamily="34" charset="0"/>
              </a:rPr>
              <a:t>alorimètre</a:t>
            </a:r>
            <a:r>
              <a:rPr sz="2200">
                <a:latin typeface="Arial Rounded MT Bold" panose="020F0704030504030204" pitchFamily="34" charset="0"/>
              </a:rPr>
              <a:t> </a:t>
            </a:r>
            <a:r>
              <a:rPr sz="2200" err="1">
                <a:latin typeface="Arial Rounded MT Bold" panose="020F0704030504030204" pitchFamily="34" charset="0"/>
              </a:rPr>
              <a:t>en</a:t>
            </a:r>
            <a:r>
              <a:rPr sz="2200">
                <a:latin typeface="Arial Rounded MT Bold" panose="020F0704030504030204" pitchFamily="34" charset="0"/>
              </a:rPr>
              <a:t> </a:t>
            </a:r>
            <a:r>
              <a:rPr lang="fr-BE" sz="2200">
                <a:latin typeface="Arial Rounded MT Bold" panose="020F0704030504030204" pitchFamily="34" charset="0"/>
              </a:rPr>
              <a:t>aluminium</a:t>
            </a:r>
            <a:r>
              <a:rPr sz="2200">
                <a:latin typeface="Arial Rounded MT Bold" panose="020F0704030504030204" pitchFamily="34" charset="0"/>
              </a:rPr>
              <a:t> plein 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sz="2200">
                <a:latin typeface="Arial Rounded MT Bold" panose="020F0704030504030204" pitchFamily="34" charset="0"/>
              </a:rPr>
              <a:t>Sonde de </a:t>
            </a:r>
            <a:r>
              <a:rPr sz="2200" err="1">
                <a:latin typeface="Arial Rounded MT Bold" panose="020F0704030504030204" pitchFamily="34" charset="0"/>
              </a:rPr>
              <a:t>température</a:t>
            </a:r>
            <a:r>
              <a:rPr sz="2200">
                <a:latin typeface="Arial Rounded MT Bold" panose="020F0704030504030204" pitchFamily="34" charset="0"/>
              </a:rPr>
              <a:t> 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sz="2200">
                <a:latin typeface="Arial Rounded MT Bold" panose="020F0704030504030204" pitchFamily="34" charset="0"/>
              </a:rPr>
              <a:t>Corde 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sz="2200">
                <a:latin typeface="Arial Rounded MT Bold" panose="020F0704030504030204" pitchFamily="34" charset="0"/>
              </a:rPr>
              <a:t>Masse de 5kg</a:t>
            </a:r>
            <a:r>
              <a:rPr lang="fr-FR" sz="2200">
                <a:latin typeface="Arial Rounded MT Bold" panose="020F0704030504030204" pitchFamily="34" charset="0"/>
              </a:rPr>
              <a:t> (cylindre)</a:t>
            </a:r>
          </a:p>
          <a:p>
            <a:pPr marL="273050" indent="-273050" defTabSz="1219169">
              <a:spcBef>
                <a:spcPts val="1200"/>
              </a:spcBef>
              <a:buSzPct val="150000"/>
              <a:buChar char="-"/>
              <a:defRPr sz="4400"/>
            </a:pPr>
            <a:r>
              <a:rPr lang="fr-FR" sz="2200">
                <a:latin typeface="Arial Rounded MT Bold" panose="020F0704030504030204" pitchFamily="34" charset="0"/>
              </a:rPr>
              <a:t>Dynamomètre</a:t>
            </a:r>
            <a:endParaRPr sz="2200">
              <a:latin typeface="Arial Rounded MT Bold" panose="020F0704030504030204" pitchFamily="34" charset="0"/>
            </a:endParaRPr>
          </a:p>
        </p:txBody>
      </p:sp>
      <p:sp>
        <p:nvSpPr>
          <p:cNvPr id="166" name="==&gt; Comment ça marche ?"/>
          <p:cNvSpPr txBox="1"/>
          <p:nvPr/>
        </p:nvSpPr>
        <p:spPr>
          <a:xfrm>
            <a:off x="1224573" y="1913736"/>
            <a:ext cx="4222310" cy="505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spcBef>
                <a:spcPts val="1200"/>
              </a:spcBef>
              <a:defRPr sz="4400"/>
            </a:pPr>
            <a:r>
              <a:rPr sz="2950">
                <a:latin typeface="Arial Rounded MT Bold" panose="020F0704030504030204" pitchFamily="34" charset="0"/>
              </a:rPr>
              <a:t>Comment </a:t>
            </a:r>
            <a:r>
              <a:rPr sz="2950" err="1">
                <a:latin typeface="Arial Rounded MT Bold" panose="020F0704030504030204" pitchFamily="34" charset="0"/>
              </a:rPr>
              <a:t>ça</a:t>
            </a:r>
            <a:r>
              <a:rPr sz="2950">
                <a:latin typeface="Arial Rounded MT Bold" panose="020F0704030504030204" pitchFamily="34" charset="0"/>
              </a:rPr>
              <a:t> </a:t>
            </a:r>
            <a:r>
              <a:rPr sz="2950" err="1">
                <a:latin typeface="Arial Rounded MT Bold" panose="020F0704030504030204" pitchFamily="34" charset="0"/>
              </a:rPr>
              <a:t>marche</a:t>
            </a:r>
            <a:r>
              <a:rPr sz="2950">
                <a:latin typeface="Arial Rounded MT Bold" panose="020F0704030504030204" pitchFamily="34" charset="0"/>
              </a:rPr>
              <a:t> ?</a:t>
            </a:r>
            <a:r>
              <a:rPr sz="2200"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4" name="Image 3" descr="Une image contenant câble, intérieur, meubles, sol">
            <a:extLst>
              <a:ext uri="{FF2B5EF4-FFF2-40B4-BE49-F238E27FC236}">
                <a16:creationId xmlns:a16="http://schemas.microsoft.com/office/drawing/2014/main" id="{F9ED296F-0ED4-5F07-A0D5-7DAF7C1DB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8A20757-7FEE-7747-A86A-03CEBE7D9CF7}"/>
              </a:ext>
            </a:extLst>
          </p:cNvPr>
          <p:cNvSpPr txBox="1"/>
          <p:nvPr/>
        </p:nvSpPr>
        <p:spPr>
          <a:xfrm>
            <a:off x="1690577" y="6018207"/>
            <a:ext cx="5915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ZBE METS LES INCERTITUDES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673A20-FA3A-4492-40E8-45FD6547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839865"/>
            <a:ext cx="10909640" cy="904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600" u="sng">
                <a:latin typeface="Arial Rounded MT Bold" panose="020F0704030504030204" pitchFamily="34" charset="0"/>
              </a:rPr>
              <a:t>Les </a:t>
            </a:r>
            <a:r>
              <a:rPr lang="en-US" sz="5600" u="sng" err="1">
                <a:latin typeface="Arial Rounded MT Bold" panose="020F0704030504030204" pitchFamily="34" charset="0"/>
              </a:rPr>
              <a:t>formules</a:t>
            </a:r>
            <a:endParaRPr lang="en-US" sz="5600" u="sng">
              <a:latin typeface="Arial Rounded MT Bold" panose="020F070403050403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60A66E-84C1-FB94-E9BB-8D78B01B1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6" y="2224086"/>
            <a:ext cx="11816631" cy="265271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6D1F09F-B517-B0FB-B305-7881CC350968}"/>
              </a:ext>
            </a:extLst>
          </p:cNvPr>
          <p:cNvSpPr txBox="1"/>
          <p:nvPr/>
        </p:nvSpPr>
        <p:spPr>
          <a:xfrm>
            <a:off x="-39634" y="5753296"/>
            <a:ext cx="1264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SINGE SIMPLIFIE LES FORMULES ON SEN BLC QUE C4EST CYLINDRE ET DIAMETRE METS LE SI&gt;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gNE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OSLM</a:t>
            </a:r>
          </a:p>
        </p:txBody>
      </p:sp>
    </p:spTree>
    <p:extLst>
      <p:ext uri="{BB962C8B-B14F-4D97-AF65-F5344CB8AC3E}">
        <p14:creationId xmlns:p14="http://schemas.microsoft.com/office/powerpoint/2010/main" val="24241166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7503A44-7C0B-4048-B909-305B4CB0F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B4F26F-164A-F21F-C3D8-16494668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4583" y="0"/>
            <a:ext cx="10833465" cy="1266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u="sng" dirty="0">
                <a:latin typeface="Arial Rounded MT Bold"/>
              </a:rPr>
              <a:t>Nos </a:t>
            </a:r>
            <a:r>
              <a:rPr lang="en-US" sz="6000" u="sng" dirty="0" err="1">
                <a:latin typeface="Arial Rounded MT Bold"/>
              </a:rPr>
              <a:t>résultats</a:t>
            </a:r>
            <a:endParaRPr lang="en-US" sz="6000" u="sng" dirty="0">
              <a:latin typeface="Arial Rounded MT Bold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3B56BE4-8BA2-D986-F304-9069FBCF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12" y="4021900"/>
            <a:ext cx="9252287" cy="266003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DCE0E4F-CBB8-484A-9060-B326B3838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74" y="1281204"/>
            <a:ext cx="4908550" cy="287070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DE444EC-83C0-6242-F3B3-F839E199C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281204"/>
            <a:ext cx="5416334" cy="231846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4E16B8D-DC5B-D5A5-B144-850DDCE72379}"/>
              </a:ext>
            </a:extLst>
          </p:cNvPr>
          <p:cNvSpPr txBox="1"/>
          <p:nvPr/>
        </p:nvSpPr>
        <p:spPr>
          <a:xfrm>
            <a:off x="1498262" y="4957361"/>
            <a:ext cx="57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>
                <a:latin typeface="Arial Rounded MT Bold" panose="020F0704030504030204" pitchFamily="34" charset="0"/>
              </a:rPr>
              <a:t>J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0093696-8019-50C0-4E24-6D400062F52F}"/>
              </a:ext>
            </a:extLst>
          </p:cNvPr>
          <p:cNvSpPr txBox="1"/>
          <p:nvPr/>
        </p:nvSpPr>
        <p:spPr>
          <a:xfrm>
            <a:off x="6400800" y="4112062"/>
            <a:ext cx="3837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METS VALEUR MOYENNE OSLM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2525415-C01F-088D-1DD7-8A4231148886}"/>
              </a:ext>
            </a:extLst>
          </p:cNvPr>
          <p:cNvSpPr txBox="1"/>
          <p:nvPr/>
        </p:nvSpPr>
        <p:spPr>
          <a:xfrm>
            <a:off x="4429639" y="86604"/>
            <a:ext cx="8078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 </a:t>
            </a:r>
            <a:r>
              <a:rPr lang="fr-FR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TOURS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PAS MOINS ET POURQUOI JE DEVRAIS PLUS (erreur)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93FF38-880B-ADB9-9265-5296D53FAFF4}"/>
              </a:ext>
            </a:extLst>
          </p:cNvPr>
          <p:cNvSpPr txBox="1"/>
          <p:nvPr/>
        </p:nvSpPr>
        <p:spPr>
          <a:xfrm>
            <a:off x="415708" y="6068701"/>
            <a:ext cx="5208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METS LES ECARTS TYPES TU BIGLES OU QUOI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6A30B9-F144-2CAC-0101-4DA3DD3B53DA}"/>
              </a:ext>
            </a:extLst>
          </p:cNvPr>
          <p:cNvSpPr txBox="1"/>
          <p:nvPr/>
        </p:nvSpPr>
        <p:spPr>
          <a:xfrm>
            <a:off x="984546" y="4321666"/>
            <a:ext cx="4526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TROP D4INFO DS LE TABLEAU MEN BLC</a:t>
            </a:r>
          </a:p>
        </p:txBody>
      </p:sp>
    </p:spTree>
    <p:extLst>
      <p:ext uri="{BB962C8B-B14F-4D97-AF65-F5344CB8AC3E}">
        <p14:creationId xmlns:p14="http://schemas.microsoft.com/office/powerpoint/2010/main" val="291254812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DF5B9-393F-F493-8BCB-CC092480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>
                <a:latin typeface="Arial Rounded MT Bold"/>
              </a:rPr>
              <a:t>Interprétations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E19539E-D977-D9DA-9128-F57BEDAB7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350"/>
            <a:ext cx="9252287" cy="266003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2B0C486-D7C1-C924-1F04-8A423FE71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363" y="2322472"/>
            <a:ext cx="2215813" cy="392864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BF8BB0E-92B3-D443-CBFD-3EFB051C0775}"/>
              </a:ext>
            </a:extLst>
          </p:cNvPr>
          <p:cNvSpPr txBox="1"/>
          <p:nvPr/>
        </p:nvSpPr>
        <p:spPr>
          <a:xfrm>
            <a:off x="361950" y="4528706"/>
            <a:ext cx="40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200" b="0" i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Δ</a:t>
            </a:r>
            <a:r>
              <a:rPr lang="fr-FR" sz="3200" b="0" i="0">
                <a:solidFill>
                  <a:srgbClr val="242424"/>
                </a:solidFill>
                <a:effectLst/>
                <a:latin typeface="Arial Rounded MT Bold" panose="020F0704030504030204" pitchFamily="34" charset="0"/>
              </a:rPr>
              <a:t>J</a:t>
            </a:r>
            <a:r>
              <a:rPr lang="fr-FR" sz="3200">
                <a:solidFill>
                  <a:srgbClr val="242424"/>
                </a:solidFill>
                <a:latin typeface="Arial Rounded MT Bold" panose="020F0704030504030204" pitchFamily="34" charset="0"/>
              </a:rPr>
              <a:t> relative</a:t>
            </a:r>
            <a:r>
              <a:rPr lang="fr-FR" sz="3200" b="0" i="0">
                <a:solidFill>
                  <a:srgbClr val="242424"/>
                </a:solidFill>
                <a:effectLst/>
                <a:latin typeface="Arial Rounded MT Bold" panose="020F0704030504030204" pitchFamily="34" charset="0"/>
              </a:rPr>
              <a:t>= 13,3% </a:t>
            </a:r>
            <a:endParaRPr lang="fr-FR" sz="320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7D23D62-7F51-8B45-4D3A-F558DC9DC932}"/>
              </a:ext>
            </a:extLst>
          </p:cNvPr>
          <p:cNvSpPr txBox="1"/>
          <p:nvPr/>
        </p:nvSpPr>
        <p:spPr>
          <a:xfrm>
            <a:off x="260350" y="5518150"/>
            <a:ext cx="4718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l-GR" sz="3200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Δ</a:t>
            </a:r>
            <a:r>
              <a:rPr lang="fr-FR" sz="3200">
                <a:solidFill>
                  <a:srgbClr val="FF0000"/>
                </a:solidFill>
                <a:latin typeface="Arial Rounded MT Bold" panose="020F0704030504030204" pitchFamily="34" charset="0"/>
              </a:rPr>
              <a:t>T relative</a:t>
            </a:r>
            <a:r>
              <a:rPr lang="fr-FR" sz="3200" b="0" i="0"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= 11,11% </a:t>
            </a:r>
            <a:endParaRPr lang="fr-FR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23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ésultats obtenus"/>
          <p:cNvSpPr txBox="1">
            <a:spLocks noGrp="1"/>
          </p:cNvSpPr>
          <p:nvPr>
            <p:ph type="title"/>
          </p:nvPr>
        </p:nvSpPr>
        <p:spPr>
          <a:xfrm>
            <a:off x="568124" y="220441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 u="sng">
                <a:latin typeface="Arial Rounded MT Bold"/>
              </a:rPr>
              <a:t>Comparaison des résultats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6DBB0EC8-E229-54DA-D90A-545C04D77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818956"/>
              </p:ext>
            </p:extLst>
          </p:nvPr>
        </p:nvGraphicFramePr>
        <p:xfrm>
          <a:off x="1907436" y="1660499"/>
          <a:ext cx="8377125" cy="1206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425">
                  <a:extLst>
                    <a:ext uri="{9D8B030D-6E8A-4147-A177-3AD203B41FA5}">
                      <a16:colId xmlns:a16="http://schemas.microsoft.com/office/drawing/2014/main" val="1092538817"/>
                    </a:ext>
                  </a:extLst>
                </a:gridCol>
                <a:gridCol w="1675425">
                  <a:extLst>
                    <a:ext uri="{9D8B030D-6E8A-4147-A177-3AD203B41FA5}">
                      <a16:colId xmlns:a16="http://schemas.microsoft.com/office/drawing/2014/main" val="3453660865"/>
                    </a:ext>
                  </a:extLst>
                </a:gridCol>
                <a:gridCol w="1675425">
                  <a:extLst>
                    <a:ext uri="{9D8B030D-6E8A-4147-A177-3AD203B41FA5}">
                      <a16:colId xmlns:a16="http://schemas.microsoft.com/office/drawing/2014/main" val="4138373081"/>
                    </a:ext>
                  </a:extLst>
                </a:gridCol>
                <a:gridCol w="1675425">
                  <a:extLst>
                    <a:ext uri="{9D8B030D-6E8A-4147-A177-3AD203B41FA5}">
                      <a16:colId xmlns:a16="http://schemas.microsoft.com/office/drawing/2014/main" val="2371909440"/>
                    </a:ext>
                  </a:extLst>
                </a:gridCol>
                <a:gridCol w="1675425">
                  <a:extLst>
                    <a:ext uri="{9D8B030D-6E8A-4147-A177-3AD203B41FA5}">
                      <a16:colId xmlns:a16="http://schemas.microsoft.com/office/drawing/2014/main" val="3624135661"/>
                    </a:ext>
                  </a:extLst>
                </a:gridCol>
              </a:tblGrid>
              <a:tr h="402228">
                <a:tc>
                  <a:txBody>
                    <a:bodyPr/>
                    <a:lstStyle/>
                    <a:p>
                      <a:endParaRPr lang="fr-FR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Groupe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Groupe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Groupe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Groupe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304661"/>
                  </a:ext>
                </a:extLst>
              </a:tr>
              <a:tr h="402228"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J [J/cal]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4,936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4,028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4,552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4,650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478257"/>
                  </a:ext>
                </a:extLst>
              </a:tr>
              <a:tr h="402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b="0" i="0">
                          <a:solidFill>
                            <a:srgbClr val="242424"/>
                          </a:solidFill>
                          <a:effectLst/>
                          <a:latin typeface="Consolas" panose="020B0609020204030204" pitchFamily="49" charset="0"/>
                        </a:rPr>
                        <a:t>Δ</a:t>
                      </a:r>
                      <a:r>
                        <a:rPr lang="fr-FR" b="0" i="0">
                          <a:solidFill>
                            <a:srgbClr val="242424"/>
                          </a:solidFill>
                          <a:effectLst/>
                          <a:latin typeface="Arial Rounded MT Bold" panose="020F0704030504030204" pitchFamily="34" charset="0"/>
                        </a:rPr>
                        <a:t>J</a:t>
                      </a:r>
                      <a:r>
                        <a:rPr lang="fr-FR">
                          <a:latin typeface="Arial Rounded MT Bold" panose="020F0704030504030204" pitchFamily="34" charset="0"/>
                        </a:rPr>
                        <a:t> [J/cal]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0,675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0,536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0,570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rial Rounded MT Bold" panose="020F0704030504030204" pitchFamily="34" charset="0"/>
                        </a:rPr>
                        <a:t>0,499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695759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9DCF664A-7102-5B4C-E8B6-C67BD6466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452" y="2981678"/>
            <a:ext cx="5142223" cy="387632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C75F95C-7322-EBE5-C917-205A73DA85FD}"/>
              </a:ext>
            </a:extLst>
          </p:cNvPr>
          <p:cNvSpPr txBox="1"/>
          <p:nvPr/>
        </p:nvSpPr>
        <p:spPr>
          <a:xfrm>
            <a:off x="744278" y="2797012"/>
            <a:ext cx="856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VOIT MTAYTAY QU ON EST A GAUCHE ET EUX A DROITE EXPLIQUE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Quelles sont les sources d’erreurs possibles ?"/>
          <p:cNvSpPr txBox="1">
            <a:spLocks noGrp="1"/>
          </p:cNvSpPr>
          <p:nvPr>
            <p:ph type="title"/>
          </p:nvPr>
        </p:nvSpPr>
        <p:spPr>
          <a:xfrm>
            <a:off x="609600" y="387350"/>
            <a:ext cx="10972800" cy="863600"/>
          </a:xfrm>
        </p:spPr>
        <p:txBody>
          <a:bodyPr>
            <a:normAutofit/>
          </a:bodyPr>
          <a:lstStyle/>
          <a:p>
            <a:r>
              <a:rPr lang="fr-FR" u="sng">
                <a:latin typeface="Arial Rounded MT Bold"/>
              </a:rPr>
              <a:t>Les sources d’erreurs possibles ?  </a:t>
            </a:r>
          </a:p>
        </p:txBody>
      </p:sp>
      <p:sp>
        <p:nvSpPr>
          <p:cNvPr id="192" name="Text Placeholder 2">
            <a:extLst>
              <a:ext uri="{FF2B5EF4-FFF2-40B4-BE49-F238E27FC236}">
                <a16:creationId xmlns:a16="http://schemas.microsoft.com/office/drawing/2014/main" id="{AF1AF37A-516C-2A9A-0C1F-A65D083A1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537882"/>
            <a:ext cx="10974289" cy="5056076"/>
          </a:xfrm>
        </p:spPr>
        <p:txBody>
          <a:bodyPr>
            <a:normAutofit/>
          </a:bodyPr>
          <a:lstStyle/>
          <a:p>
            <a:r>
              <a:rPr lang="fr-FR">
                <a:latin typeface="Arial Rounded MT Bold" panose="020F0704030504030204" pitchFamily="34" charset="0"/>
              </a:rPr>
              <a:t>Calorimètre non-hermétique : -perte dans l’air</a:t>
            </a:r>
          </a:p>
          <a:p>
            <a:pPr marL="0" indent="0">
              <a:buNone/>
            </a:pPr>
            <a:r>
              <a:rPr lang="fr-FR">
                <a:latin typeface="Arial Rounded MT Bold" panose="020F0704030504030204" pitchFamily="34" charset="0"/>
              </a:rPr>
              <a:t>			                       	       -perte dans le matériel</a:t>
            </a:r>
          </a:p>
          <a:p>
            <a:r>
              <a:rPr lang="fr-BE">
                <a:latin typeface="Arial Rounded MT Bold" panose="020F0704030504030204" pitchFamily="34" charset="0"/>
              </a:rPr>
              <a:t>Vitesse pas constante</a:t>
            </a:r>
          </a:p>
          <a:p>
            <a:r>
              <a:rPr lang="fr-BE">
                <a:latin typeface="Arial Rounded MT Bold" panose="020F0704030504030204" pitchFamily="34" charset="0"/>
              </a:rPr>
              <a:t>Manque de temps</a:t>
            </a:r>
          </a:p>
          <a:p>
            <a:r>
              <a:rPr lang="fr-BE">
                <a:latin typeface="Arial Rounded MT Bold" panose="020F0704030504030204" pitchFamily="34" charset="0"/>
              </a:rPr>
              <a:t>Aluminium moins bon conducteur</a:t>
            </a:r>
          </a:p>
          <a:p>
            <a:r>
              <a:rPr lang="fr-BE">
                <a:latin typeface="Arial Rounded MT Bold" panose="020F0704030504030204" pitchFamily="34" charset="0"/>
              </a:rPr>
              <a:t>Erreur de l’opérateur</a:t>
            </a:r>
            <a:endParaRPr lang="fr-BE"/>
          </a:p>
          <a:p>
            <a:endParaRPr lang="fr-BE"/>
          </a:p>
        </p:txBody>
      </p:sp>
      <p:sp>
        <p:nvSpPr>
          <p:cNvPr id="182" name="Incertitudes sur le temps…"/>
          <p:cNvSpPr txBox="1"/>
          <p:nvPr/>
        </p:nvSpPr>
        <p:spPr>
          <a:xfrm>
            <a:off x="609600" y="1192324"/>
            <a:ext cx="10972801" cy="416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1219169">
              <a:spcBef>
                <a:spcPts val="1200"/>
              </a:spcBef>
              <a:buSzPct val="150000"/>
              <a:defRPr sz="4400"/>
            </a:pPr>
            <a:endParaRPr lang="fr-BE" sz="700" i="1"/>
          </a:p>
          <a:p>
            <a:pPr defTabSz="1219169">
              <a:spcBef>
                <a:spcPts val="1200"/>
              </a:spcBef>
              <a:buSzPct val="150000"/>
              <a:defRPr sz="4400"/>
            </a:pPr>
            <a:r>
              <a:rPr lang="fr-BE" sz="700"/>
              <a:t>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4E222C-4ECF-CA34-4241-F06B91A4202B}"/>
              </a:ext>
            </a:extLst>
          </p:cNvPr>
          <p:cNvSpPr txBox="1"/>
          <p:nvPr/>
        </p:nvSpPr>
        <p:spPr>
          <a:xfrm>
            <a:off x="1515298" y="2651805"/>
            <a:ext cx="10373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DIT PAS NON HERMETIQUE MAIS NON ISOLE ET METS UN SCHEMA POUR EXPLIQUER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B1E413-89DA-0882-09F7-F4AB205EF366}"/>
              </a:ext>
            </a:extLst>
          </p:cNvPr>
          <p:cNvSpPr txBox="1"/>
          <p:nvPr/>
        </p:nvSpPr>
        <p:spPr>
          <a:xfrm>
            <a:off x="2428521" y="5578910"/>
            <a:ext cx="8033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BLC de la vitesse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enft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faut juste pas être trop lent sinon la chaleur va se dissiper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omment améliorer la précision des résultats ?"/>
          <p:cNvSpPr txBox="1">
            <a:spLocks noGrp="1"/>
          </p:cNvSpPr>
          <p:nvPr>
            <p:ph type="title"/>
          </p:nvPr>
        </p:nvSpPr>
        <p:spPr>
          <a:xfrm>
            <a:off x="609600" y="203736"/>
            <a:ext cx="10972800" cy="863600"/>
          </a:xfrm>
        </p:spPr>
        <p:txBody>
          <a:bodyPr vert="horz" lIns="25400" tIns="25400" rIns="25400" bIns="25400" rtlCol="0" anchor="ctr">
            <a:noAutofit/>
          </a:bodyPr>
          <a:lstStyle/>
          <a:p>
            <a:pPr algn="ctr"/>
            <a:r>
              <a:rPr lang="fr-FR" sz="3200" u="sng" spc="-42">
                <a:latin typeface="Arial Rounded MT Bold"/>
                <a:ea typeface="+mn-ea"/>
                <a:cs typeface="+mn-cs"/>
                <a:sym typeface="Canela Bold"/>
              </a:rPr>
              <a:t>Comment améliorer la précision des résultats ?</a:t>
            </a:r>
            <a:endParaRPr lang="fr-FR" sz="3200" u="sng">
              <a:latin typeface="Arial Rounded MT Bold"/>
              <a:ea typeface="+mn-ea"/>
              <a:cs typeface="+mn-cs"/>
            </a:endParaRPr>
          </a:p>
        </p:txBody>
      </p:sp>
      <p:sp>
        <p:nvSpPr>
          <p:cNvPr id="185" name="Augmenter le nombre de tours…"/>
          <p:cNvSpPr txBox="1"/>
          <p:nvPr/>
        </p:nvSpPr>
        <p:spPr>
          <a:xfrm>
            <a:off x="692388" y="1602454"/>
            <a:ext cx="10578817" cy="2322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 anchor="t">
            <a:normAutofit/>
          </a:bodyPr>
          <a:lstStyle/>
          <a:p>
            <a:pPr marL="273050" indent="-273050" algn="ctr" defTabSz="1219169">
              <a:spcBef>
                <a:spcPts val="1200"/>
              </a:spcBef>
              <a:buSzPct val="150000"/>
              <a:buFontTx/>
              <a:buChar char="•"/>
              <a:defRPr sz="4400"/>
            </a:pPr>
            <a:r>
              <a:rPr lang="fr-FR" sz="2150">
                <a:latin typeface="Arial Rounded MT Bold"/>
              </a:rPr>
              <a:t>Vitesse constante</a:t>
            </a:r>
            <a:endParaRPr lang="fr-BE" sz="2150">
              <a:latin typeface="Arial Rounded MT Bold"/>
            </a:endParaRPr>
          </a:p>
          <a:p>
            <a:pPr marL="273050" indent="-273050" algn="ctr" defTabSz="1219169">
              <a:spcBef>
                <a:spcPts val="1200"/>
              </a:spcBef>
              <a:buSzPct val="150000"/>
              <a:buFontTx/>
              <a:buChar char="•"/>
              <a:defRPr sz="4400"/>
            </a:pPr>
            <a:r>
              <a:rPr sz="2150">
                <a:latin typeface="Arial Rounded MT Bold"/>
              </a:rPr>
              <a:t>Multiplier le nombre d’essais</a:t>
            </a:r>
            <a:endParaRPr lang="fr-BE" sz="2150">
              <a:latin typeface="Arial Rounded MT Bold"/>
            </a:endParaRPr>
          </a:p>
          <a:p>
            <a:pPr marL="273050" indent="-273050" algn="ctr" defTabSz="1219169">
              <a:spcBef>
                <a:spcPts val="1200"/>
              </a:spcBef>
              <a:buSzPct val="150000"/>
              <a:buChar char="•"/>
              <a:defRPr sz="4400"/>
            </a:pPr>
            <a:r>
              <a:rPr lang="fr-FR" sz="2150">
                <a:latin typeface="Arial Rounded MT Bold"/>
              </a:rPr>
              <a:t>Eviter de trop toucher le calorimètre</a:t>
            </a:r>
          </a:p>
          <a:p>
            <a:pPr marL="273050" indent="-273050" algn="ctr" defTabSz="1219169">
              <a:spcBef>
                <a:spcPts val="1200"/>
              </a:spcBef>
              <a:buSzPct val="150000"/>
              <a:buChar char="•"/>
              <a:defRPr sz="4400"/>
            </a:pPr>
            <a:r>
              <a:rPr lang="fr-FR" sz="2150">
                <a:latin typeface="Arial Rounded MT Bold"/>
              </a:rPr>
              <a:t>Laisser la température retourner à l'équilibre avec la pièce</a:t>
            </a:r>
          </a:p>
          <a:p>
            <a:pPr defTabSz="1219169">
              <a:spcBef>
                <a:spcPts val="1200"/>
              </a:spcBef>
              <a:buSzPct val="150000"/>
              <a:defRPr sz="4400"/>
            </a:pPr>
            <a:r>
              <a:rPr sz="2200">
                <a:latin typeface="Arial Rounded MT Bold"/>
              </a:rPr>
              <a:t> </a:t>
            </a:r>
          </a:p>
        </p:txBody>
      </p:sp>
      <p:sp>
        <p:nvSpPr>
          <p:cNvPr id="190" name="Text Placeholder 3">
            <a:extLst>
              <a:ext uri="{FF2B5EF4-FFF2-40B4-BE49-F238E27FC236}">
                <a16:creationId xmlns:a16="http://schemas.microsoft.com/office/drawing/2014/main" id="{DBAC4C3A-E416-5F23-180E-3ED5282C5B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9431" y="1065420"/>
            <a:ext cx="10972801" cy="41630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 u="sng">
                <a:latin typeface="Arial Rounded MT Bold"/>
              </a:rPr>
              <a:t>Sans budget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90DE212-5E73-533F-C720-1DAFA03404C6}"/>
              </a:ext>
            </a:extLst>
          </p:cNvPr>
          <p:cNvSpPr txBox="1"/>
          <p:nvPr/>
        </p:nvSpPr>
        <p:spPr>
          <a:xfrm>
            <a:off x="692227" y="3425352"/>
            <a:ext cx="10446026" cy="4944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1219200" hangingPunct="0">
              <a:lnSpc>
                <a:spcPct val="90000"/>
              </a:lnSpc>
            </a:pPr>
            <a:r>
              <a:rPr lang="fr-BE" sz="2100">
                <a:latin typeface="Arial Rounded MT Bold"/>
              </a:rPr>
              <a:t>        </a:t>
            </a:r>
            <a:r>
              <a:rPr lang="fr-BE" sz="3200" u="sng">
                <a:latin typeface="Arial Rounded MT Bold"/>
              </a:rPr>
              <a:t>Avec budget</a:t>
            </a:r>
            <a:endParaRPr lang="fr-BE" sz="3200" u="sng">
              <a:solidFill>
                <a:srgbClr val="000000"/>
              </a:solidFill>
              <a:latin typeface="Arial Rounded MT Bold"/>
              <a:ea typeface="Canela Text Regular"/>
              <a:cs typeface="Canela Text Regular"/>
            </a:endParaRPr>
          </a:p>
        </p:txBody>
      </p:sp>
      <p:sp>
        <p:nvSpPr>
          <p:cNvPr id="4" name="Augmenter le nombre de tours…">
            <a:extLst>
              <a:ext uri="{FF2B5EF4-FFF2-40B4-BE49-F238E27FC236}">
                <a16:creationId xmlns:a16="http://schemas.microsoft.com/office/drawing/2014/main" id="{92B8A4D3-0E2D-6C18-C755-E33ACBD702A4}"/>
              </a:ext>
            </a:extLst>
          </p:cNvPr>
          <p:cNvSpPr txBox="1"/>
          <p:nvPr/>
        </p:nvSpPr>
        <p:spPr>
          <a:xfrm>
            <a:off x="802556" y="3924320"/>
            <a:ext cx="10578817" cy="2322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 anchor="t">
            <a:noAutofit/>
          </a:bodyPr>
          <a:lstStyle/>
          <a:p>
            <a:pPr marL="273050" indent="-273050" algn="ctr" defTabSz="1219169">
              <a:spcBef>
                <a:spcPts val="1200"/>
              </a:spcBef>
              <a:buSzPct val="150000"/>
              <a:buFontTx/>
              <a:buChar char="•"/>
              <a:defRPr sz="4400"/>
            </a:pPr>
            <a:r>
              <a:rPr lang="fr-FR" sz="2000">
                <a:latin typeface="Arial Rounded MT Bold"/>
              </a:rPr>
              <a:t>Système automatisé pour la rotation de la manivelle</a:t>
            </a:r>
            <a:endParaRPr lang="fr-BE" sz="2000">
              <a:latin typeface="Arial Rounded MT Bold"/>
            </a:endParaRPr>
          </a:p>
          <a:p>
            <a:pPr marL="273050" indent="-273050" algn="ctr" defTabSz="1219169">
              <a:spcBef>
                <a:spcPts val="1200"/>
              </a:spcBef>
              <a:buSzPct val="150000"/>
              <a:buFontTx/>
              <a:buChar char="•"/>
              <a:defRPr sz="4400"/>
            </a:pPr>
            <a:r>
              <a:rPr lang="fr-FR" sz="2000">
                <a:latin typeface="Arial Rounded MT Bold"/>
              </a:rPr>
              <a:t>Isolation du système -&gt; boite hermétique</a:t>
            </a:r>
          </a:p>
          <a:p>
            <a:pPr marL="273050" indent="-273050" algn="ctr" defTabSz="1219169">
              <a:spcBef>
                <a:spcPts val="1200"/>
              </a:spcBef>
              <a:buSzPct val="150000"/>
              <a:buFontTx/>
              <a:buChar char="•"/>
              <a:defRPr sz="4400"/>
            </a:pPr>
            <a:r>
              <a:rPr lang="fr-FR" sz="2000">
                <a:latin typeface="Arial Rounded MT Bold"/>
              </a:rPr>
              <a:t>Une sonde de température plus performante</a:t>
            </a:r>
          </a:p>
          <a:p>
            <a:pPr marL="273050" indent="-273050" algn="ctr" defTabSz="1219169">
              <a:spcBef>
                <a:spcPts val="1200"/>
              </a:spcBef>
              <a:buSzPct val="150000"/>
              <a:buFontTx/>
              <a:buChar char="•"/>
              <a:defRPr sz="4400"/>
            </a:pPr>
            <a:r>
              <a:rPr lang="fr-FR" sz="2000">
                <a:latin typeface="Arial Rounded MT Bold"/>
              </a:rPr>
              <a:t>Mettre des gants isolants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26E6B28-E8E3-54BF-63F8-6C41025F1AD4}"/>
              </a:ext>
            </a:extLst>
          </p:cNvPr>
          <p:cNvSpPr txBox="1"/>
          <p:nvPr/>
        </p:nvSpPr>
        <p:spPr>
          <a:xfrm>
            <a:off x="2679203" y="5863471"/>
            <a:ext cx="785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CHERCHE SI ON S4EN BLC DES VITESSE constante parce que je crois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blc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7121AC-4713-9351-97C8-1366F79C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7350"/>
            <a:ext cx="10972800" cy="863600"/>
          </a:xfrm>
        </p:spPr>
        <p:txBody>
          <a:bodyPr>
            <a:normAutofit/>
          </a:bodyPr>
          <a:lstStyle/>
          <a:p>
            <a:r>
              <a:rPr lang="fr-BE" u="sng">
                <a:latin typeface="Arial Rounded MT Bold"/>
              </a:rPr>
              <a:t>Conclusion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F82F88E-B3C2-8E99-C44A-68135CE8F034}"/>
                  </a:ext>
                </a:extLst>
              </p:cNvPr>
              <p:cNvSpPr txBox="1"/>
              <p:nvPr/>
            </p:nvSpPr>
            <p:spPr>
              <a:xfrm>
                <a:off x="2776538" y="4102987"/>
                <a:ext cx="6638924" cy="827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BE" sz="2000" kern="100">
                    <a:effectLst/>
                    <a:latin typeface="Arial Rounded MT Bold" panose="020F070403050403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Valeur expérimentale : J±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2000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lang="fr-BE" sz="2000" kern="100">
                    <a:effectLst/>
                    <a:latin typeface="Arial Rounded MT Bold" panose="020F07040305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 = (4,028</a:t>
                </a:r>
                <a:r>
                  <a:rPr lang="fr-BE" sz="2000" kern="100">
                    <a:effectLst/>
                    <a:latin typeface="Arial Rounded MT Bold" panose="020F070403050403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±0,536) J/cal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BE" sz="2000" kern="100">
                    <a:effectLst/>
                    <a:latin typeface="Arial Rounded MT Bold" panose="020F070403050403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Valeur théorique : J = 4,185 J/cal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F82F88E-B3C2-8E99-C44A-68135CE8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538" y="4102987"/>
                <a:ext cx="6638924" cy="827342"/>
              </a:xfrm>
              <a:prstGeom prst="rect">
                <a:avLst/>
              </a:prstGeom>
              <a:blipFill>
                <a:blip r:embed="rId2"/>
                <a:stretch>
                  <a:fillRect l="-917" t="-3676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44E77C-7136-9119-E9FA-6EADA43B4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1456"/>
            <a:ext cx="10972800" cy="41927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8625" indent="-428625"/>
            <a:r>
              <a:rPr lang="fr-BE" sz="2150">
                <a:latin typeface="Arial Rounded MT Bold"/>
              </a:rPr>
              <a:t>Démonstration du premier principe de la thermodynamique :                                                            </a:t>
            </a:r>
            <a:r>
              <a:rPr lang="fr-BE" sz="2150">
                <a:latin typeface="Arial Rounded MT Bold"/>
                <a:ea typeface="+mn-lt"/>
                <a:cs typeface="+mn-lt"/>
              </a:rPr>
              <a:t>     ∆U = W + Q </a:t>
            </a:r>
          </a:p>
          <a:p>
            <a:pPr marL="428625" indent="-428625"/>
            <a:r>
              <a:rPr lang="fr-BE" sz="2150">
                <a:latin typeface="Arial Rounded MT Bold"/>
                <a:ea typeface="+mn-lt"/>
                <a:cs typeface="+mn-lt"/>
              </a:rPr>
              <a:t>Moyen pratique de mettre en place la théorie vue au cours</a:t>
            </a:r>
            <a:endParaRPr lang="fr-BE">
              <a:latin typeface="Arial Rounded MT Bold"/>
              <a:ea typeface="+mn-lt"/>
              <a:cs typeface="+mn-lt"/>
            </a:endParaRPr>
          </a:p>
          <a:p>
            <a:pPr marL="428625" indent="-428625"/>
            <a:r>
              <a:rPr lang="fr-BE" sz="2150">
                <a:latin typeface="Arial Rounded MT Bold"/>
              </a:rPr>
              <a:t>Valeur expérimentale correspond fortement à la valeur théorique</a:t>
            </a:r>
          </a:p>
          <a:p>
            <a:pPr marL="0" indent="0">
              <a:buNone/>
            </a:pPr>
            <a:endParaRPr lang="fr-BE" sz="2150" b="1">
              <a:latin typeface="Arial Rounded MT Bold"/>
            </a:endParaRPr>
          </a:p>
          <a:p>
            <a:pPr marL="0" indent="0">
              <a:buNone/>
            </a:pPr>
            <a:endParaRPr lang="fr-BE"/>
          </a:p>
          <a:p>
            <a:pPr marL="428625" indent="-428625"/>
            <a:endParaRPr lang="fr-BE" sz="2150">
              <a:latin typeface="Arial Rounded MT Bold"/>
            </a:endParaRPr>
          </a:p>
          <a:p>
            <a:pPr marL="428625" indent="-428625"/>
            <a:endParaRPr lang="fr-BE" sz="2150">
              <a:latin typeface="The Hand"/>
            </a:endParaRPr>
          </a:p>
          <a:p>
            <a:pPr marL="0" indent="0">
              <a:buNone/>
            </a:pPr>
            <a:endParaRPr lang="fr-BE" sz="2150">
              <a:latin typeface="Arial Rounded MT Bold"/>
            </a:endParaRP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56752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Grand écran</PresentationFormat>
  <Paragraphs>94</Paragraphs>
  <Slides>10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1" baseType="lpstr">
      <vt:lpstr>Aptos</vt:lpstr>
      <vt:lpstr>Arial</vt:lpstr>
      <vt:lpstr>Arial Rounded MT Bold</vt:lpstr>
      <vt:lpstr>Avenir Next Demi Bold</vt:lpstr>
      <vt:lpstr>Cambria Math</vt:lpstr>
      <vt:lpstr>Consolas</vt:lpstr>
      <vt:lpstr>Modern Love</vt:lpstr>
      <vt:lpstr>The Hand</vt:lpstr>
      <vt:lpstr>Times New Roman</vt:lpstr>
      <vt:lpstr>Times Roman</vt:lpstr>
      <vt:lpstr>SketchyVTI</vt:lpstr>
      <vt:lpstr>Laboratoire de thermodynamique</vt:lpstr>
      <vt:lpstr>Objectif du laboratoire ? </vt:lpstr>
      <vt:lpstr>L’expérience </vt:lpstr>
      <vt:lpstr>Les formules</vt:lpstr>
      <vt:lpstr>Nos résultats</vt:lpstr>
      <vt:lpstr>Interprétations</vt:lpstr>
      <vt:lpstr>Comparaison des résultats</vt:lpstr>
      <vt:lpstr>Les sources d’erreurs possibles ?  </vt:lpstr>
      <vt:lpstr>Comment améliorer la précision des résultats ?</vt:lpstr>
      <vt:lpstr>Conclusion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Sabir Adda</dc:creator>
  <cp:lastModifiedBy>Amadou DIALLO</cp:lastModifiedBy>
  <cp:revision>5</cp:revision>
  <dcterms:created xsi:type="dcterms:W3CDTF">2024-09-26T09:41:30Z</dcterms:created>
  <dcterms:modified xsi:type="dcterms:W3CDTF">2025-04-07T17:07:40Z</dcterms:modified>
</cp:coreProperties>
</file>