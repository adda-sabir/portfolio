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x="18288000" cy="10287000"/>
  <p:notesSz cx="6858000" cy="9144000"/>
  <p:embeddedFontLst>
    <p:embeddedFont>
      <p:font typeface="Codec Pro Bold" charset="1" panose="00000600000000000000"/>
      <p:regular r:id="rId35"/>
    </p:embeddedFont>
    <p:embeddedFont>
      <p:font typeface="Codec Pro" charset="1" panose="00000500000000000000"/>
      <p:regular r:id="rId36"/>
    </p:embeddedFont>
    <p:embeddedFont>
      <p:font typeface="Open Sans" charset="1" panose="020B0606030504020204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22.png" Type="http://schemas.openxmlformats.org/officeDocument/2006/relationships/image"/><Relationship Id="rId4" Target="../media/image2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7.png" Type="http://schemas.openxmlformats.org/officeDocument/2006/relationships/image"/><Relationship Id="rId4" Target="../media/image28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jpeg" Type="http://schemas.openxmlformats.org/officeDocument/2006/relationships/image"/><Relationship Id="rId3" Target="../media/image31.jpeg" Type="http://schemas.openxmlformats.org/officeDocument/2006/relationships/image"/><Relationship Id="rId4" Target="../media/image32.jpeg" Type="http://schemas.openxmlformats.org/officeDocument/2006/relationships/image"/><Relationship Id="rId5" Target="../media/image33.jpeg" Type="http://schemas.openxmlformats.org/officeDocument/2006/relationships/image"/><Relationship Id="rId6" Target="../media/image34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7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8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3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4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73166" y="8730092"/>
            <a:ext cx="13607741" cy="2326449"/>
            <a:chOff x="0" y="0"/>
            <a:chExt cx="3247938" cy="5552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505" y="0"/>
              <a:ext cx="3234928" cy="555284"/>
            </a:xfrm>
            <a:custGeom>
              <a:avLst/>
              <a:gdLst/>
              <a:ahLst/>
              <a:cxnLst/>
              <a:rect r="r" b="b" t="t" l="l"/>
              <a:pathLst>
                <a:path h="555284" w="3234928">
                  <a:moveTo>
                    <a:pt x="243275" y="0"/>
                  </a:moveTo>
                  <a:lnTo>
                    <a:pt x="3221841" y="0"/>
                  </a:lnTo>
                  <a:cubicBezTo>
                    <a:pt x="3226212" y="0"/>
                    <a:pt x="3230295" y="2183"/>
                    <a:pt x="3232723" y="5818"/>
                  </a:cubicBezTo>
                  <a:cubicBezTo>
                    <a:pt x="3235152" y="9453"/>
                    <a:pt x="3235604" y="14061"/>
                    <a:pt x="3233930" y="18099"/>
                  </a:cubicBezTo>
                  <a:lnTo>
                    <a:pt x="3018749" y="537185"/>
                  </a:lnTo>
                  <a:cubicBezTo>
                    <a:pt x="3014207" y="548141"/>
                    <a:pt x="3003513" y="555284"/>
                    <a:pt x="2991653" y="555284"/>
                  </a:cubicBezTo>
                  <a:lnTo>
                    <a:pt x="13088" y="555284"/>
                  </a:lnTo>
                  <a:cubicBezTo>
                    <a:pt x="8716" y="555284"/>
                    <a:pt x="4633" y="553101"/>
                    <a:pt x="2205" y="549466"/>
                  </a:cubicBezTo>
                  <a:cubicBezTo>
                    <a:pt x="-223" y="545831"/>
                    <a:pt x="-676" y="541223"/>
                    <a:pt x="998" y="537185"/>
                  </a:cubicBezTo>
                  <a:lnTo>
                    <a:pt x="216180" y="18099"/>
                  </a:lnTo>
                  <a:cubicBezTo>
                    <a:pt x="220722" y="7143"/>
                    <a:pt x="231415" y="0"/>
                    <a:pt x="24327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65F8B">
                    <a:alpha val="100000"/>
                  </a:srgbClr>
                </a:gs>
                <a:gs pos="100000">
                  <a:srgbClr val="31427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254000" y="-38100"/>
              <a:ext cx="2739938" cy="5933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889350" y="6979794"/>
            <a:ext cx="8623244" cy="1233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8467"/>
              </a:lnSpc>
            </a:pPr>
            <a:r>
              <a:rPr lang="en-US" b="true" sz="8221">
                <a:solidFill>
                  <a:srgbClr val="324375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Brasserie 4.0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-3901091" y="-952470"/>
            <a:ext cx="16736725" cy="9034161"/>
            <a:chOff x="0" y="0"/>
            <a:chExt cx="1188878" cy="6417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5449" y="0"/>
              <a:ext cx="1177981" cy="641733"/>
            </a:xfrm>
            <a:custGeom>
              <a:avLst/>
              <a:gdLst/>
              <a:ahLst/>
              <a:cxnLst/>
              <a:rect r="r" b="b" t="t" l="l"/>
              <a:pathLst>
                <a:path h="641733" w="1177981">
                  <a:moveTo>
                    <a:pt x="218104" y="0"/>
                  </a:moveTo>
                  <a:lnTo>
                    <a:pt x="1163076" y="0"/>
                  </a:lnTo>
                  <a:cubicBezTo>
                    <a:pt x="1167827" y="0"/>
                    <a:pt x="1172293" y="2265"/>
                    <a:pt x="1175101" y="6099"/>
                  </a:cubicBezTo>
                  <a:cubicBezTo>
                    <a:pt x="1177908" y="9932"/>
                    <a:pt x="1178719" y="14874"/>
                    <a:pt x="1177285" y="19404"/>
                  </a:cubicBezTo>
                  <a:lnTo>
                    <a:pt x="986373" y="622330"/>
                  </a:lnTo>
                  <a:cubicBezTo>
                    <a:pt x="982715" y="633882"/>
                    <a:pt x="971993" y="641733"/>
                    <a:pt x="959876" y="641733"/>
                  </a:cubicBezTo>
                  <a:lnTo>
                    <a:pt x="14904" y="641733"/>
                  </a:lnTo>
                  <a:cubicBezTo>
                    <a:pt x="10153" y="641733"/>
                    <a:pt x="5686" y="639468"/>
                    <a:pt x="2879" y="635635"/>
                  </a:cubicBezTo>
                  <a:cubicBezTo>
                    <a:pt x="72" y="631801"/>
                    <a:pt x="-739" y="626859"/>
                    <a:pt x="695" y="622330"/>
                  </a:cubicBezTo>
                  <a:lnTo>
                    <a:pt x="191607" y="19404"/>
                  </a:lnTo>
                  <a:cubicBezTo>
                    <a:pt x="195265" y="7851"/>
                    <a:pt x="205986" y="0"/>
                    <a:pt x="218104" y="0"/>
                  </a:cubicBezTo>
                  <a:close/>
                </a:path>
              </a:pathLst>
            </a:custGeom>
            <a:blipFill>
              <a:blip r:embed="rId2"/>
              <a:stretch>
                <a:fillRect l="-462" t="-1872" r="-462" b="-1872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4601581" y="0"/>
            <a:ext cx="3394343" cy="2579701"/>
          </a:xfrm>
          <a:custGeom>
            <a:avLst/>
            <a:gdLst/>
            <a:ahLst/>
            <a:cxnLst/>
            <a:rect r="r" b="b" t="t" l="l"/>
            <a:pathLst>
              <a:path h="2579701" w="3394343">
                <a:moveTo>
                  <a:pt x="0" y="0"/>
                </a:moveTo>
                <a:lnTo>
                  <a:pt x="3394343" y="0"/>
                </a:lnTo>
                <a:lnTo>
                  <a:pt x="3394343" y="2579701"/>
                </a:lnTo>
                <a:lnTo>
                  <a:pt x="0" y="25797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806118" y="9149053"/>
            <a:ext cx="10575696" cy="753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5665"/>
              </a:lnSpc>
            </a:pPr>
            <a:r>
              <a:rPr lang="en-US" sz="4227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Bureau d’études d’instrumentation 2026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0821" y="8156038"/>
            <a:ext cx="2791072" cy="2022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5"/>
              </a:lnSpc>
            </a:pPr>
            <a:r>
              <a:rPr lang="en-US" sz="1683" b="true">
                <a:solidFill>
                  <a:srgbClr val="324375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Adda Sabir 23027</a:t>
            </a:r>
          </a:p>
          <a:p>
            <a:pPr algn="l">
              <a:lnSpc>
                <a:spcPts val="2255"/>
              </a:lnSpc>
              <a:spcBef>
                <a:spcPct val="0"/>
              </a:spcBef>
            </a:pPr>
            <a:r>
              <a:rPr lang="en-US" b="true" sz="1683">
                <a:solidFill>
                  <a:srgbClr val="324375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Barigou Marwane 23152</a:t>
            </a:r>
          </a:p>
          <a:p>
            <a:pPr algn="l">
              <a:lnSpc>
                <a:spcPts val="2255"/>
              </a:lnSpc>
              <a:spcBef>
                <a:spcPct val="0"/>
              </a:spcBef>
            </a:pPr>
            <a:r>
              <a:rPr lang="en-US" b="true" sz="1683">
                <a:solidFill>
                  <a:srgbClr val="324375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Bicha Anis 23076</a:t>
            </a:r>
          </a:p>
          <a:p>
            <a:pPr algn="l">
              <a:lnSpc>
                <a:spcPts val="2255"/>
              </a:lnSpc>
              <a:spcBef>
                <a:spcPct val="0"/>
              </a:spcBef>
            </a:pPr>
            <a:r>
              <a:rPr lang="en-US" b="true" sz="1683">
                <a:solidFill>
                  <a:srgbClr val="324375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Diallo Amadou 23247</a:t>
            </a:r>
          </a:p>
          <a:p>
            <a:pPr algn="l">
              <a:lnSpc>
                <a:spcPts val="2255"/>
              </a:lnSpc>
              <a:spcBef>
                <a:spcPct val="0"/>
              </a:spcBef>
            </a:pPr>
            <a:r>
              <a:rPr lang="en-US" b="true" sz="1683">
                <a:solidFill>
                  <a:srgbClr val="324375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Elmouddene  Nassim 23248</a:t>
            </a:r>
          </a:p>
          <a:p>
            <a:pPr algn="l">
              <a:lnSpc>
                <a:spcPts val="2255"/>
              </a:lnSpc>
              <a:spcBef>
                <a:spcPct val="0"/>
              </a:spcBef>
            </a:pPr>
            <a:r>
              <a:rPr lang="en-US" b="true" sz="1683">
                <a:solidFill>
                  <a:srgbClr val="324375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Bentirhi Ibrahim 23264</a:t>
            </a:r>
          </a:p>
          <a:p>
            <a:pPr algn="l">
              <a:lnSpc>
                <a:spcPts val="2255"/>
              </a:lnSpc>
              <a:spcBef>
                <a:spcPct val="0"/>
              </a:spcBef>
            </a:pPr>
            <a:r>
              <a:rPr lang="en-US" b="true" sz="1683">
                <a:solidFill>
                  <a:srgbClr val="324375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Abdelkhalek Walid 23186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312849" y="3154082"/>
            <a:ext cx="2358479" cy="23768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8"/>
              </a:lnSpc>
            </a:pPr>
            <a:r>
              <a:rPr lang="en-US" sz="3461" b="true">
                <a:solidFill>
                  <a:srgbClr val="324375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B. Baijot</a:t>
            </a:r>
          </a:p>
          <a:p>
            <a:pPr algn="l">
              <a:lnSpc>
                <a:spcPts val="4638"/>
              </a:lnSpc>
            </a:pPr>
            <a:r>
              <a:rPr lang="en-US" sz="3461" b="true">
                <a:solidFill>
                  <a:srgbClr val="324375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D. Tihon</a:t>
            </a:r>
          </a:p>
          <a:p>
            <a:pPr algn="l">
              <a:lnSpc>
                <a:spcPts val="4638"/>
              </a:lnSpc>
            </a:pPr>
            <a:r>
              <a:rPr lang="en-US" sz="3461" b="true">
                <a:solidFill>
                  <a:srgbClr val="324375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P. Gonze</a:t>
            </a:r>
          </a:p>
          <a:p>
            <a:pPr algn="l">
              <a:lnSpc>
                <a:spcPts val="4638"/>
              </a:lnSpc>
              <a:spcBef>
                <a:spcPct val="0"/>
              </a:spcBef>
            </a:pPr>
            <a:r>
              <a:rPr lang="en-US" b="true" sz="3461">
                <a:solidFill>
                  <a:srgbClr val="324375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J-J. Renaux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273016" y="4070295"/>
            <a:ext cx="15714285" cy="6986246"/>
            <a:chOff x="0" y="0"/>
            <a:chExt cx="1267000" cy="5632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5571" y="0"/>
              <a:ext cx="1255858" cy="563282"/>
            </a:xfrm>
            <a:custGeom>
              <a:avLst/>
              <a:gdLst/>
              <a:ahLst/>
              <a:cxnLst/>
              <a:rect r="r" b="b" t="t" l="l"/>
              <a:pathLst>
                <a:path h="563282" w="1255858">
                  <a:moveTo>
                    <a:pt x="241583" y="0"/>
                  </a:moveTo>
                  <a:lnTo>
                    <a:pt x="1244463" y="0"/>
                  </a:lnTo>
                  <a:cubicBezTo>
                    <a:pt x="1248259" y="0"/>
                    <a:pt x="1251806" y="1890"/>
                    <a:pt x="1253922" y="5042"/>
                  </a:cubicBezTo>
                  <a:cubicBezTo>
                    <a:pt x="1256039" y="8193"/>
                    <a:pt x="1256447" y="12191"/>
                    <a:pt x="1255011" y="15705"/>
                  </a:cubicBezTo>
                  <a:lnTo>
                    <a:pt x="1037660" y="547577"/>
                  </a:lnTo>
                  <a:cubicBezTo>
                    <a:pt x="1033778" y="557075"/>
                    <a:pt x="1024537" y="563282"/>
                    <a:pt x="1014275" y="563282"/>
                  </a:cubicBezTo>
                  <a:lnTo>
                    <a:pt x="11395" y="563282"/>
                  </a:lnTo>
                  <a:cubicBezTo>
                    <a:pt x="7599" y="563282"/>
                    <a:pt x="4052" y="561392"/>
                    <a:pt x="1936" y="558240"/>
                  </a:cubicBezTo>
                  <a:cubicBezTo>
                    <a:pt x="-181" y="555089"/>
                    <a:pt x="-589" y="551091"/>
                    <a:pt x="847" y="547577"/>
                  </a:cubicBezTo>
                  <a:lnTo>
                    <a:pt x="218198" y="15705"/>
                  </a:lnTo>
                  <a:cubicBezTo>
                    <a:pt x="222080" y="6207"/>
                    <a:pt x="231322" y="0"/>
                    <a:pt x="24158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65F8B">
                    <a:alpha val="100000"/>
                  </a:srgbClr>
                </a:gs>
                <a:gs pos="100000">
                  <a:srgbClr val="31427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254000" y="-38100"/>
              <a:ext cx="759000" cy="6013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3700041" y="-348210"/>
            <a:ext cx="11442396" cy="6688572"/>
            <a:chOff x="0" y="0"/>
            <a:chExt cx="812800" cy="47511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0124" y="0"/>
              <a:ext cx="792552" cy="475116"/>
            </a:xfrm>
            <a:custGeom>
              <a:avLst/>
              <a:gdLst/>
              <a:ahLst/>
              <a:cxnLst/>
              <a:rect r="r" b="b" t="t" l="l"/>
              <a:pathLst>
                <a:path h="475116" w="792552">
                  <a:moveTo>
                    <a:pt x="222846" y="0"/>
                  </a:moveTo>
                  <a:lnTo>
                    <a:pt x="772906" y="0"/>
                  </a:lnTo>
                  <a:cubicBezTo>
                    <a:pt x="779507" y="0"/>
                    <a:pt x="785667" y="3315"/>
                    <a:pt x="789303" y="8825"/>
                  </a:cubicBezTo>
                  <a:cubicBezTo>
                    <a:pt x="792939" y="14335"/>
                    <a:pt x="793565" y="21302"/>
                    <a:pt x="790969" y="27372"/>
                  </a:cubicBezTo>
                  <a:lnTo>
                    <a:pt x="611183" y="447744"/>
                  </a:lnTo>
                  <a:cubicBezTo>
                    <a:pt x="604082" y="464348"/>
                    <a:pt x="587764" y="475116"/>
                    <a:pt x="569706" y="475116"/>
                  </a:cubicBezTo>
                  <a:lnTo>
                    <a:pt x="19646" y="475116"/>
                  </a:lnTo>
                  <a:cubicBezTo>
                    <a:pt x="13045" y="475116"/>
                    <a:pt x="6885" y="471801"/>
                    <a:pt x="3249" y="466291"/>
                  </a:cubicBezTo>
                  <a:cubicBezTo>
                    <a:pt x="-387" y="460782"/>
                    <a:pt x="-1013" y="453814"/>
                    <a:pt x="1583" y="447744"/>
                  </a:cubicBezTo>
                  <a:lnTo>
                    <a:pt x="181369" y="27372"/>
                  </a:lnTo>
                  <a:cubicBezTo>
                    <a:pt x="188470" y="10769"/>
                    <a:pt x="204788" y="0"/>
                    <a:pt x="222846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5569" r="0" b="-5569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8678047" y="2881776"/>
            <a:ext cx="8581253" cy="753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65"/>
              </a:lnSpc>
            </a:pPr>
            <a:r>
              <a:rPr lang="en-US" b="true" sz="4227">
                <a:solidFill>
                  <a:srgbClr val="324375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Sommaire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29672" y="4303779"/>
            <a:ext cx="5478002" cy="7610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8"/>
              </a:lnSpc>
            </a:pPr>
            <a:r>
              <a:rPr lang="en-US" sz="3461" b="true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Con</a:t>
            </a:r>
            <a:r>
              <a:rPr lang="en-US" sz="3461" b="true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texte industriel</a:t>
            </a:r>
          </a:p>
          <a:p>
            <a:pPr algn="l">
              <a:lnSpc>
                <a:spcPts val="4638"/>
              </a:lnSpc>
            </a:pPr>
            <a:r>
              <a:rPr lang="en-US" sz="3461" b="true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Demande du client</a:t>
            </a:r>
          </a:p>
          <a:p>
            <a:pPr algn="l">
              <a:lnSpc>
                <a:spcPts val="4638"/>
              </a:lnSpc>
            </a:pPr>
            <a:r>
              <a:rPr lang="en-US" sz="3461" b="true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P&amp;ID</a:t>
            </a:r>
          </a:p>
          <a:p>
            <a:pPr algn="l">
              <a:lnSpc>
                <a:spcPts val="4638"/>
              </a:lnSpc>
            </a:pPr>
            <a:r>
              <a:rPr lang="en-US" sz="3461" b="true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Méthodologie</a:t>
            </a:r>
          </a:p>
          <a:p>
            <a:pPr algn="l">
              <a:lnSpc>
                <a:spcPts val="4638"/>
              </a:lnSpc>
            </a:pPr>
            <a:r>
              <a:rPr lang="en-US" sz="3461" b="true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Analyse du fluide</a:t>
            </a:r>
          </a:p>
          <a:p>
            <a:pPr algn="l">
              <a:lnSpc>
                <a:spcPts val="4638"/>
              </a:lnSpc>
            </a:pPr>
            <a:r>
              <a:rPr lang="en-US" sz="3461" b="true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Eau d’alimentation</a:t>
            </a:r>
          </a:p>
          <a:p>
            <a:pPr algn="l">
              <a:lnSpc>
                <a:spcPts val="4638"/>
              </a:lnSpc>
            </a:pPr>
            <a:r>
              <a:rPr lang="en-US" sz="3461" b="true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Vapeur produite</a:t>
            </a:r>
          </a:p>
          <a:p>
            <a:pPr algn="l">
              <a:lnSpc>
                <a:spcPts val="4638"/>
              </a:lnSpc>
            </a:pPr>
            <a:r>
              <a:rPr lang="en-US" sz="3461" b="true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Eau dans la chaudière</a:t>
            </a:r>
          </a:p>
          <a:p>
            <a:pPr algn="l">
              <a:lnSpc>
                <a:spcPts val="4638"/>
              </a:lnSpc>
            </a:pPr>
            <a:r>
              <a:rPr lang="en-US" sz="3461" b="true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Pompe des condensats</a:t>
            </a:r>
          </a:p>
          <a:p>
            <a:pPr algn="l">
              <a:lnSpc>
                <a:spcPts val="4638"/>
              </a:lnSpc>
            </a:pPr>
            <a:r>
              <a:rPr lang="en-US" sz="3461" b="true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Conclusion</a:t>
            </a:r>
          </a:p>
          <a:p>
            <a:pPr algn="l">
              <a:lnSpc>
                <a:spcPts val="4638"/>
              </a:lnSpc>
            </a:pPr>
            <a:r>
              <a:rPr lang="en-US" sz="3461" b="true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</a:t>
            </a:r>
          </a:p>
          <a:p>
            <a:pPr algn="l">
              <a:lnSpc>
                <a:spcPts val="4638"/>
              </a:lnSpc>
            </a:pPr>
          </a:p>
          <a:p>
            <a:pPr algn="l" marL="0" indent="0" lvl="0">
              <a:lnSpc>
                <a:spcPts val="4638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8660476" y="4303779"/>
            <a:ext cx="967047" cy="7023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638"/>
              </a:lnSpc>
            </a:pPr>
            <a:r>
              <a:rPr lang="en-US" sz="3461" b="true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01</a:t>
            </a:r>
          </a:p>
          <a:p>
            <a:pPr algn="r">
              <a:lnSpc>
                <a:spcPts val="4638"/>
              </a:lnSpc>
            </a:pPr>
            <a:r>
              <a:rPr lang="en-US" sz="3461" b="true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02</a:t>
            </a:r>
          </a:p>
          <a:p>
            <a:pPr algn="r">
              <a:lnSpc>
                <a:spcPts val="4638"/>
              </a:lnSpc>
            </a:pPr>
            <a:r>
              <a:rPr lang="en-US" sz="3461" b="true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03</a:t>
            </a:r>
          </a:p>
          <a:p>
            <a:pPr algn="r">
              <a:lnSpc>
                <a:spcPts val="4638"/>
              </a:lnSpc>
            </a:pPr>
            <a:r>
              <a:rPr lang="en-US" sz="3461" b="true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04</a:t>
            </a:r>
          </a:p>
          <a:p>
            <a:pPr algn="r">
              <a:lnSpc>
                <a:spcPts val="4638"/>
              </a:lnSpc>
            </a:pPr>
            <a:r>
              <a:rPr lang="en-US" sz="3461" b="true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05</a:t>
            </a:r>
          </a:p>
          <a:p>
            <a:pPr algn="r">
              <a:lnSpc>
                <a:spcPts val="4638"/>
              </a:lnSpc>
            </a:pPr>
            <a:r>
              <a:rPr lang="en-US" sz="3461" b="true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06</a:t>
            </a:r>
          </a:p>
          <a:p>
            <a:pPr algn="r">
              <a:lnSpc>
                <a:spcPts val="4638"/>
              </a:lnSpc>
            </a:pPr>
            <a:r>
              <a:rPr lang="en-US" sz="3461" b="true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07</a:t>
            </a:r>
          </a:p>
          <a:p>
            <a:pPr algn="r">
              <a:lnSpc>
                <a:spcPts val="4638"/>
              </a:lnSpc>
            </a:pPr>
            <a:r>
              <a:rPr lang="en-US" sz="3461" b="true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08</a:t>
            </a:r>
          </a:p>
          <a:p>
            <a:pPr algn="r">
              <a:lnSpc>
                <a:spcPts val="4638"/>
              </a:lnSpc>
            </a:pPr>
            <a:r>
              <a:rPr lang="en-US" sz="3461" b="true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09</a:t>
            </a:r>
          </a:p>
          <a:p>
            <a:pPr algn="r">
              <a:lnSpc>
                <a:spcPts val="4638"/>
              </a:lnSpc>
            </a:pPr>
            <a:r>
              <a:rPr lang="en-US" sz="3461" b="true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10</a:t>
            </a:r>
          </a:p>
          <a:p>
            <a:pPr algn="r">
              <a:lnSpc>
                <a:spcPts val="4638"/>
              </a:lnSpc>
            </a:pPr>
          </a:p>
          <a:p>
            <a:pPr algn="r" marL="0" indent="0" lvl="0">
              <a:lnSpc>
                <a:spcPts val="4638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12593" y="4778576"/>
            <a:ext cx="11442396" cy="6688572"/>
            <a:chOff x="0" y="0"/>
            <a:chExt cx="812800" cy="47511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0124" y="0"/>
              <a:ext cx="792552" cy="475116"/>
            </a:xfrm>
            <a:custGeom>
              <a:avLst/>
              <a:gdLst/>
              <a:ahLst/>
              <a:cxnLst/>
              <a:rect r="r" b="b" t="t" l="l"/>
              <a:pathLst>
                <a:path h="475116" w="792552">
                  <a:moveTo>
                    <a:pt x="222846" y="0"/>
                  </a:moveTo>
                  <a:lnTo>
                    <a:pt x="772906" y="0"/>
                  </a:lnTo>
                  <a:cubicBezTo>
                    <a:pt x="779507" y="0"/>
                    <a:pt x="785667" y="3315"/>
                    <a:pt x="789303" y="8825"/>
                  </a:cubicBezTo>
                  <a:cubicBezTo>
                    <a:pt x="792939" y="14335"/>
                    <a:pt x="793565" y="21302"/>
                    <a:pt x="790969" y="27372"/>
                  </a:cubicBezTo>
                  <a:lnTo>
                    <a:pt x="611183" y="447744"/>
                  </a:lnTo>
                  <a:cubicBezTo>
                    <a:pt x="604082" y="464348"/>
                    <a:pt x="587764" y="475116"/>
                    <a:pt x="569706" y="475116"/>
                  </a:cubicBezTo>
                  <a:lnTo>
                    <a:pt x="19646" y="475116"/>
                  </a:lnTo>
                  <a:cubicBezTo>
                    <a:pt x="13045" y="475116"/>
                    <a:pt x="6885" y="471801"/>
                    <a:pt x="3249" y="466291"/>
                  </a:cubicBezTo>
                  <a:cubicBezTo>
                    <a:pt x="-387" y="460782"/>
                    <a:pt x="-1013" y="453814"/>
                    <a:pt x="1583" y="447744"/>
                  </a:cubicBezTo>
                  <a:lnTo>
                    <a:pt x="181369" y="27372"/>
                  </a:lnTo>
                  <a:cubicBezTo>
                    <a:pt x="188470" y="10769"/>
                    <a:pt x="204788" y="0"/>
                    <a:pt x="222846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5569" r="0" b="-556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647371" y="-803050"/>
            <a:ext cx="13607741" cy="2326449"/>
            <a:chOff x="0" y="0"/>
            <a:chExt cx="3247938" cy="55528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6505" y="0"/>
              <a:ext cx="3234928" cy="555284"/>
            </a:xfrm>
            <a:custGeom>
              <a:avLst/>
              <a:gdLst/>
              <a:ahLst/>
              <a:cxnLst/>
              <a:rect r="r" b="b" t="t" l="l"/>
              <a:pathLst>
                <a:path h="555284" w="3234928">
                  <a:moveTo>
                    <a:pt x="243275" y="0"/>
                  </a:moveTo>
                  <a:lnTo>
                    <a:pt x="3221841" y="0"/>
                  </a:lnTo>
                  <a:cubicBezTo>
                    <a:pt x="3226212" y="0"/>
                    <a:pt x="3230295" y="2183"/>
                    <a:pt x="3232723" y="5818"/>
                  </a:cubicBezTo>
                  <a:cubicBezTo>
                    <a:pt x="3235152" y="9453"/>
                    <a:pt x="3235604" y="14061"/>
                    <a:pt x="3233930" y="18099"/>
                  </a:cubicBezTo>
                  <a:lnTo>
                    <a:pt x="3018749" y="537185"/>
                  </a:lnTo>
                  <a:cubicBezTo>
                    <a:pt x="3014207" y="548141"/>
                    <a:pt x="3003513" y="555284"/>
                    <a:pt x="2991653" y="555284"/>
                  </a:cubicBezTo>
                  <a:lnTo>
                    <a:pt x="13088" y="555284"/>
                  </a:lnTo>
                  <a:cubicBezTo>
                    <a:pt x="8716" y="555284"/>
                    <a:pt x="4633" y="553101"/>
                    <a:pt x="2205" y="549466"/>
                  </a:cubicBezTo>
                  <a:cubicBezTo>
                    <a:pt x="-223" y="545831"/>
                    <a:pt x="-676" y="541223"/>
                    <a:pt x="998" y="537185"/>
                  </a:cubicBezTo>
                  <a:lnTo>
                    <a:pt x="216180" y="18099"/>
                  </a:lnTo>
                  <a:cubicBezTo>
                    <a:pt x="220722" y="7143"/>
                    <a:pt x="231415" y="0"/>
                    <a:pt x="24327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65F8B">
                    <a:alpha val="100000"/>
                  </a:srgbClr>
                </a:gs>
                <a:gs pos="100000">
                  <a:srgbClr val="31427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254000" y="-38100"/>
              <a:ext cx="2739938" cy="5933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28700" y="3294282"/>
            <a:ext cx="7141100" cy="4702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0"/>
              </a:lnSpc>
            </a:pPr>
            <a:r>
              <a:rPr lang="en-US" sz="2784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-Une brasserie automatisée appelée Brasserie 4.0. </a:t>
            </a:r>
          </a:p>
          <a:p>
            <a:pPr algn="l">
              <a:lnSpc>
                <a:spcPts val="3730"/>
              </a:lnSpc>
            </a:pPr>
          </a:p>
          <a:p>
            <a:pPr algn="l">
              <a:lnSpc>
                <a:spcPts val="3730"/>
              </a:lnSpc>
            </a:pPr>
            <a:r>
              <a:rPr lang="en-US" sz="2784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-Concevoir l’instrumentation nécessaire au bon fonctionnement de la partie vapeur du procédé industriel. </a:t>
            </a:r>
          </a:p>
          <a:p>
            <a:pPr algn="l">
              <a:lnSpc>
                <a:spcPts val="3730"/>
              </a:lnSpc>
            </a:pPr>
          </a:p>
          <a:p>
            <a:pPr algn="l" marL="0" indent="0" lvl="0">
              <a:lnSpc>
                <a:spcPts val="3730"/>
              </a:lnSpc>
            </a:pPr>
            <a:r>
              <a:rPr lang="en-US" sz="2784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-Intégrer des capteurs adaptés pour mesurer et contrôler le système selon le cahier des charges.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01716"/>
            <a:ext cx="11248011" cy="744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65"/>
              </a:lnSpc>
            </a:pPr>
            <a:r>
              <a:rPr lang="en-US" sz="4227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Contexte industriel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9187153"/>
            <a:ext cx="1699781" cy="467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96"/>
              </a:lnSpc>
            </a:pPr>
            <a:r>
              <a:rPr lang="en-US" b="true" sz="2609">
                <a:solidFill>
                  <a:srgbClr val="324375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01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3921" y="2168048"/>
            <a:ext cx="17260157" cy="1941103"/>
            <a:chOff x="0" y="0"/>
            <a:chExt cx="4119708" cy="4633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5873" y="0"/>
              <a:ext cx="4107962" cy="463308"/>
            </a:xfrm>
            <a:custGeom>
              <a:avLst/>
              <a:gdLst/>
              <a:ahLst/>
              <a:cxnLst/>
              <a:rect r="r" b="b" t="t" l="l"/>
              <a:pathLst>
                <a:path h="463308" w="4107962">
                  <a:moveTo>
                    <a:pt x="239761" y="0"/>
                  </a:moveTo>
                  <a:lnTo>
                    <a:pt x="4098388" y="0"/>
                  </a:lnTo>
                  <a:cubicBezTo>
                    <a:pt x="4101702" y="0"/>
                    <a:pt x="4104780" y="1714"/>
                    <a:pt x="4106526" y="4530"/>
                  </a:cubicBezTo>
                  <a:cubicBezTo>
                    <a:pt x="4108272" y="7347"/>
                    <a:pt x="4108437" y="10866"/>
                    <a:pt x="4106962" y="13833"/>
                  </a:cubicBezTo>
                  <a:lnTo>
                    <a:pt x="3890521" y="449475"/>
                  </a:lnTo>
                  <a:cubicBezTo>
                    <a:pt x="3886310" y="457949"/>
                    <a:pt x="3877664" y="463308"/>
                    <a:pt x="3868201" y="463308"/>
                  </a:cubicBezTo>
                  <a:lnTo>
                    <a:pt x="9574" y="463308"/>
                  </a:lnTo>
                  <a:cubicBezTo>
                    <a:pt x="6260" y="463308"/>
                    <a:pt x="3182" y="461595"/>
                    <a:pt x="1436" y="458778"/>
                  </a:cubicBezTo>
                  <a:cubicBezTo>
                    <a:pt x="-309" y="455962"/>
                    <a:pt x="-474" y="452443"/>
                    <a:pt x="1000" y="449475"/>
                  </a:cubicBezTo>
                  <a:lnTo>
                    <a:pt x="217442" y="13833"/>
                  </a:lnTo>
                  <a:cubicBezTo>
                    <a:pt x="221652" y="5359"/>
                    <a:pt x="230298" y="0"/>
                    <a:pt x="23976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65F8B">
                    <a:alpha val="100000"/>
                  </a:srgbClr>
                </a:gs>
                <a:gs pos="100000">
                  <a:srgbClr val="31427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254000" y="-38100"/>
              <a:ext cx="3611708" cy="5014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1960370" y="4335088"/>
            <a:ext cx="4416345" cy="476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96"/>
              </a:lnSpc>
            </a:pPr>
            <a:r>
              <a:rPr lang="en-US" sz="2684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-Niveau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16702" y="3045415"/>
            <a:ext cx="4416345" cy="638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38"/>
              </a:lnSpc>
            </a:pPr>
            <a:r>
              <a:rPr lang="en-US" b="true" sz="346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Eau d’alimentation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935827" y="3045415"/>
            <a:ext cx="4416345" cy="638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38"/>
              </a:lnSpc>
            </a:pPr>
            <a:r>
              <a:rPr lang="en-US" b="true" sz="346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Vapeur produite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866951" y="3045415"/>
            <a:ext cx="4904347" cy="638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38"/>
              </a:lnSpc>
            </a:pPr>
            <a:r>
              <a:rPr lang="en-US" b="true" sz="346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Eau dans la chaudière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-1647371" y="-803050"/>
            <a:ext cx="13607741" cy="2326449"/>
            <a:chOff x="0" y="0"/>
            <a:chExt cx="3247938" cy="55528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6505" y="0"/>
              <a:ext cx="3234928" cy="555284"/>
            </a:xfrm>
            <a:custGeom>
              <a:avLst/>
              <a:gdLst/>
              <a:ahLst/>
              <a:cxnLst/>
              <a:rect r="r" b="b" t="t" l="l"/>
              <a:pathLst>
                <a:path h="555284" w="3234928">
                  <a:moveTo>
                    <a:pt x="243275" y="0"/>
                  </a:moveTo>
                  <a:lnTo>
                    <a:pt x="3221841" y="0"/>
                  </a:lnTo>
                  <a:cubicBezTo>
                    <a:pt x="3226212" y="0"/>
                    <a:pt x="3230295" y="2183"/>
                    <a:pt x="3232723" y="5818"/>
                  </a:cubicBezTo>
                  <a:cubicBezTo>
                    <a:pt x="3235152" y="9453"/>
                    <a:pt x="3235604" y="14061"/>
                    <a:pt x="3233930" y="18099"/>
                  </a:cubicBezTo>
                  <a:lnTo>
                    <a:pt x="3018749" y="537185"/>
                  </a:lnTo>
                  <a:cubicBezTo>
                    <a:pt x="3014207" y="548141"/>
                    <a:pt x="3003513" y="555284"/>
                    <a:pt x="2991653" y="555284"/>
                  </a:cubicBezTo>
                  <a:lnTo>
                    <a:pt x="13088" y="555284"/>
                  </a:lnTo>
                  <a:cubicBezTo>
                    <a:pt x="8716" y="555284"/>
                    <a:pt x="4633" y="553101"/>
                    <a:pt x="2205" y="549466"/>
                  </a:cubicBezTo>
                  <a:cubicBezTo>
                    <a:pt x="-223" y="545831"/>
                    <a:pt x="-676" y="541223"/>
                    <a:pt x="998" y="537185"/>
                  </a:cubicBezTo>
                  <a:lnTo>
                    <a:pt x="216180" y="18099"/>
                  </a:lnTo>
                  <a:cubicBezTo>
                    <a:pt x="220722" y="7143"/>
                    <a:pt x="231415" y="0"/>
                    <a:pt x="24327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65F8B">
                    <a:alpha val="100000"/>
                  </a:srgbClr>
                </a:gs>
                <a:gs pos="100000">
                  <a:srgbClr val="31427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254000" y="-38100"/>
              <a:ext cx="2739938" cy="5933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028700" y="401716"/>
            <a:ext cx="11248011" cy="744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65"/>
              </a:lnSpc>
            </a:pPr>
            <a:r>
              <a:rPr lang="en-US" sz="4227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Demande du client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9187153"/>
            <a:ext cx="1699781" cy="467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96"/>
              </a:lnSpc>
            </a:pPr>
            <a:r>
              <a:rPr lang="en-US" b="true" sz="2609">
                <a:solidFill>
                  <a:srgbClr val="324375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04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19357" y="4335088"/>
            <a:ext cx="4416345" cy="2266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6"/>
              </a:lnSpc>
            </a:pPr>
            <a:r>
              <a:rPr lang="en-US" sz="2684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-Débit</a:t>
            </a:r>
          </a:p>
          <a:p>
            <a:pPr algn="l">
              <a:lnSpc>
                <a:spcPts val="3596"/>
              </a:lnSpc>
            </a:pPr>
          </a:p>
          <a:p>
            <a:pPr algn="l">
              <a:lnSpc>
                <a:spcPts val="3596"/>
              </a:lnSpc>
            </a:pPr>
            <a:r>
              <a:rPr lang="en-US" sz="2684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-Pression</a:t>
            </a:r>
          </a:p>
          <a:p>
            <a:pPr algn="l">
              <a:lnSpc>
                <a:spcPts val="3596"/>
              </a:lnSpc>
            </a:pPr>
          </a:p>
          <a:p>
            <a:pPr algn="l" marL="0" indent="0" lvl="0">
              <a:lnSpc>
                <a:spcPts val="3596"/>
              </a:lnSpc>
            </a:pPr>
            <a:r>
              <a:rPr lang="en-US" sz="2684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-Température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937155" y="4335088"/>
            <a:ext cx="4416345" cy="2266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6"/>
              </a:lnSpc>
            </a:pPr>
            <a:r>
              <a:rPr lang="en-US" sz="2684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-Débit</a:t>
            </a:r>
          </a:p>
          <a:p>
            <a:pPr algn="l">
              <a:lnSpc>
                <a:spcPts val="3596"/>
              </a:lnSpc>
            </a:pPr>
          </a:p>
          <a:p>
            <a:pPr algn="l">
              <a:lnSpc>
                <a:spcPts val="3596"/>
              </a:lnSpc>
            </a:pPr>
            <a:r>
              <a:rPr lang="en-US" sz="2684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-Pression</a:t>
            </a:r>
          </a:p>
          <a:p>
            <a:pPr algn="l">
              <a:lnSpc>
                <a:spcPts val="3596"/>
              </a:lnSpc>
            </a:pPr>
          </a:p>
          <a:p>
            <a:pPr algn="l" marL="0" indent="0" lvl="0">
              <a:lnSpc>
                <a:spcPts val="3596"/>
              </a:lnSpc>
            </a:pPr>
            <a:r>
              <a:rPr lang="en-US" sz="2684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-Température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196163" y="6962094"/>
            <a:ext cx="17260157" cy="1941103"/>
            <a:chOff x="0" y="0"/>
            <a:chExt cx="4119708" cy="46330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5873" y="0"/>
              <a:ext cx="4107962" cy="463308"/>
            </a:xfrm>
            <a:custGeom>
              <a:avLst/>
              <a:gdLst/>
              <a:ahLst/>
              <a:cxnLst/>
              <a:rect r="r" b="b" t="t" l="l"/>
              <a:pathLst>
                <a:path h="463308" w="4107962">
                  <a:moveTo>
                    <a:pt x="239761" y="0"/>
                  </a:moveTo>
                  <a:lnTo>
                    <a:pt x="4098388" y="0"/>
                  </a:lnTo>
                  <a:cubicBezTo>
                    <a:pt x="4101702" y="0"/>
                    <a:pt x="4104780" y="1714"/>
                    <a:pt x="4106526" y="4530"/>
                  </a:cubicBezTo>
                  <a:cubicBezTo>
                    <a:pt x="4108272" y="7347"/>
                    <a:pt x="4108437" y="10866"/>
                    <a:pt x="4106962" y="13833"/>
                  </a:cubicBezTo>
                  <a:lnTo>
                    <a:pt x="3890521" y="449475"/>
                  </a:lnTo>
                  <a:cubicBezTo>
                    <a:pt x="3886310" y="457949"/>
                    <a:pt x="3877664" y="463308"/>
                    <a:pt x="3868201" y="463308"/>
                  </a:cubicBezTo>
                  <a:lnTo>
                    <a:pt x="9574" y="463308"/>
                  </a:lnTo>
                  <a:cubicBezTo>
                    <a:pt x="6260" y="463308"/>
                    <a:pt x="3182" y="461595"/>
                    <a:pt x="1436" y="458778"/>
                  </a:cubicBezTo>
                  <a:cubicBezTo>
                    <a:pt x="-309" y="455962"/>
                    <a:pt x="-474" y="452443"/>
                    <a:pt x="1000" y="449475"/>
                  </a:cubicBezTo>
                  <a:lnTo>
                    <a:pt x="217442" y="13833"/>
                  </a:lnTo>
                  <a:cubicBezTo>
                    <a:pt x="221652" y="5359"/>
                    <a:pt x="230298" y="0"/>
                    <a:pt x="23976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65F8B">
                    <a:alpha val="100000"/>
                  </a:srgbClr>
                </a:gs>
                <a:gs pos="100000">
                  <a:srgbClr val="31427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254000" y="-38100"/>
              <a:ext cx="3611708" cy="5014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5021607" y="7558449"/>
            <a:ext cx="8798225" cy="634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38"/>
              </a:lnSpc>
            </a:pPr>
            <a:r>
              <a:rPr lang="en-US" b="true" sz="3461">
                <a:solidFill>
                  <a:srgbClr val="FFFFFF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Pompe de circulation des condensats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935702" y="9383032"/>
            <a:ext cx="7758605" cy="923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6"/>
              </a:lnSpc>
            </a:pPr>
            <a:r>
              <a:rPr lang="en-US" sz="2684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-Puissance électrique consommée </a:t>
            </a:r>
          </a:p>
          <a:p>
            <a:pPr algn="l" marL="0" indent="0" lvl="0">
              <a:lnSpc>
                <a:spcPts val="3596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47371" y="-803050"/>
            <a:ext cx="13607741" cy="2326449"/>
            <a:chOff x="0" y="0"/>
            <a:chExt cx="3247938" cy="5552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505" y="0"/>
              <a:ext cx="3234928" cy="555284"/>
            </a:xfrm>
            <a:custGeom>
              <a:avLst/>
              <a:gdLst/>
              <a:ahLst/>
              <a:cxnLst/>
              <a:rect r="r" b="b" t="t" l="l"/>
              <a:pathLst>
                <a:path h="555284" w="3234928">
                  <a:moveTo>
                    <a:pt x="243275" y="0"/>
                  </a:moveTo>
                  <a:lnTo>
                    <a:pt x="3221841" y="0"/>
                  </a:lnTo>
                  <a:cubicBezTo>
                    <a:pt x="3226212" y="0"/>
                    <a:pt x="3230295" y="2183"/>
                    <a:pt x="3232723" y="5818"/>
                  </a:cubicBezTo>
                  <a:cubicBezTo>
                    <a:pt x="3235152" y="9453"/>
                    <a:pt x="3235604" y="14061"/>
                    <a:pt x="3233930" y="18099"/>
                  </a:cubicBezTo>
                  <a:lnTo>
                    <a:pt x="3018749" y="537185"/>
                  </a:lnTo>
                  <a:cubicBezTo>
                    <a:pt x="3014207" y="548141"/>
                    <a:pt x="3003513" y="555284"/>
                    <a:pt x="2991653" y="555284"/>
                  </a:cubicBezTo>
                  <a:lnTo>
                    <a:pt x="13088" y="555284"/>
                  </a:lnTo>
                  <a:cubicBezTo>
                    <a:pt x="8716" y="555284"/>
                    <a:pt x="4633" y="553101"/>
                    <a:pt x="2205" y="549466"/>
                  </a:cubicBezTo>
                  <a:cubicBezTo>
                    <a:pt x="-223" y="545831"/>
                    <a:pt x="-676" y="541223"/>
                    <a:pt x="998" y="537185"/>
                  </a:cubicBezTo>
                  <a:lnTo>
                    <a:pt x="216180" y="18099"/>
                  </a:lnTo>
                  <a:cubicBezTo>
                    <a:pt x="220722" y="7143"/>
                    <a:pt x="231415" y="0"/>
                    <a:pt x="24327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65F8B">
                    <a:alpha val="100000"/>
                  </a:srgbClr>
                </a:gs>
                <a:gs pos="100000">
                  <a:srgbClr val="31427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254000" y="-38100"/>
              <a:ext cx="2739938" cy="5933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427188" y="1841573"/>
            <a:ext cx="15433623" cy="8169563"/>
          </a:xfrm>
          <a:custGeom>
            <a:avLst/>
            <a:gdLst/>
            <a:ahLst/>
            <a:cxnLst/>
            <a:rect r="r" b="b" t="t" l="l"/>
            <a:pathLst>
              <a:path h="8169563" w="15433623">
                <a:moveTo>
                  <a:pt x="0" y="0"/>
                </a:moveTo>
                <a:lnTo>
                  <a:pt x="15433624" y="0"/>
                </a:lnTo>
                <a:lnTo>
                  <a:pt x="15433624" y="8169563"/>
                </a:lnTo>
                <a:lnTo>
                  <a:pt x="0" y="81695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9253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401716"/>
            <a:ext cx="11248011" cy="744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65"/>
              </a:lnSpc>
            </a:pPr>
            <a:r>
              <a:rPr lang="en-US" sz="4227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P&amp;ID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47371" y="-803050"/>
            <a:ext cx="13607741" cy="2326449"/>
            <a:chOff x="0" y="0"/>
            <a:chExt cx="3247938" cy="5552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505" y="0"/>
              <a:ext cx="3234928" cy="555284"/>
            </a:xfrm>
            <a:custGeom>
              <a:avLst/>
              <a:gdLst/>
              <a:ahLst/>
              <a:cxnLst/>
              <a:rect r="r" b="b" t="t" l="l"/>
              <a:pathLst>
                <a:path h="555284" w="3234928">
                  <a:moveTo>
                    <a:pt x="243275" y="0"/>
                  </a:moveTo>
                  <a:lnTo>
                    <a:pt x="3221841" y="0"/>
                  </a:lnTo>
                  <a:cubicBezTo>
                    <a:pt x="3226212" y="0"/>
                    <a:pt x="3230295" y="2183"/>
                    <a:pt x="3232723" y="5818"/>
                  </a:cubicBezTo>
                  <a:cubicBezTo>
                    <a:pt x="3235152" y="9453"/>
                    <a:pt x="3235604" y="14061"/>
                    <a:pt x="3233930" y="18099"/>
                  </a:cubicBezTo>
                  <a:lnTo>
                    <a:pt x="3018749" y="537185"/>
                  </a:lnTo>
                  <a:cubicBezTo>
                    <a:pt x="3014207" y="548141"/>
                    <a:pt x="3003513" y="555284"/>
                    <a:pt x="2991653" y="555284"/>
                  </a:cubicBezTo>
                  <a:lnTo>
                    <a:pt x="13088" y="555284"/>
                  </a:lnTo>
                  <a:cubicBezTo>
                    <a:pt x="8716" y="555284"/>
                    <a:pt x="4633" y="553101"/>
                    <a:pt x="2205" y="549466"/>
                  </a:cubicBezTo>
                  <a:cubicBezTo>
                    <a:pt x="-223" y="545831"/>
                    <a:pt x="-676" y="541223"/>
                    <a:pt x="998" y="537185"/>
                  </a:cubicBezTo>
                  <a:lnTo>
                    <a:pt x="216180" y="18099"/>
                  </a:lnTo>
                  <a:cubicBezTo>
                    <a:pt x="220722" y="7143"/>
                    <a:pt x="231415" y="0"/>
                    <a:pt x="24327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65F8B">
                    <a:alpha val="100000"/>
                  </a:srgbClr>
                </a:gs>
                <a:gs pos="100000">
                  <a:srgbClr val="31427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254000" y="-38100"/>
              <a:ext cx="2739938" cy="5933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063186" y="1523399"/>
            <a:ext cx="8960565" cy="8131713"/>
          </a:xfrm>
          <a:custGeom>
            <a:avLst/>
            <a:gdLst/>
            <a:ahLst/>
            <a:cxnLst/>
            <a:rect r="r" b="b" t="t" l="l"/>
            <a:pathLst>
              <a:path h="8131713" w="8960565">
                <a:moveTo>
                  <a:pt x="0" y="0"/>
                </a:moveTo>
                <a:lnTo>
                  <a:pt x="8960565" y="0"/>
                </a:lnTo>
                <a:lnTo>
                  <a:pt x="8960565" y="8131713"/>
                </a:lnTo>
                <a:lnTo>
                  <a:pt x="0" y="81317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401716"/>
            <a:ext cx="11248011" cy="744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65"/>
              </a:lnSpc>
            </a:pPr>
            <a:r>
              <a:rPr lang="en-US" sz="4227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Méthodologie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187153"/>
            <a:ext cx="1699781" cy="467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96"/>
              </a:lnSpc>
            </a:pPr>
            <a:r>
              <a:rPr lang="en-US" b="true" sz="2609">
                <a:solidFill>
                  <a:srgbClr val="324375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03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92485" y="3613178"/>
            <a:ext cx="8430783" cy="2376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8"/>
              </a:lnSpc>
              <a:spcBef>
                <a:spcPct val="0"/>
              </a:spcBef>
            </a:pPr>
            <a:r>
              <a:rPr lang="en-US" b="true" sz="3461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Analyse du système </a:t>
            </a:r>
          </a:p>
          <a:p>
            <a:pPr algn="l">
              <a:lnSpc>
                <a:spcPts val="4638"/>
              </a:lnSpc>
              <a:spcBef>
                <a:spcPct val="0"/>
              </a:spcBef>
            </a:pPr>
            <a:r>
              <a:rPr lang="en-US" b="true" sz="3461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→ comparaison des technologies</a:t>
            </a:r>
          </a:p>
          <a:p>
            <a:pPr algn="l">
              <a:lnSpc>
                <a:spcPts val="4638"/>
              </a:lnSpc>
              <a:spcBef>
                <a:spcPct val="0"/>
              </a:spcBef>
            </a:pPr>
            <a:r>
              <a:rPr lang="en-US" b="true" sz="3461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→ choix de la solution la moins coûteuse</a:t>
            </a:r>
          </a:p>
          <a:p>
            <a:pPr algn="l">
              <a:lnSpc>
                <a:spcPts val="4638"/>
              </a:lnSpc>
              <a:spcBef>
                <a:spcPct val="0"/>
              </a:spcBef>
            </a:pPr>
            <a:r>
              <a:rPr lang="en-US" b="true" sz="3461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→ validation des performances.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960370" y="1523399"/>
            <a:ext cx="5855008" cy="6142276"/>
            <a:chOff x="0" y="0"/>
            <a:chExt cx="1212477" cy="1271966"/>
          </a:xfrm>
        </p:grpSpPr>
        <p:sp>
          <p:nvSpPr>
            <p:cNvPr name="Freeform 3" id="3"/>
            <p:cNvSpPr/>
            <p:nvPr/>
          </p:nvSpPr>
          <p:spPr>
            <a:xfrm flipH="true" flipV="false" rot="0">
              <a:off x="0" y="0"/>
              <a:ext cx="1212477" cy="1271966"/>
            </a:xfrm>
            <a:custGeom>
              <a:avLst/>
              <a:gdLst/>
              <a:ahLst/>
              <a:cxnLst/>
              <a:rect r="r" b="b" t="t" l="l"/>
              <a:pathLst>
                <a:path h="1271966" w="1212477">
                  <a:moveTo>
                    <a:pt x="1126529" y="0"/>
                  </a:moveTo>
                  <a:lnTo>
                    <a:pt x="85948" y="0"/>
                  </a:lnTo>
                  <a:cubicBezTo>
                    <a:pt x="38480" y="0"/>
                    <a:pt x="0" y="38480"/>
                    <a:pt x="0" y="85948"/>
                  </a:cubicBezTo>
                  <a:lnTo>
                    <a:pt x="0" y="1186018"/>
                  </a:lnTo>
                  <a:cubicBezTo>
                    <a:pt x="0" y="1208813"/>
                    <a:pt x="9055" y="1230674"/>
                    <a:pt x="25174" y="1246792"/>
                  </a:cubicBezTo>
                  <a:cubicBezTo>
                    <a:pt x="41292" y="1262910"/>
                    <a:pt x="63153" y="1271966"/>
                    <a:pt x="85948" y="1271966"/>
                  </a:cubicBezTo>
                  <a:lnTo>
                    <a:pt x="1126529" y="1271966"/>
                  </a:lnTo>
                  <a:cubicBezTo>
                    <a:pt x="1173997" y="1271966"/>
                    <a:pt x="1212477" y="1233485"/>
                    <a:pt x="1212477" y="1186018"/>
                  </a:cubicBezTo>
                  <a:lnTo>
                    <a:pt x="1212477" y="85948"/>
                  </a:lnTo>
                  <a:cubicBezTo>
                    <a:pt x="1212477" y="63153"/>
                    <a:pt x="1203422" y="41292"/>
                    <a:pt x="1187304" y="25174"/>
                  </a:cubicBezTo>
                  <a:cubicBezTo>
                    <a:pt x="1171185" y="9055"/>
                    <a:pt x="1149324" y="0"/>
                    <a:pt x="1126529" y="0"/>
                  </a:cubicBezTo>
                  <a:close/>
                </a:path>
              </a:pathLst>
            </a:custGeom>
            <a:blipFill>
              <a:blip r:embed="rId2"/>
              <a:stretch>
                <a:fillRect l="-51557" t="0" r="-5900" b="0"/>
              </a:stretch>
            </a:blipFill>
            <a:ln w="161925" cap="rnd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E7E7E7">
                      <a:alpha val="100000"/>
                    </a:srgbClr>
                  </a:gs>
                </a:gsLst>
                <a:lin ang="5400000"/>
              </a:gradFill>
              <a:prstDash val="solid"/>
              <a:round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-1647371" y="-803050"/>
            <a:ext cx="13607741" cy="2326449"/>
            <a:chOff x="0" y="0"/>
            <a:chExt cx="3247938" cy="55528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6505" y="0"/>
              <a:ext cx="3234928" cy="555284"/>
            </a:xfrm>
            <a:custGeom>
              <a:avLst/>
              <a:gdLst/>
              <a:ahLst/>
              <a:cxnLst/>
              <a:rect r="r" b="b" t="t" l="l"/>
              <a:pathLst>
                <a:path h="555284" w="3234928">
                  <a:moveTo>
                    <a:pt x="243275" y="0"/>
                  </a:moveTo>
                  <a:lnTo>
                    <a:pt x="3221841" y="0"/>
                  </a:lnTo>
                  <a:cubicBezTo>
                    <a:pt x="3226212" y="0"/>
                    <a:pt x="3230295" y="2183"/>
                    <a:pt x="3232723" y="5818"/>
                  </a:cubicBezTo>
                  <a:cubicBezTo>
                    <a:pt x="3235152" y="9453"/>
                    <a:pt x="3235604" y="14061"/>
                    <a:pt x="3233930" y="18099"/>
                  </a:cubicBezTo>
                  <a:lnTo>
                    <a:pt x="3018749" y="537185"/>
                  </a:lnTo>
                  <a:cubicBezTo>
                    <a:pt x="3014207" y="548141"/>
                    <a:pt x="3003513" y="555284"/>
                    <a:pt x="2991653" y="555284"/>
                  </a:cubicBezTo>
                  <a:lnTo>
                    <a:pt x="13088" y="555284"/>
                  </a:lnTo>
                  <a:cubicBezTo>
                    <a:pt x="8716" y="555284"/>
                    <a:pt x="4633" y="553101"/>
                    <a:pt x="2205" y="549466"/>
                  </a:cubicBezTo>
                  <a:cubicBezTo>
                    <a:pt x="-223" y="545831"/>
                    <a:pt x="-676" y="541223"/>
                    <a:pt x="998" y="537185"/>
                  </a:cubicBezTo>
                  <a:lnTo>
                    <a:pt x="216180" y="18099"/>
                  </a:lnTo>
                  <a:cubicBezTo>
                    <a:pt x="220722" y="7143"/>
                    <a:pt x="231415" y="0"/>
                    <a:pt x="24327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65F8B">
                    <a:alpha val="100000"/>
                  </a:srgbClr>
                </a:gs>
                <a:gs pos="100000">
                  <a:srgbClr val="31427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254000" y="-38100"/>
              <a:ext cx="2739938" cy="5933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28700" y="401716"/>
            <a:ext cx="11248011" cy="744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65"/>
              </a:lnSpc>
            </a:pPr>
            <a:r>
              <a:rPr lang="en-US" sz="4227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Analyse du fluide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92485" y="3613178"/>
            <a:ext cx="10116815" cy="3538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8"/>
              </a:lnSpc>
            </a:pPr>
            <a:r>
              <a:rPr lang="en-US" sz="3461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Eau</a:t>
            </a:r>
          </a:p>
          <a:p>
            <a:pPr algn="l">
              <a:lnSpc>
                <a:spcPts val="4638"/>
              </a:lnSpc>
              <a:spcBef>
                <a:spcPct val="0"/>
              </a:spcBef>
            </a:pPr>
            <a:r>
              <a:rPr lang="en-US" b="true" sz="3461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→ Rentre dans une chaudière</a:t>
            </a:r>
          </a:p>
          <a:p>
            <a:pPr algn="l">
              <a:lnSpc>
                <a:spcPts val="4638"/>
              </a:lnSpc>
              <a:spcBef>
                <a:spcPct val="0"/>
              </a:spcBef>
            </a:pPr>
            <a:r>
              <a:rPr lang="en-US" b="true" sz="3461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   → Eau deminéralisé pour éviter la corrosion</a:t>
            </a:r>
          </a:p>
          <a:p>
            <a:pPr algn="l">
              <a:lnSpc>
                <a:spcPts val="4638"/>
              </a:lnSpc>
              <a:spcBef>
                <a:spcPct val="0"/>
              </a:spcBef>
            </a:pPr>
            <a:r>
              <a:rPr lang="en-US" b="true" sz="3461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       → Conductivité maximale : 10 μS/cm</a:t>
            </a:r>
          </a:p>
          <a:p>
            <a:pPr algn="l">
              <a:lnSpc>
                <a:spcPts val="4638"/>
              </a:lnSpc>
              <a:spcBef>
                <a:spcPct val="0"/>
              </a:spcBef>
            </a:pPr>
            <a:r>
              <a:rPr lang="en-US" b="true" sz="3461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→Température de fonctionnement : 70°C à 100°C</a:t>
            </a:r>
          </a:p>
          <a:p>
            <a:pPr algn="l">
              <a:lnSpc>
                <a:spcPts val="4638"/>
              </a:lnSpc>
              <a:spcBef>
                <a:spcPct val="0"/>
              </a:spcBef>
            </a:pPr>
            <a:r>
              <a:rPr lang="en-US" b="true" sz="3461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→Pression maximale : 1,5 Bar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47371" y="-803050"/>
            <a:ext cx="13607741" cy="2326449"/>
            <a:chOff x="0" y="0"/>
            <a:chExt cx="3247938" cy="5552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505" y="0"/>
              <a:ext cx="3234928" cy="555284"/>
            </a:xfrm>
            <a:custGeom>
              <a:avLst/>
              <a:gdLst/>
              <a:ahLst/>
              <a:cxnLst/>
              <a:rect r="r" b="b" t="t" l="l"/>
              <a:pathLst>
                <a:path h="555284" w="3234928">
                  <a:moveTo>
                    <a:pt x="243275" y="0"/>
                  </a:moveTo>
                  <a:lnTo>
                    <a:pt x="3221841" y="0"/>
                  </a:lnTo>
                  <a:cubicBezTo>
                    <a:pt x="3226212" y="0"/>
                    <a:pt x="3230295" y="2183"/>
                    <a:pt x="3232723" y="5818"/>
                  </a:cubicBezTo>
                  <a:cubicBezTo>
                    <a:pt x="3235152" y="9453"/>
                    <a:pt x="3235604" y="14061"/>
                    <a:pt x="3233930" y="18099"/>
                  </a:cubicBezTo>
                  <a:lnTo>
                    <a:pt x="3018749" y="537185"/>
                  </a:lnTo>
                  <a:cubicBezTo>
                    <a:pt x="3014207" y="548141"/>
                    <a:pt x="3003513" y="555284"/>
                    <a:pt x="2991653" y="555284"/>
                  </a:cubicBezTo>
                  <a:lnTo>
                    <a:pt x="13088" y="555284"/>
                  </a:lnTo>
                  <a:cubicBezTo>
                    <a:pt x="8716" y="555284"/>
                    <a:pt x="4633" y="553101"/>
                    <a:pt x="2205" y="549466"/>
                  </a:cubicBezTo>
                  <a:cubicBezTo>
                    <a:pt x="-223" y="545831"/>
                    <a:pt x="-676" y="541223"/>
                    <a:pt x="998" y="537185"/>
                  </a:cubicBezTo>
                  <a:lnTo>
                    <a:pt x="216180" y="18099"/>
                  </a:lnTo>
                  <a:cubicBezTo>
                    <a:pt x="220722" y="7143"/>
                    <a:pt x="231415" y="0"/>
                    <a:pt x="24327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65F8B">
                    <a:alpha val="100000"/>
                  </a:srgbClr>
                </a:gs>
                <a:gs pos="100000">
                  <a:srgbClr val="31427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254000" y="-38100"/>
              <a:ext cx="2739938" cy="5933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50348" y="1952562"/>
            <a:ext cx="4811552" cy="5020750"/>
          </a:xfrm>
          <a:custGeom>
            <a:avLst/>
            <a:gdLst/>
            <a:ahLst/>
            <a:cxnLst/>
            <a:rect r="r" b="b" t="t" l="l"/>
            <a:pathLst>
              <a:path h="5020750" w="4811552">
                <a:moveTo>
                  <a:pt x="0" y="0"/>
                </a:moveTo>
                <a:lnTo>
                  <a:pt x="4811552" y="0"/>
                </a:lnTo>
                <a:lnTo>
                  <a:pt x="4811552" y="5020750"/>
                </a:lnTo>
                <a:lnTo>
                  <a:pt x="0" y="5020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03104" y="6819173"/>
            <a:ext cx="7924138" cy="3282685"/>
          </a:xfrm>
          <a:custGeom>
            <a:avLst/>
            <a:gdLst/>
            <a:ahLst/>
            <a:cxnLst/>
            <a:rect r="r" b="b" t="t" l="l"/>
            <a:pathLst>
              <a:path h="3282685" w="7924138">
                <a:moveTo>
                  <a:pt x="0" y="0"/>
                </a:moveTo>
                <a:lnTo>
                  <a:pt x="7924138" y="0"/>
                </a:lnTo>
                <a:lnTo>
                  <a:pt x="7924138" y="3282685"/>
                </a:lnTo>
                <a:lnTo>
                  <a:pt x="0" y="32826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144000" y="6819173"/>
            <a:ext cx="7544263" cy="3036566"/>
          </a:xfrm>
          <a:custGeom>
            <a:avLst/>
            <a:gdLst/>
            <a:ahLst/>
            <a:cxnLst/>
            <a:rect r="r" b="b" t="t" l="l"/>
            <a:pathLst>
              <a:path h="3036566" w="7544263">
                <a:moveTo>
                  <a:pt x="0" y="0"/>
                </a:moveTo>
                <a:lnTo>
                  <a:pt x="7544263" y="0"/>
                </a:lnTo>
                <a:lnTo>
                  <a:pt x="7544263" y="3036566"/>
                </a:lnTo>
                <a:lnTo>
                  <a:pt x="0" y="30365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6031149" y="2619900"/>
            <a:ext cx="7141100" cy="3609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9526" indent="-289763" lvl="1">
              <a:lnSpc>
                <a:spcPts val="3596"/>
              </a:lnSpc>
              <a:buFont typeface="Arial"/>
              <a:buChar char="•"/>
            </a:pPr>
            <a:r>
              <a:rPr lang="en-US" sz="2684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Coriolis : trop chère</a:t>
            </a:r>
          </a:p>
          <a:p>
            <a:pPr algn="l" marL="579526" indent="-289763" lvl="1">
              <a:lnSpc>
                <a:spcPts val="3596"/>
              </a:lnSpc>
              <a:buFont typeface="Arial"/>
              <a:buChar char="•"/>
            </a:pPr>
            <a:r>
              <a:rPr lang="en-US" sz="2684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Vortex : moins performant pour les liquides</a:t>
            </a:r>
          </a:p>
          <a:p>
            <a:pPr algn="l" marL="579526" indent="-289763" lvl="1">
              <a:lnSpc>
                <a:spcPts val="3596"/>
              </a:lnSpc>
              <a:buFont typeface="Arial"/>
              <a:buChar char="•"/>
            </a:pPr>
            <a:r>
              <a:rPr lang="en-US" sz="2684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Ultrason : cout élevé</a:t>
            </a:r>
          </a:p>
          <a:p>
            <a:pPr algn="l" marL="579526" indent="-289763" lvl="1">
              <a:lnSpc>
                <a:spcPts val="3596"/>
              </a:lnSpc>
              <a:buFont typeface="Arial"/>
              <a:buChar char="•"/>
            </a:pPr>
            <a:r>
              <a:rPr lang="en-US" sz="2684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Pression différentielle : Re élevé, perte de charge élevé</a:t>
            </a:r>
          </a:p>
          <a:p>
            <a:pPr algn="l" marL="579526" indent="-289763" lvl="1">
              <a:lnSpc>
                <a:spcPts val="3596"/>
              </a:lnSpc>
              <a:buFont typeface="Arial"/>
              <a:buChar char="•"/>
            </a:pPr>
            <a:r>
              <a:rPr lang="en-US" sz="2684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Thermique : Longueurs amont/aval importantes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401716"/>
            <a:ext cx="11248011" cy="744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65"/>
              </a:lnSpc>
            </a:pPr>
            <a:r>
              <a:rPr lang="en-US" sz="4227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Debitmètre pour l’eau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3898" y="1409099"/>
            <a:ext cx="5478002" cy="634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38"/>
              </a:lnSpc>
            </a:pPr>
            <a:r>
              <a:rPr lang="en-US" b="true" sz="3461">
                <a:solidFill>
                  <a:srgbClr val="324375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Déb</a:t>
            </a:r>
            <a:r>
              <a:rPr lang="en-US" b="true" sz="3461">
                <a:solidFill>
                  <a:srgbClr val="324375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itmètre Promag 10L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960370" y="283975"/>
            <a:ext cx="7141100" cy="2266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6"/>
              </a:lnSpc>
            </a:pPr>
            <a:r>
              <a:rPr lang="en-US" sz="2684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Avantages :</a:t>
            </a:r>
          </a:p>
          <a:p>
            <a:pPr algn="l" marL="579526" indent="-289763" lvl="1">
              <a:lnSpc>
                <a:spcPts val="3596"/>
              </a:lnSpc>
              <a:buFont typeface="Arial"/>
              <a:buChar char="•"/>
            </a:pPr>
            <a:r>
              <a:rPr lang="en-US" sz="2684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Aucunes pertes de charges</a:t>
            </a:r>
          </a:p>
          <a:p>
            <a:pPr algn="l" marL="579526" indent="-289763" lvl="1">
              <a:lnSpc>
                <a:spcPts val="3596"/>
              </a:lnSpc>
              <a:buFont typeface="Arial"/>
              <a:buChar char="•"/>
            </a:pPr>
            <a:r>
              <a:rPr lang="en-US" sz="2684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Le moins chère</a:t>
            </a:r>
          </a:p>
          <a:p>
            <a:pPr algn="l" marL="579526" indent="-289763" lvl="1">
              <a:lnSpc>
                <a:spcPts val="3596"/>
              </a:lnSpc>
              <a:buFont typeface="Arial"/>
              <a:buChar char="•"/>
            </a:pPr>
            <a:r>
              <a:rPr lang="en-US" sz="2684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Erreur de mesure faible</a:t>
            </a:r>
          </a:p>
          <a:p>
            <a:pPr algn="l" marL="579526" indent="-289763" lvl="1">
              <a:lnSpc>
                <a:spcPts val="3596"/>
              </a:lnSpc>
              <a:buFont typeface="Arial"/>
              <a:buChar char="•"/>
            </a:pPr>
            <a:r>
              <a:rPr lang="en-US" sz="2684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Longueur amont/aval faible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47371" y="-803050"/>
            <a:ext cx="13607741" cy="2326449"/>
            <a:chOff x="0" y="0"/>
            <a:chExt cx="3247938" cy="5552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505" y="0"/>
              <a:ext cx="3234928" cy="555284"/>
            </a:xfrm>
            <a:custGeom>
              <a:avLst/>
              <a:gdLst/>
              <a:ahLst/>
              <a:cxnLst/>
              <a:rect r="r" b="b" t="t" l="l"/>
              <a:pathLst>
                <a:path h="555284" w="3234928">
                  <a:moveTo>
                    <a:pt x="243275" y="0"/>
                  </a:moveTo>
                  <a:lnTo>
                    <a:pt x="3221841" y="0"/>
                  </a:lnTo>
                  <a:cubicBezTo>
                    <a:pt x="3226212" y="0"/>
                    <a:pt x="3230295" y="2183"/>
                    <a:pt x="3232723" y="5818"/>
                  </a:cubicBezTo>
                  <a:cubicBezTo>
                    <a:pt x="3235152" y="9453"/>
                    <a:pt x="3235604" y="14061"/>
                    <a:pt x="3233930" y="18099"/>
                  </a:cubicBezTo>
                  <a:lnTo>
                    <a:pt x="3018749" y="537185"/>
                  </a:lnTo>
                  <a:cubicBezTo>
                    <a:pt x="3014207" y="548141"/>
                    <a:pt x="3003513" y="555284"/>
                    <a:pt x="2991653" y="555284"/>
                  </a:cubicBezTo>
                  <a:lnTo>
                    <a:pt x="13088" y="555284"/>
                  </a:lnTo>
                  <a:cubicBezTo>
                    <a:pt x="8716" y="555284"/>
                    <a:pt x="4633" y="553101"/>
                    <a:pt x="2205" y="549466"/>
                  </a:cubicBezTo>
                  <a:cubicBezTo>
                    <a:pt x="-223" y="545831"/>
                    <a:pt x="-676" y="541223"/>
                    <a:pt x="998" y="537185"/>
                  </a:cubicBezTo>
                  <a:lnTo>
                    <a:pt x="216180" y="18099"/>
                  </a:lnTo>
                  <a:cubicBezTo>
                    <a:pt x="220722" y="7143"/>
                    <a:pt x="231415" y="0"/>
                    <a:pt x="24327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65F8B">
                    <a:alpha val="100000"/>
                  </a:srgbClr>
                </a:gs>
                <a:gs pos="100000">
                  <a:srgbClr val="31427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254000" y="-38100"/>
              <a:ext cx="2739938" cy="5933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195577" y="3491516"/>
            <a:ext cx="7356025" cy="4009438"/>
          </a:xfrm>
          <a:custGeom>
            <a:avLst/>
            <a:gdLst/>
            <a:ahLst/>
            <a:cxnLst/>
            <a:rect r="r" b="b" t="t" l="l"/>
            <a:pathLst>
              <a:path h="4009438" w="7356025">
                <a:moveTo>
                  <a:pt x="0" y="0"/>
                </a:moveTo>
                <a:lnTo>
                  <a:pt x="7356025" y="0"/>
                </a:lnTo>
                <a:lnTo>
                  <a:pt x="7356025" y="4009438"/>
                </a:lnTo>
                <a:lnTo>
                  <a:pt x="0" y="40094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689975" y="3057615"/>
            <a:ext cx="2165067" cy="753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65"/>
              </a:lnSpc>
              <a:spcBef>
                <a:spcPct val="0"/>
              </a:spcBef>
            </a:pPr>
            <a:r>
              <a:rPr lang="en-US" sz="4227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Absolue 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8600188" y="2262713"/>
            <a:ext cx="2593593" cy="2236974"/>
          </a:xfrm>
          <a:custGeom>
            <a:avLst/>
            <a:gdLst/>
            <a:ahLst/>
            <a:cxnLst/>
            <a:rect r="r" b="b" t="t" l="l"/>
            <a:pathLst>
              <a:path h="2236974" w="2593593">
                <a:moveTo>
                  <a:pt x="0" y="0"/>
                </a:moveTo>
                <a:lnTo>
                  <a:pt x="2593592" y="0"/>
                </a:lnTo>
                <a:lnTo>
                  <a:pt x="2593592" y="2236974"/>
                </a:lnTo>
                <a:lnTo>
                  <a:pt x="0" y="22369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275721" y="6191445"/>
            <a:ext cx="4832879" cy="2619017"/>
          </a:xfrm>
          <a:custGeom>
            <a:avLst/>
            <a:gdLst/>
            <a:ahLst/>
            <a:cxnLst/>
            <a:rect r="r" b="b" t="t" l="l"/>
            <a:pathLst>
              <a:path h="2619017" w="4832879">
                <a:moveTo>
                  <a:pt x="0" y="0"/>
                </a:moveTo>
                <a:lnTo>
                  <a:pt x="4832879" y="0"/>
                </a:lnTo>
                <a:lnTo>
                  <a:pt x="4832879" y="2619018"/>
                </a:lnTo>
                <a:lnTo>
                  <a:pt x="0" y="26190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938" r="-2123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439838" y="5321086"/>
            <a:ext cx="4819462" cy="4359736"/>
          </a:xfrm>
          <a:custGeom>
            <a:avLst/>
            <a:gdLst/>
            <a:ahLst/>
            <a:cxnLst/>
            <a:rect r="r" b="b" t="t" l="l"/>
            <a:pathLst>
              <a:path h="4359736" w="4819462">
                <a:moveTo>
                  <a:pt x="0" y="0"/>
                </a:moveTo>
                <a:lnTo>
                  <a:pt x="4819462" y="0"/>
                </a:lnTo>
                <a:lnTo>
                  <a:pt x="4819462" y="4359736"/>
                </a:lnTo>
                <a:lnTo>
                  <a:pt x="0" y="43597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144000" y="2905051"/>
            <a:ext cx="7141100" cy="476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9526" indent="-289763" lvl="1">
              <a:lnSpc>
                <a:spcPts val="3596"/>
              </a:lnSpc>
              <a:buFont typeface="Arial"/>
              <a:buChar char="•"/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401716"/>
            <a:ext cx="11248011" cy="744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65"/>
              </a:lnSpc>
            </a:pPr>
            <a:r>
              <a:rPr lang="en-US" sz="4227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Manomètre pour l’eau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55872" y="7510882"/>
            <a:ext cx="6468807" cy="634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38"/>
              </a:lnSpc>
            </a:pPr>
            <a:r>
              <a:rPr lang="en-US" b="true" sz="3461">
                <a:solidFill>
                  <a:srgbClr val="324375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Mano</a:t>
            </a:r>
            <a:r>
              <a:rPr lang="en-US" b="true" sz="3461">
                <a:solidFill>
                  <a:srgbClr val="324375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mètre Cerabar PMC51B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460541" y="3066925"/>
            <a:ext cx="2027720" cy="753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65"/>
              </a:lnSpc>
              <a:spcBef>
                <a:spcPct val="0"/>
              </a:spcBef>
            </a:pPr>
            <a:r>
              <a:rPr lang="en-US" sz="4227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Relative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47371" y="-803050"/>
            <a:ext cx="13607741" cy="2326449"/>
            <a:chOff x="0" y="0"/>
            <a:chExt cx="3247938" cy="5552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505" y="0"/>
              <a:ext cx="3234928" cy="555284"/>
            </a:xfrm>
            <a:custGeom>
              <a:avLst/>
              <a:gdLst/>
              <a:ahLst/>
              <a:cxnLst/>
              <a:rect r="r" b="b" t="t" l="l"/>
              <a:pathLst>
                <a:path h="555284" w="3234928">
                  <a:moveTo>
                    <a:pt x="243275" y="0"/>
                  </a:moveTo>
                  <a:lnTo>
                    <a:pt x="3221841" y="0"/>
                  </a:lnTo>
                  <a:cubicBezTo>
                    <a:pt x="3226212" y="0"/>
                    <a:pt x="3230295" y="2183"/>
                    <a:pt x="3232723" y="5818"/>
                  </a:cubicBezTo>
                  <a:cubicBezTo>
                    <a:pt x="3235152" y="9453"/>
                    <a:pt x="3235604" y="14061"/>
                    <a:pt x="3233930" y="18099"/>
                  </a:cubicBezTo>
                  <a:lnTo>
                    <a:pt x="3018749" y="537185"/>
                  </a:lnTo>
                  <a:cubicBezTo>
                    <a:pt x="3014207" y="548141"/>
                    <a:pt x="3003513" y="555284"/>
                    <a:pt x="2991653" y="555284"/>
                  </a:cubicBezTo>
                  <a:lnTo>
                    <a:pt x="13088" y="555284"/>
                  </a:lnTo>
                  <a:cubicBezTo>
                    <a:pt x="8716" y="555284"/>
                    <a:pt x="4633" y="553101"/>
                    <a:pt x="2205" y="549466"/>
                  </a:cubicBezTo>
                  <a:cubicBezTo>
                    <a:pt x="-223" y="545831"/>
                    <a:pt x="-676" y="541223"/>
                    <a:pt x="998" y="537185"/>
                  </a:cubicBezTo>
                  <a:lnTo>
                    <a:pt x="216180" y="18099"/>
                  </a:lnTo>
                  <a:cubicBezTo>
                    <a:pt x="220722" y="7143"/>
                    <a:pt x="231415" y="0"/>
                    <a:pt x="24327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65F8B">
                    <a:alpha val="100000"/>
                  </a:srgbClr>
                </a:gs>
                <a:gs pos="100000">
                  <a:srgbClr val="31427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254000" y="-38100"/>
              <a:ext cx="2739938" cy="5933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866752" y="1908967"/>
            <a:ext cx="2163913" cy="5930346"/>
          </a:xfrm>
          <a:custGeom>
            <a:avLst/>
            <a:gdLst/>
            <a:ahLst/>
            <a:cxnLst/>
            <a:rect r="r" b="b" t="t" l="l"/>
            <a:pathLst>
              <a:path h="5930346" w="2163913">
                <a:moveTo>
                  <a:pt x="0" y="0"/>
                </a:moveTo>
                <a:lnTo>
                  <a:pt x="2163912" y="0"/>
                </a:lnTo>
                <a:lnTo>
                  <a:pt x="2163912" y="5930345"/>
                </a:lnTo>
                <a:lnTo>
                  <a:pt x="0" y="59303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654025" y="284352"/>
            <a:ext cx="6139922" cy="1624614"/>
          </a:xfrm>
          <a:custGeom>
            <a:avLst/>
            <a:gdLst/>
            <a:ahLst/>
            <a:cxnLst/>
            <a:rect r="r" b="b" t="t" l="l"/>
            <a:pathLst>
              <a:path h="1624614" w="6139922">
                <a:moveTo>
                  <a:pt x="0" y="0"/>
                </a:moveTo>
                <a:lnTo>
                  <a:pt x="6139923" y="0"/>
                </a:lnTo>
                <a:lnTo>
                  <a:pt x="6139923" y="1624615"/>
                </a:lnTo>
                <a:lnTo>
                  <a:pt x="0" y="16246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401716"/>
            <a:ext cx="11248011" cy="744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65"/>
              </a:lnSpc>
            </a:pPr>
            <a:r>
              <a:rPr lang="en-US" sz="4227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Mesure de température eau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605242" y="2137531"/>
            <a:ext cx="11248011" cy="2182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65"/>
              </a:lnSpc>
            </a:pPr>
            <a:r>
              <a:rPr lang="en-US" sz="4227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PT100 Classe A avec transmetteur via montage 3 fils + doigt de gant bouchon soudé au bout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-2182080" y="8106012"/>
            <a:ext cx="11248011" cy="753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65"/>
              </a:lnSpc>
            </a:pPr>
            <a:r>
              <a:rPr lang="en-US" b="true" sz="4227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iTHERM ModuLine TM111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0557066" y="5143500"/>
            <a:ext cx="3439290" cy="4005156"/>
          </a:xfrm>
          <a:custGeom>
            <a:avLst/>
            <a:gdLst/>
            <a:ahLst/>
            <a:cxnLst/>
            <a:rect r="r" b="b" t="t" l="l"/>
            <a:pathLst>
              <a:path h="4005156" w="3439290">
                <a:moveTo>
                  <a:pt x="0" y="0"/>
                </a:moveTo>
                <a:lnTo>
                  <a:pt x="3439290" y="0"/>
                </a:lnTo>
                <a:lnTo>
                  <a:pt x="3439290" y="4005156"/>
                </a:lnTo>
                <a:lnTo>
                  <a:pt x="0" y="40051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47371" y="-803050"/>
            <a:ext cx="13607741" cy="2326449"/>
            <a:chOff x="0" y="0"/>
            <a:chExt cx="3247938" cy="5552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505" y="0"/>
              <a:ext cx="3234928" cy="555284"/>
            </a:xfrm>
            <a:custGeom>
              <a:avLst/>
              <a:gdLst/>
              <a:ahLst/>
              <a:cxnLst/>
              <a:rect r="r" b="b" t="t" l="l"/>
              <a:pathLst>
                <a:path h="555284" w="3234928">
                  <a:moveTo>
                    <a:pt x="243275" y="0"/>
                  </a:moveTo>
                  <a:lnTo>
                    <a:pt x="3221841" y="0"/>
                  </a:lnTo>
                  <a:cubicBezTo>
                    <a:pt x="3226212" y="0"/>
                    <a:pt x="3230295" y="2183"/>
                    <a:pt x="3232723" y="5818"/>
                  </a:cubicBezTo>
                  <a:cubicBezTo>
                    <a:pt x="3235152" y="9453"/>
                    <a:pt x="3235604" y="14061"/>
                    <a:pt x="3233930" y="18099"/>
                  </a:cubicBezTo>
                  <a:lnTo>
                    <a:pt x="3018749" y="537185"/>
                  </a:lnTo>
                  <a:cubicBezTo>
                    <a:pt x="3014207" y="548141"/>
                    <a:pt x="3003513" y="555284"/>
                    <a:pt x="2991653" y="555284"/>
                  </a:cubicBezTo>
                  <a:lnTo>
                    <a:pt x="13088" y="555284"/>
                  </a:lnTo>
                  <a:cubicBezTo>
                    <a:pt x="8716" y="555284"/>
                    <a:pt x="4633" y="553101"/>
                    <a:pt x="2205" y="549466"/>
                  </a:cubicBezTo>
                  <a:cubicBezTo>
                    <a:pt x="-223" y="545831"/>
                    <a:pt x="-676" y="541223"/>
                    <a:pt x="998" y="537185"/>
                  </a:cubicBezTo>
                  <a:lnTo>
                    <a:pt x="216180" y="18099"/>
                  </a:lnTo>
                  <a:cubicBezTo>
                    <a:pt x="220722" y="7143"/>
                    <a:pt x="231415" y="0"/>
                    <a:pt x="24327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65F8B">
                    <a:alpha val="100000"/>
                  </a:srgbClr>
                </a:gs>
                <a:gs pos="100000">
                  <a:srgbClr val="31427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254000" y="-38100"/>
              <a:ext cx="2739938" cy="5933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5849" y="1819509"/>
            <a:ext cx="4636052" cy="4999663"/>
          </a:xfrm>
          <a:custGeom>
            <a:avLst/>
            <a:gdLst/>
            <a:ahLst/>
            <a:cxnLst/>
            <a:rect r="r" b="b" t="t" l="l"/>
            <a:pathLst>
              <a:path h="4999663" w="4636052">
                <a:moveTo>
                  <a:pt x="0" y="0"/>
                </a:moveTo>
                <a:lnTo>
                  <a:pt x="4636051" y="0"/>
                </a:lnTo>
                <a:lnTo>
                  <a:pt x="4636051" y="4999664"/>
                </a:lnTo>
                <a:lnTo>
                  <a:pt x="0" y="49996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75716" y="6517271"/>
            <a:ext cx="7941669" cy="3602053"/>
          </a:xfrm>
          <a:custGeom>
            <a:avLst/>
            <a:gdLst/>
            <a:ahLst/>
            <a:cxnLst/>
            <a:rect r="r" b="b" t="t" l="l"/>
            <a:pathLst>
              <a:path h="3602053" w="7941669">
                <a:moveTo>
                  <a:pt x="0" y="0"/>
                </a:moveTo>
                <a:lnTo>
                  <a:pt x="7941669" y="0"/>
                </a:lnTo>
                <a:lnTo>
                  <a:pt x="7941669" y="3602053"/>
                </a:lnTo>
                <a:lnTo>
                  <a:pt x="0" y="36020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712870" y="7095305"/>
            <a:ext cx="6368735" cy="2876203"/>
          </a:xfrm>
          <a:custGeom>
            <a:avLst/>
            <a:gdLst/>
            <a:ahLst/>
            <a:cxnLst/>
            <a:rect r="r" b="b" t="t" l="l"/>
            <a:pathLst>
              <a:path h="2876203" w="6368735">
                <a:moveTo>
                  <a:pt x="0" y="0"/>
                </a:moveTo>
                <a:lnTo>
                  <a:pt x="6368736" y="0"/>
                </a:lnTo>
                <a:lnTo>
                  <a:pt x="6368736" y="2876203"/>
                </a:lnTo>
                <a:lnTo>
                  <a:pt x="0" y="28762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144000" y="2907397"/>
            <a:ext cx="7141100" cy="3609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9526" indent="-289763" lvl="1">
              <a:lnSpc>
                <a:spcPts val="3596"/>
              </a:lnSpc>
              <a:buFont typeface="Arial"/>
              <a:buChar char="•"/>
            </a:pPr>
            <a:r>
              <a:rPr lang="en-US" sz="2684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Coriolis : trop chère</a:t>
            </a:r>
          </a:p>
          <a:p>
            <a:pPr algn="l" marL="579526" indent="-289763" lvl="1">
              <a:lnSpc>
                <a:spcPts val="3596"/>
              </a:lnSpc>
              <a:buFont typeface="Arial"/>
              <a:buChar char="•"/>
            </a:pPr>
            <a:r>
              <a:rPr lang="en-US" sz="2684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Electromagnétique : vapeur non conductrice</a:t>
            </a:r>
          </a:p>
          <a:p>
            <a:pPr algn="l" marL="579526" indent="-289763" lvl="1">
              <a:lnSpc>
                <a:spcPts val="3596"/>
              </a:lnSpc>
              <a:buFont typeface="Arial"/>
              <a:buChar char="•"/>
            </a:pPr>
            <a:r>
              <a:rPr lang="en-US" sz="2684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Ultrason : cout élevé</a:t>
            </a:r>
          </a:p>
          <a:p>
            <a:pPr algn="l" marL="579526" indent="-289763" lvl="1">
              <a:lnSpc>
                <a:spcPts val="3596"/>
              </a:lnSpc>
              <a:buFont typeface="Arial"/>
              <a:buChar char="•"/>
            </a:pPr>
            <a:r>
              <a:rPr lang="en-US" sz="2684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Pression différentielle : problème de rangeabilite</a:t>
            </a:r>
          </a:p>
          <a:p>
            <a:pPr algn="l" marL="579526" indent="-289763" lvl="1">
              <a:lnSpc>
                <a:spcPts val="3596"/>
              </a:lnSpc>
              <a:buFont typeface="Arial"/>
              <a:buChar char="•"/>
            </a:pPr>
            <a:r>
              <a:rPr lang="en-US" sz="2684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Thermique : Longueurs amont/aval importantes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401716"/>
            <a:ext cx="11248011" cy="744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65"/>
              </a:lnSpc>
            </a:pPr>
            <a:r>
              <a:rPr lang="en-US" sz="4227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Debitmètre pour la vapeur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3898" y="1409099"/>
            <a:ext cx="8725304" cy="634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38"/>
              </a:lnSpc>
            </a:pPr>
            <a:r>
              <a:rPr lang="en-US" b="true" sz="3461">
                <a:solidFill>
                  <a:srgbClr val="324375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Déb</a:t>
            </a:r>
            <a:r>
              <a:rPr lang="en-US" b="true" sz="3461">
                <a:solidFill>
                  <a:srgbClr val="324375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itmètre Prowirl O (Generation C) 200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713097" y="283975"/>
            <a:ext cx="7141100" cy="2266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6"/>
              </a:lnSpc>
            </a:pPr>
            <a:r>
              <a:rPr lang="en-US" sz="2684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Avantages :</a:t>
            </a:r>
          </a:p>
          <a:p>
            <a:pPr algn="l" marL="579526" indent="-289763" lvl="1">
              <a:lnSpc>
                <a:spcPts val="3596"/>
              </a:lnSpc>
              <a:buFont typeface="Arial"/>
              <a:buChar char="•"/>
            </a:pPr>
            <a:r>
              <a:rPr lang="en-US" sz="2684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Aucunes pertes de charges</a:t>
            </a:r>
          </a:p>
          <a:p>
            <a:pPr algn="l" marL="579526" indent="-289763" lvl="1">
              <a:lnSpc>
                <a:spcPts val="3596"/>
              </a:lnSpc>
              <a:buFont typeface="Arial"/>
              <a:buChar char="•"/>
            </a:pPr>
            <a:r>
              <a:rPr lang="en-US" sz="2684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Le moins cher</a:t>
            </a:r>
          </a:p>
          <a:p>
            <a:pPr algn="l" marL="579526" indent="-289763" lvl="1">
              <a:lnSpc>
                <a:spcPts val="3596"/>
              </a:lnSpc>
              <a:buFont typeface="Arial"/>
              <a:buChar char="•"/>
            </a:pPr>
            <a:r>
              <a:rPr lang="en-US" sz="2684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Erreur de mesure faible</a:t>
            </a:r>
          </a:p>
          <a:p>
            <a:pPr algn="l" marL="579526" indent="-289763" lvl="1">
              <a:lnSpc>
                <a:spcPts val="3596"/>
              </a:lnSpc>
              <a:buFont typeface="Arial"/>
              <a:buChar char="•"/>
            </a:pPr>
            <a:r>
              <a:rPr lang="en-US" sz="2684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Longueur amont/aval faible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47371" y="-803050"/>
            <a:ext cx="13607741" cy="2326449"/>
            <a:chOff x="0" y="0"/>
            <a:chExt cx="3247938" cy="5552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505" y="0"/>
              <a:ext cx="3234928" cy="555284"/>
            </a:xfrm>
            <a:custGeom>
              <a:avLst/>
              <a:gdLst/>
              <a:ahLst/>
              <a:cxnLst/>
              <a:rect r="r" b="b" t="t" l="l"/>
              <a:pathLst>
                <a:path h="555284" w="3234928">
                  <a:moveTo>
                    <a:pt x="243275" y="0"/>
                  </a:moveTo>
                  <a:lnTo>
                    <a:pt x="3221841" y="0"/>
                  </a:lnTo>
                  <a:cubicBezTo>
                    <a:pt x="3226212" y="0"/>
                    <a:pt x="3230295" y="2183"/>
                    <a:pt x="3232723" y="5818"/>
                  </a:cubicBezTo>
                  <a:cubicBezTo>
                    <a:pt x="3235152" y="9453"/>
                    <a:pt x="3235604" y="14061"/>
                    <a:pt x="3233930" y="18099"/>
                  </a:cubicBezTo>
                  <a:lnTo>
                    <a:pt x="3018749" y="537185"/>
                  </a:lnTo>
                  <a:cubicBezTo>
                    <a:pt x="3014207" y="548141"/>
                    <a:pt x="3003513" y="555284"/>
                    <a:pt x="2991653" y="555284"/>
                  </a:cubicBezTo>
                  <a:lnTo>
                    <a:pt x="13088" y="555284"/>
                  </a:lnTo>
                  <a:cubicBezTo>
                    <a:pt x="8716" y="555284"/>
                    <a:pt x="4633" y="553101"/>
                    <a:pt x="2205" y="549466"/>
                  </a:cubicBezTo>
                  <a:cubicBezTo>
                    <a:pt x="-223" y="545831"/>
                    <a:pt x="-676" y="541223"/>
                    <a:pt x="998" y="537185"/>
                  </a:cubicBezTo>
                  <a:lnTo>
                    <a:pt x="216180" y="18099"/>
                  </a:lnTo>
                  <a:cubicBezTo>
                    <a:pt x="220722" y="7143"/>
                    <a:pt x="231415" y="0"/>
                    <a:pt x="24327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65F8B">
                    <a:alpha val="100000"/>
                  </a:srgbClr>
                </a:gs>
                <a:gs pos="100000">
                  <a:srgbClr val="31427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254000" y="-38100"/>
              <a:ext cx="2739938" cy="5933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866752" y="1908967"/>
            <a:ext cx="2163913" cy="5930346"/>
          </a:xfrm>
          <a:custGeom>
            <a:avLst/>
            <a:gdLst/>
            <a:ahLst/>
            <a:cxnLst/>
            <a:rect r="r" b="b" t="t" l="l"/>
            <a:pathLst>
              <a:path h="5930346" w="2163913">
                <a:moveTo>
                  <a:pt x="0" y="0"/>
                </a:moveTo>
                <a:lnTo>
                  <a:pt x="2163912" y="0"/>
                </a:lnTo>
                <a:lnTo>
                  <a:pt x="2163912" y="5930345"/>
                </a:lnTo>
                <a:lnTo>
                  <a:pt x="0" y="59303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439758" y="360175"/>
            <a:ext cx="6848242" cy="2028265"/>
          </a:xfrm>
          <a:custGeom>
            <a:avLst/>
            <a:gdLst/>
            <a:ahLst/>
            <a:cxnLst/>
            <a:rect r="r" b="b" t="t" l="l"/>
            <a:pathLst>
              <a:path h="2028265" w="6848242">
                <a:moveTo>
                  <a:pt x="0" y="0"/>
                </a:moveTo>
                <a:lnTo>
                  <a:pt x="6848242" y="0"/>
                </a:lnTo>
                <a:lnTo>
                  <a:pt x="6848242" y="2028264"/>
                </a:lnTo>
                <a:lnTo>
                  <a:pt x="0" y="20282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423395" y="5450979"/>
            <a:ext cx="2714147" cy="4551162"/>
          </a:xfrm>
          <a:custGeom>
            <a:avLst/>
            <a:gdLst/>
            <a:ahLst/>
            <a:cxnLst/>
            <a:rect r="r" b="b" t="t" l="l"/>
            <a:pathLst>
              <a:path h="4551162" w="2714147">
                <a:moveTo>
                  <a:pt x="0" y="0"/>
                </a:moveTo>
                <a:lnTo>
                  <a:pt x="2714147" y="0"/>
                </a:lnTo>
                <a:lnTo>
                  <a:pt x="2714147" y="4551161"/>
                </a:lnTo>
                <a:lnTo>
                  <a:pt x="0" y="45511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401716"/>
            <a:ext cx="11248011" cy="744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65"/>
              </a:lnSpc>
            </a:pPr>
            <a:r>
              <a:rPr lang="en-US" sz="4227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Mesure de température vapeur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336364" y="2691888"/>
            <a:ext cx="11248011" cy="2182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65"/>
              </a:lnSpc>
            </a:pPr>
            <a:r>
              <a:rPr lang="en-US" sz="4227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PT100 Classe A avec transmetteur via montage 3 fils + pour la vapeur avec doigt de gant foré dans la masse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-2182080" y="8106012"/>
            <a:ext cx="11248011" cy="753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665"/>
              </a:lnSpc>
            </a:pPr>
            <a:r>
              <a:rPr lang="en-US" b="true" sz="4227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iTHERM ModuLine TM131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47371" y="-803050"/>
            <a:ext cx="13607741" cy="2326449"/>
            <a:chOff x="0" y="0"/>
            <a:chExt cx="3247938" cy="5552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505" y="0"/>
              <a:ext cx="3234928" cy="555284"/>
            </a:xfrm>
            <a:custGeom>
              <a:avLst/>
              <a:gdLst/>
              <a:ahLst/>
              <a:cxnLst/>
              <a:rect r="r" b="b" t="t" l="l"/>
              <a:pathLst>
                <a:path h="555284" w="3234928">
                  <a:moveTo>
                    <a:pt x="243275" y="0"/>
                  </a:moveTo>
                  <a:lnTo>
                    <a:pt x="3221841" y="0"/>
                  </a:lnTo>
                  <a:cubicBezTo>
                    <a:pt x="3226212" y="0"/>
                    <a:pt x="3230295" y="2183"/>
                    <a:pt x="3232723" y="5818"/>
                  </a:cubicBezTo>
                  <a:cubicBezTo>
                    <a:pt x="3235152" y="9453"/>
                    <a:pt x="3235604" y="14061"/>
                    <a:pt x="3233930" y="18099"/>
                  </a:cubicBezTo>
                  <a:lnTo>
                    <a:pt x="3018749" y="537185"/>
                  </a:lnTo>
                  <a:cubicBezTo>
                    <a:pt x="3014207" y="548141"/>
                    <a:pt x="3003513" y="555284"/>
                    <a:pt x="2991653" y="555284"/>
                  </a:cubicBezTo>
                  <a:lnTo>
                    <a:pt x="13088" y="555284"/>
                  </a:lnTo>
                  <a:cubicBezTo>
                    <a:pt x="8716" y="555284"/>
                    <a:pt x="4633" y="553101"/>
                    <a:pt x="2205" y="549466"/>
                  </a:cubicBezTo>
                  <a:cubicBezTo>
                    <a:pt x="-223" y="545831"/>
                    <a:pt x="-676" y="541223"/>
                    <a:pt x="998" y="537185"/>
                  </a:cubicBezTo>
                  <a:lnTo>
                    <a:pt x="216180" y="18099"/>
                  </a:lnTo>
                  <a:cubicBezTo>
                    <a:pt x="220722" y="7143"/>
                    <a:pt x="231415" y="0"/>
                    <a:pt x="24327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65F8B">
                    <a:alpha val="100000"/>
                  </a:srgbClr>
                </a:gs>
                <a:gs pos="100000">
                  <a:srgbClr val="31427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254000" y="-38100"/>
              <a:ext cx="2739938" cy="5933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9841451" y="5472030"/>
            <a:ext cx="5085101" cy="3545446"/>
          </a:xfrm>
          <a:custGeom>
            <a:avLst/>
            <a:gdLst/>
            <a:ahLst/>
            <a:cxnLst/>
            <a:rect r="r" b="b" t="t" l="l"/>
            <a:pathLst>
              <a:path h="3545446" w="5085101">
                <a:moveTo>
                  <a:pt x="0" y="0"/>
                </a:moveTo>
                <a:lnTo>
                  <a:pt x="5085101" y="0"/>
                </a:lnTo>
                <a:lnTo>
                  <a:pt x="5085101" y="3545446"/>
                </a:lnTo>
                <a:lnTo>
                  <a:pt x="0" y="35454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58921" y="2310605"/>
            <a:ext cx="5066258" cy="4907109"/>
          </a:xfrm>
          <a:custGeom>
            <a:avLst/>
            <a:gdLst/>
            <a:ahLst/>
            <a:cxnLst/>
            <a:rect r="r" b="b" t="t" l="l"/>
            <a:pathLst>
              <a:path h="4907109" w="5066258">
                <a:moveTo>
                  <a:pt x="0" y="0"/>
                </a:moveTo>
                <a:lnTo>
                  <a:pt x="5066258" y="0"/>
                </a:lnTo>
                <a:lnTo>
                  <a:pt x="5066258" y="4907108"/>
                </a:lnTo>
                <a:lnTo>
                  <a:pt x="0" y="490710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284436"/>
            <a:ext cx="11248011" cy="744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65"/>
              </a:lnSpc>
            </a:pPr>
            <a:r>
              <a:rPr lang="en-US" sz="4227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Manomètre pour la vapeur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-218054" y="7621258"/>
            <a:ext cx="8882818" cy="753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65"/>
              </a:lnSpc>
              <a:spcBef>
                <a:spcPct val="0"/>
              </a:spcBef>
            </a:pPr>
            <a:r>
              <a:rPr lang="en-US" sz="4227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Manomètre Ce</a:t>
            </a:r>
            <a:r>
              <a:rPr lang="en-US" sz="4227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rabar PMP71B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553101" y="2781431"/>
            <a:ext cx="13943409" cy="14678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65"/>
              </a:lnSpc>
            </a:pPr>
            <a:r>
              <a:rPr lang="en-US" sz="4227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Transmetteur de pression absolue à cellule capacitive  </a:t>
            </a:r>
          </a:p>
          <a:p>
            <a:pPr algn="ctr">
              <a:lnSpc>
                <a:spcPts val="5665"/>
              </a:lnSpc>
              <a:spcBef>
                <a:spcPct val="0"/>
              </a:spcBef>
            </a:pPr>
            <a:r>
              <a:rPr lang="en-US" sz="4227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vanne d’isolement + de purge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47371" y="-803050"/>
            <a:ext cx="13607741" cy="2326449"/>
            <a:chOff x="0" y="0"/>
            <a:chExt cx="3247938" cy="5552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505" y="0"/>
              <a:ext cx="3234928" cy="555284"/>
            </a:xfrm>
            <a:custGeom>
              <a:avLst/>
              <a:gdLst/>
              <a:ahLst/>
              <a:cxnLst/>
              <a:rect r="r" b="b" t="t" l="l"/>
              <a:pathLst>
                <a:path h="555284" w="3234928">
                  <a:moveTo>
                    <a:pt x="243275" y="0"/>
                  </a:moveTo>
                  <a:lnTo>
                    <a:pt x="3221841" y="0"/>
                  </a:lnTo>
                  <a:cubicBezTo>
                    <a:pt x="3226212" y="0"/>
                    <a:pt x="3230295" y="2183"/>
                    <a:pt x="3232723" y="5818"/>
                  </a:cubicBezTo>
                  <a:cubicBezTo>
                    <a:pt x="3235152" y="9453"/>
                    <a:pt x="3235604" y="14061"/>
                    <a:pt x="3233930" y="18099"/>
                  </a:cubicBezTo>
                  <a:lnTo>
                    <a:pt x="3018749" y="537185"/>
                  </a:lnTo>
                  <a:cubicBezTo>
                    <a:pt x="3014207" y="548141"/>
                    <a:pt x="3003513" y="555284"/>
                    <a:pt x="2991653" y="555284"/>
                  </a:cubicBezTo>
                  <a:lnTo>
                    <a:pt x="13088" y="555284"/>
                  </a:lnTo>
                  <a:cubicBezTo>
                    <a:pt x="8716" y="555284"/>
                    <a:pt x="4633" y="553101"/>
                    <a:pt x="2205" y="549466"/>
                  </a:cubicBezTo>
                  <a:cubicBezTo>
                    <a:pt x="-223" y="545831"/>
                    <a:pt x="-676" y="541223"/>
                    <a:pt x="998" y="537185"/>
                  </a:cubicBezTo>
                  <a:lnTo>
                    <a:pt x="216180" y="18099"/>
                  </a:lnTo>
                  <a:cubicBezTo>
                    <a:pt x="220722" y="7143"/>
                    <a:pt x="231415" y="0"/>
                    <a:pt x="243275" y="0"/>
                  </a:cubicBezTo>
                  <a:close/>
                </a:path>
              </a:pathLst>
            </a:custGeom>
            <a:solidFill>
              <a:srgbClr val="32437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254000" y="-38100"/>
              <a:ext cx="2739938" cy="5933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3781468" y="633112"/>
            <a:ext cx="4085602" cy="4408134"/>
          </a:xfrm>
          <a:custGeom>
            <a:avLst/>
            <a:gdLst/>
            <a:ahLst/>
            <a:cxnLst/>
            <a:rect r="r" b="b" t="t" l="l"/>
            <a:pathLst>
              <a:path h="4408134" w="4085602">
                <a:moveTo>
                  <a:pt x="0" y="0"/>
                </a:moveTo>
                <a:lnTo>
                  <a:pt x="4085603" y="0"/>
                </a:lnTo>
                <a:lnTo>
                  <a:pt x="4085603" y="4408134"/>
                </a:lnTo>
                <a:lnTo>
                  <a:pt x="0" y="44081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7325" t="0" r="-54486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960370" y="2632073"/>
            <a:ext cx="1292024" cy="1174127"/>
          </a:xfrm>
          <a:custGeom>
            <a:avLst/>
            <a:gdLst/>
            <a:ahLst/>
            <a:cxnLst/>
            <a:rect r="r" b="b" t="t" l="l"/>
            <a:pathLst>
              <a:path h="1174127" w="1292024">
                <a:moveTo>
                  <a:pt x="0" y="0"/>
                </a:moveTo>
                <a:lnTo>
                  <a:pt x="1292024" y="0"/>
                </a:lnTo>
                <a:lnTo>
                  <a:pt x="1292024" y="1174126"/>
                </a:lnTo>
                <a:lnTo>
                  <a:pt x="0" y="11741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06690" y="245875"/>
            <a:ext cx="11248011" cy="744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65"/>
              </a:lnSpc>
            </a:pPr>
            <a:r>
              <a:rPr lang="en-US" sz="4227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 Conductivité des condensats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3898" y="1534359"/>
            <a:ext cx="12281779" cy="634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38"/>
              </a:lnSpc>
            </a:pPr>
            <a:r>
              <a:rPr lang="en-US" b="true" sz="3461">
                <a:solidFill>
                  <a:srgbClr val="324375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Capteur “Endress+Hauser, Memosens CLS15E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3898" y="6604868"/>
            <a:ext cx="7294588" cy="3300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69"/>
              </a:lnSpc>
            </a:pPr>
            <a:r>
              <a:rPr lang="en-US" sz="326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Avantages :</a:t>
            </a:r>
          </a:p>
          <a:p>
            <a:pPr algn="l" marL="703998" indent="-351999" lvl="1">
              <a:lnSpc>
                <a:spcPts val="4369"/>
              </a:lnSpc>
              <a:buFont typeface="Arial"/>
              <a:buChar char="•"/>
            </a:pPr>
            <a:r>
              <a:rPr lang="en-US" sz="326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Adaptation aux faibles valeurs </a:t>
            </a:r>
          </a:p>
          <a:p>
            <a:pPr algn="l" marL="703998" indent="-351999" lvl="1">
              <a:lnSpc>
                <a:spcPts val="4369"/>
              </a:lnSpc>
              <a:buFont typeface="Arial"/>
              <a:buChar char="•"/>
            </a:pPr>
            <a:r>
              <a:rPr lang="en-US" sz="326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Précision</a:t>
            </a:r>
          </a:p>
          <a:p>
            <a:pPr algn="l" marL="703998" indent="-351999" lvl="1">
              <a:lnSpc>
                <a:spcPts val="4369"/>
              </a:lnSpc>
              <a:buFont typeface="Arial"/>
              <a:buChar char="•"/>
            </a:pPr>
            <a:r>
              <a:rPr lang="en-US" sz="326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Hygiène et Robustesse</a:t>
            </a:r>
          </a:p>
          <a:p>
            <a:pPr algn="l" marL="703998" indent="-351999" lvl="1">
              <a:lnSpc>
                <a:spcPts val="4369"/>
              </a:lnSpc>
              <a:buFont typeface="Arial"/>
              <a:buChar char="•"/>
            </a:pPr>
            <a:r>
              <a:rPr lang="en-US" sz="326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moins cher </a:t>
            </a:r>
          </a:p>
          <a:p>
            <a:pPr algn="l">
              <a:lnSpc>
                <a:spcPts val="436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2680015" y="2910313"/>
            <a:ext cx="2350651" cy="895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20"/>
              </a:lnSpc>
            </a:pPr>
            <a:r>
              <a:rPr lang="en-US" sz="522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Inductif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3014944" y="2292341"/>
            <a:ext cx="2011632" cy="2160141"/>
          </a:xfrm>
          <a:custGeom>
            <a:avLst/>
            <a:gdLst/>
            <a:ahLst/>
            <a:cxnLst/>
            <a:rect r="r" b="b" t="t" l="l"/>
            <a:pathLst>
              <a:path h="2160141" w="2011632">
                <a:moveTo>
                  <a:pt x="0" y="0"/>
                </a:moveTo>
                <a:lnTo>
                  <a:pt x="2011631" y="0"/>
                </a:lnTo>
                <a:lnTo>
                  <a:pt x="2011631" y="2160141"/>
                </a:lnTo>
                <a:lnTo>
                  <a:pt x="0" y="21601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8669209" y="2910313"/>
            <a:ext cx="2985492" cy="895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20"/>
              </a:lnSpc>
            </a:pPr>
            <a:r>
              <a:rPr lang="en-US" sz="522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Conductif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83898" y="3665779"/>
            <a:ext cx="6524055" cy="3236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98"/>
              </a:lnSpc>
            </a:pPr>
          </a:p>
          <a:p>
            <a:pPr algn="ctr">
              <a:lnSpc>
                <a:spcPts val="4298"/>
              </a:lnSpc>
            </a:pPr>
          </a:p>
          <a:p>
            <a:pPr algn="l">
              <a:lnSpc>
                <a:spcPts val="4298"/>
              </a:lnSpc>
            </a:pPr>
            <a:r>
              <a:rPr lang="en-US" sz="307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             0,1 - 200 mS/cm   </a:t>
            </a:r>
          </a:p>
          <a:p>
            <a:pPr algn="l">
              <a:lnSpc>
                <a:spcPts val="4298"/>
              </a:lnSpc>
            </a:pPr>
            <a:r>
              <a:rPr lang="en-US" sz="307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                 </a:t>
            </a:r>
          </a:p>
          <a:p>
            <a:pPr algn="l">
              <a:lnSpc>
                <a:spcPts val="4298"/>
              </a:lnSpc>
            </a:pPr>
          </a:p>
          <a:p>
            <a:pPr algn="ctr">
              <a:lnSpc>
                <a:spcPts val="4298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4453427" y="3758574"/>
            <a:ext cx="11926989" cy="24736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31"/>
              </a:lnSpc>
            </a:pPr>
          </a:p>
          <a:p>
            <a:pPr algn="ctr">
              <a:lnSpc>
                <a:spcPts val="3831"/>
              </a:lnSpc>
            </a:pPr>
          </a:p>
          <a:p>
            <a:pPr algn="l">
              <a:lnSpc>
                <a:spcPts val="4391"/>
              </a:lnSpc>
            </a:pPr>
            <a:r>
              <a:rPr lang="en-US" sz="3136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                                          0,1 à  200 μS/cm.</a:t>
            </a:r>
          </a:p>
          <a:p>
            <a:pPr algn="l">
              <a:lnSpc>
                <a:spcPts val="3831"/>
              </a:lnSpc>
            </a:pPr>
          </a:p>
          <a:p>
            <a:pPr algn="ctr">
              <a:lnSpc>
                <a:spcPts val="3831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8268143" y="6501888"/>
            <a:ext cx="11026650" cy="2756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69"/>
              </a:lnSpc>
            </a:pPr>
            <a:r>
              <a:rPr lang="en-US" sz="326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Applications :</a:t>
            </a:r>
          </a:p>
          <a:p>
            <a:pPr algn="l" marL="703998" indent="-351999" lvl="1">
              <a:lnSpc>
                <a:spcPts val="4369"/>
              </a:lnSpc>
              <a:buFont typeface="Arial"/>
              <a:buChar char="•"/>
            </a:pPr>
            <a:r>
              <a:rPr lang="en-US" sz="326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Eau ultrapure, eau, pharma, agro, centrales électriques, Eau d’alimentation</a:t>
            </a:r>
          </a:p>
          <a:p>
            <a:pPr algn="l" marL="703998" indent="-351999" lvl="1">
              <a:lnSpc>
                <a:spcPts val="4369"/>
              </a:lnSpc>
              <a:buFont typeface="Arial"/>
              <a:buChar char="•"/>
            </a:pPr>
            <a:r>
              <a:rPr lang="en-US" sz="326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de chaudière,Echangeurs d’ions,etc..</a:t>
            </a:r>
          </a:p>
          <a:p>
            <a:pPr algn="l">
              <a:lnSpc>
                <a:spcPts val="4369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2490543" y="5392347"/>
            <a:ext cx="1910766" cy="1037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23"/>
              </a:lnSpc>
              <a:spcBef>
                <a:spcPct val="0"/>
              </a:spcBef>
            </a:pPr>
            <a:r>
              <a:rPr lang="en-US" b="true" sz="5763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Cher!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28321" y="-803050"/>
            <a:ext cx="13607741" cy="2326449"/>
            <a:chOff x="0" y="0"/>
            <a:chExt cx="3247938" cy="5552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505" y="0"/>
              <a:ext cx="3234928" cy="555284"/>
            </a:xfrm>
            <a:custGeom>
              <a:avLst/>
              <a:gdLst/>
              <a:ahLst/>
              <a:cxnLst/>
              <a:rect r="r" b="b" t="t" l="l"/>
              <a:pathLst>
                <a:path h="555284" w="3234928">
                  <a:moveTo>
                    <a:pt x="243275" y="0"/>
                  </a:moveTo>
                  <a:lnTo>
                    <a:pt x="3221841" y="0"/>
                  </a:lnTo>
                  <a:cubicBezTo>
                    <a:pt x="3226212" y="0"/>
                    <a:pt x="3230295" y="2183"/>
                    <a:pt x="3232723" y="5818"/>
                  </a:cubicBezTo>
                  <a:cubicBezTo>
                    <a:pt x="3235152" y="9453"/>
                    <a:pt x="3235604" y="14061"/>
                    <a:pt x="3233930" y="18099"/>
                  </a:cubicBezTo>
                  <a:lnTo>
                    <a:pt x="3018749" y="537185"/>
                  </a:lnTo>
                  <a:cubicBezTo>
                    <a:pt x="3014207" y="548141"/>
                    <a:pt x="3003513" y="555284"/>
                    <a:pt x="2991653" y="555284"/>
                  </a:cubicBezTo>
                  <a:lnTo>
                    <a:pt x="13088" y="555284"/>
                  </a:lnTo>
                  <a:cubicBezTo>
                    <a:pt x="8716" y="555284"/>
                    <a:pt x="4633" y="553101"/>
                    <a:pt x="2205" y="549466"/>
                  </a:cubicBezTo>
                  <a:cubicBezTo>
                    <a:pt x="-223" y="545831"/>
                    <a:pt x="-676" y="541223"/>
                    <a:pt x="998" y="537185"/>
                  </a:cubicBezTo>
                  <a:lnTo>
                    <a:pt x="216180" y="18099"/>
                  </a:lnTo>
                  <a:cubicBezTo>
                    <a:pt x="220722" y="7143"/>
                    <a:pt x="231415" y="0"/>
                    <a:pt x="243275" y="0"/>
                  </a:cubicBezTo>
                  <a:close/>
                </a:path>
              </a:pathLst>
            </a:custGeom>
            <a:solidFill>
              <a:srgbClr val="32437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254000" y="-38100"/>
              <a:ext cx="2739938" cy="5933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2942763" y="763396"/>
            <a:ext cx="4316537" cy="5898029"/>
          </a:xfrm>
          <a:custGeom>
            <a:avLst/>
            <a:gdLst/>
            <a:ahLst/>
            <a:cxnLst/>
            <a:rect r="r" b="b" t="t" l="l"/>
            <a:pathLst>
              <a:path h="5898029" w="4316537">
                <a:moveTo>
                  <a:pt x="0" y="0"/>
                </a:moveTo>
                <a:lnTo>
                  <a:pt x="4316537" y="0"/>
                </a:lnTo>
                <a:lnTo>
                  <a:pt x="4316537" y="5898029"/>
                </a:lnTo>
                <a:lnTo>
                  <a:pt x="0" y="58980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302" r="0" b="-2302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-217144" y="2309960"/>
            <a:ext cx="16763592" cy="2162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49389" indent="-274695" lvl="1">
              <a:lnSpc>
                <a:spcPts val="3409"/>
              </a:lnSpc>
              <a:buFont typeface="Arial"/>
              <a:buChar char="•"/>
            </a:pPr>
            <a:r>
              <a:rPr lang="en-US" sz="2544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Ultrasonique: sensible aux couches de vapeurs </a:t>
            </a:r>
          </a:p>
          <a:p>
            <a:pPr algn="l" marL="549389" indent="-274695" lvl="1">
              <a:lnSpc>
                <a:spcPts val="3409"/>
              </a:lnSpc>
              <a:buFont typeface="Arial"/>
              <a:buChar char="•"/>
            </a:pPr>
            <a:r>
              <a:rPr lang="en-US" sz="2544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Radar à ondes libres: trop cher </a:t>
            </a:r>
          </a:p>
          <a:p>
            <a:pPr algn="l" marL="549389" indent="-274695" lvl="1">
              <a:lnSpc>
                <a:spcPts val="3409"/>
              </a:lnSpc>
              <a:buFont typeface="Arial"/>
              <a:buChar char="•"/>
            </a:pPr>
            <a:r>
              <a:rPr lang="en-US" sz="2544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Radar à ondes gudées: trop cher</a:t>
            </a:r>
          </a:p>
          <a:p>
            <a:pPr algn="l" marL="549389" indent="-274695" lvl="1">
              <a:lnSpc>
                <a:spcPts val="3409"/>
              </a:lnSpc>
              <a:buFont typeface="Arial"/>
              <a:buChar char="•"/>
            </a:pPr>
            <a:r>
              <a:rPr lang="en-US" sz="2544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Capacitif: La conductivité risque d’être comprise entre 1 et 100 µS/cm</a:t>
            </a:r>
          </a:p>
          <a:p>
            <a:pPr algn="l">
              <a:lnSpc>
                <a:spcPts val="340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38225" y="401716"/>
            <a:ext cx="11248011" cy="1449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65"/>
              </a:lnSpc>
            </a:pPr>
            <a:r>
              <a:rPr lang="en-US" sz="4227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Capteur de niveau </a:t>
            </a:r>
          </a:p>
          <a:p>
            <a:pPr algn="l" marL="0" indent="0" lvl="0">
              <a:lnSpc>
                <a:spcPts val="5665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83898" y="1534359"/>
            <a:ext cx="12281779" cy="634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38"/>
              </a:lnSpc>
            </a:pPr>
            <a:r>
              <a:rPr lang="en-US" b="true" sz="3461">
                <a:solidFill>
                  <a:srgbClr val="324375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Capteur “Endress+Hauser,Cerabar PMP63B”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0" y="5773802"/>
            <a:ext cx="16763592" cy="1738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09"/>
              </a:lnSpc>
            </a:pPr>
            <a:r>
              <a:rPr lang="en-US" sz="2544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  Caractéristques:</a:t>
            </a:r>
          </a:p>
          <a:p>
            <a:pPr algn="l" marL="549389" indent="-274695" lvl="1">
              <a:lnSpc>
                <a:spcPts val="3409"/>
              </a:lnSpc>
              <a:buFont typeface="Arial"/>
              <a:buChar char="•"/>
            </a:pPr>
            <a:r>
              <a:rPr lang="en-US" sz="2544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lignes d’impulsion</a:t>
            </a:r>
            <a:r>
              <a:rPr lang="en-US" sz="2544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</a:t>
            </a:r>
          </a:p>
          <a:p>
            <a:pPr algn="l">
              <a:lnSpc>
                <a:spcPts val="3409"/>
              </a:lnSpc>
            </a:pPr>
          </a:p>
          <a:p>
            <a:pPr algn="l">
              <a:lnSpc>
                <a:spcPts val="3409"/>
              </a:lnSpc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994203" y="1028700"/>
            <a:ext cx="2439762" cy="3901267"/>
          </a:xfrm>
          <a:custGeom>
            <a:avLst/>
            <a:gdLst/>
            <a:ahLst/>
            <a:cxnLst/>
            <a:rect r="r" b="b" t="t" l="l"/>
            <a:pathLst>
              <a:path h="3901267" w="2439762">
                <a:moveTo>
                  <a:pt x="0" y="0"/>
                </a:moveTo>
                <a:lnTo>
                  <a:pt x="2439762" y="0"/>
                </a:lnTo>
                <a:lnTo>
                  <a:pt x="2439762" y="3901267"/>
                </a:lnTo>
                <a:lnTo>
                  <a:pt x="0" y="39012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978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101110" y="5308176"/>
            <a:ext cx="6335697" cy="3802949"/>
          </a:xfrm>
          <a:custGeom>
            <a:avLst/>
            <a:gdLst/>
            <a:ahLst/>
            <a:cxnLst/>
            <a:rect r="r" b="b" t="t" l="l"/>
            <a:pathLst>
              <a:path h="3802949" w="6335697">
                <a:moveTo>
                  <a:pt x="0" y="0"/>
                </a:moveTo>
                <a:lnTo>
                  <a:pt x="6335697" y="0"/>
                </a:lnTo>
                <a:lnTo>
                  <a:pt x="6335697" y="3802948"/>
                </a:lnTo>
                <a:lnTo>
                  <a:pt x="0" y="38029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88378" y="1612358"/>
            <a:ext cx="6394054" cy="1151180"/>
          </a:xfrm>
          <a:custGeom>
            <a:avLst/>
            <a:gdLst/>
            <a:ahLst/>
            <a:cxnLst/>
            <a:rect r="r" b="b" t="t" l="l"/>
            <a:pathLst>
              <a:path h="1151180" w="6394054">
                <a:moveTo>
                  <a:pt x="0" y="0"/>
                </a:moveTo>
                <a:lnTo>
                  <a:pt x="6394054" y="0"/>
                </a:lnTo>
                <a:lnTo>
                  <a:pt x="6394054" y="1151180"/>
                </a:lnTo>
                <a:lnTo>
                  <a:pt x="0" y="11511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762431" y="7179863"/>
            <a:ext cx="2785861" cy="1931261"/>
          </a:xfrm>
          <a:custGeom>
            <a:avLst/>
            <a:gdLst/>
            <a:ahLst/>
            <a:cxnLst/>
            <a:rect r="r" b="b" t="t" l="l"/>
            <a:pathLst>
              <a:path h="1931261" w="2785861">
                <a:moveTo>
                  <a:pt x="0" y="0"/>
                </a:moveTo>
                <a:lnTo>
                  <a:pt x="2785861" y="0"/>
                </a:lnTo>
                <a:lnTo>
                  <a:pt x="2785861" y="1931261"/>
                </a:lnTo>
                <a:lnTo>
                  <a:pt x="0" y="19312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16086" y="2403744"/>
            <a:ext cx="2740445" cy="2766923"/>
          </a:xfrm>
          <a:custGeom>
            <a:avLst/>
            <a:gdLst/>
            <a:ahLst/>
            <a:cxnLst/>
            <a:rect r="r" b="b" t="t" l="l"/>
            <a:pathLst>
              <a:path h="2766923" w="2740445">
                <a:moveTo>
                  <a:pt x="0" y="0"/>
                </a:moveTo>
                <a:lnTo>
                  <a:pt x="2740445" y="0"/>
                </a:lnTo>
                <a:lnTo>
                  <a:pt x="2740445" y="2766922"/>
                </a:lnTo>
                <a:lnTo>
                  <a:pt x="0" y="27669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2433965" y="1282719"/>
            <a:ext cx="5442794" cy="2394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1"/>
              </a:lnSpc>
            </a:pPr>
            <a:r>
              <a:rPr lang="en-US" sz="2776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Deltabar PMD55B</a:t>
            </a:r>
          </a:p>
          <a:p>
            <a:pPr algn="l" marL="599547" indent="-299774" lvl="1">
              <a:lnSpc>
                <a:spcPts val="3721"/>
              </a:lnSpc>
              <a:buFont typeface="Arial"/>
              <a:buChar char="•"/>
            </a:pPr>
            <a:r>
              <a:rPr lang="en-US" sz="2776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Pression différentielle </a:t>
            </a:r>
          </a:p>
          <a:p>
            <a:pPr algn="l" marL="599547" indent="-299774" lvl="1">
              <a:lnSpc>
                <a:spcPts val="3721"/>
              </a:lnSpc>
              <a:buFont typeface="Arial"/>
              <a:buChar char="•"/>
            </a:pPr>
            <a:r>
              <a:rPr lang="en-US" sz="2776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Précision: jusqu’à 0,075%</a:t>
            </a:r>
          </a:p>
          <a:p>
            <a:pPr algn="l" marL="599547" indent="-299774" lvl="1">
              <a:lnSpc>
                <a:spcPts val="3721"/>
              </a:lnSpc>
              <a:buFont typeface="Arial"/>
              <a:buChar char="•"/>
            </a:pPr>
            <a:r>
              <a:rPr lang="en-US" sz="2776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Température : -40 C… +100 C</a:t>
            </a:r>
          </a:p>
          <a:p>
            <a:pPr algn="l">
              <a:lnSpc>
                <a:spcPts val="3721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3930138" y="5981800"/>
            <a:ext cx="7283946" cy="2369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1"/>
              </a:lnSpc>
            </a:pPr>
            <a:r>
              <a:rPr lang="en-US" sz="2776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Débitmètre Coriolis  Proline Promasse Q300</a:t>
            </a:r>
          </a:p>
          <a:p>
            <a:pPr algn="l" marL="599547" indent="-299773" lvl="1">
              <a:lnSpc>
                <a:spcPts val="3721"/>
              </a:lnSpc>
              <a:buFont typeface="Arial"/>
              <a:buChar char="•"/>
            </a:pPr>
            <a:r>
              <a:rPr lang="en-US" sz="2776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Erreur : 0,10%</a:t>
            </a:r>
          </a:p>
          <a:p>
            <a:pPr algn="l" marL="599547" indent="-299773" lvl="1">
              <a:lnSpc>
                <a:spcPts val="3721"/>
              </a:lnSpc>
              <a:buFont typeface="Arial"/>
              <a:buChar char="•"/>
            </a:pPr>
            <a:r>
              <a:rPr lang="en-US" sz="2776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Température : -50…+205 C</a:t>
            </a:r>
          </a:p>
          <a:p>
            <a:pPr algn="l" marL="599547" indent="-299773" lvl="1">
              <a:lnSpc>
                <a:spcPts val="3721"/>
              </a:lnSpc>
              <a:buFont typeface="Arial"/>
              <a:buChar char="•"/>
            </a:pPr>
            <a:r>
              <a:rPr lang="en-US" sz="2776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DN 25 à 250</a:t>
            </a:r>
          </a:p>
          <a:p>
            <a:pPr algn="l" marL="599547" indent="-299773" lvl="1">
              <a:lnSpc>
                <a:spcPts val="3721"/>
              </a:lnSpc>
              <a:spcBef>
                <a:spcPct val="0"/>
              </a:spcBef>
              <a:buFont typeface="Arial"/>
              <a:buChar char="•"/>
            </a:pPr>
            <a:r>
              <a:rPr lang="en-US" sz="2776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Pas de longueur droite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708728" y="7703399"/>
            <a:ext cx="2062118" cy="1115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34"/>
              </a:lnSpc>
              <a:spcBef>
                <a:spcPct val="0"/>
              </a:spcBef>
            </a:pPr>
            <a:r>
              <a:rPr lang="en-US" b="true" sz="6219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Cher!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524359" y="3506488"/>
            <a:ext cx="4122093" cy="969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1"/>
              </a:lnSpc>
            </a:pPr>
            <a:r>
              <a:rPr lang="en-US" sz="2776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2 sorties 4/20 mA </a:t>
            </a:r>
          </a:p>
          <a:p>
            <a:pPr algn="ctr">
              <a:lnSpc>
                <a:spcPts val="3721"/>
              </a:lnSpc>
              <a:spcBef>
                <a:spcPct val="0"/>
              </a:spcBef>
            </a:pPr>
            <a:r>
              <a:rPr lang="en-US" sz="2776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relié au DCS programmé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-1647371" y="-803050"/>
            <a:ext cx="13607741" cy="2326449"/>
            <a:chOff x="0" y="0"/>
            <a:chExt cx="3247938" cy="55528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6505" y="0"/>
              <a:ext cx="3234928" cy="555284"/>
            </a:xfrm>
            <a:custGeom>
              <a:avLst/>
              <a:gdLst/>
              <a:ahLst/>
              <a:cxnLst/>
              <a:rect r="r" b="b" t="t" l="l"/>
              <a:pathLst>
                <a:path h="555284" w="3234928">
                  <a:moveTo>
                    <a:pt x="243275" y="0"/>
                  </a:moveTo>
                  <a:lnTo>
                    <a:pt x="3221841" y="0"/>
                  </a:lnTo>
                  <a:cubicBezTo>
                    <a:pt x="3226212" y="0"/>
                    <a:pt x="3230295" y="2183"/>
                    <a:pt x="3232723" y="5818"/>
                  </a:cubicBezTo>
                  <a:cubicBezTo>
                    <a:pt x="3235152" y="9453"/>
                    <a:pt x="3235604" y="14061"/>
                    <a:pt x="3233930" y="18099"/>
                  </a:cubicBezTo>
                  <a:lnTo>
                    <a:pt x="3018749" y="537185"/>
                  </a:lnTo>
                  <a:cubicBezTo>
                    <a:pt x="3014207" y="548141"/>
                    <a:pt x="3003513" y="555284"/>
                    <a:pt x="2991653" y="555284"/>
                  </a:cubicBezTo>
                  <a:lnTo>
                    <a:pt x="13088" y="555284"/>
                  </a:lnTo>
                  <a:cubicBezTo>
                    <a:pt x="8716" y="555284"/>
                    <a:pt x="4633" y="553101"/>
                    <a:pt x="2205" y="549466"/>
                  </a:cubicBezTo>
                  <a:cubicBezTo>
                    <a:pt x="-223" y="545831"/>
                    <a:pt x="-676" y="541223"/>
                    <a:pt x="998" y="537185"/>
                  </a:cubicBezTo>
                  <a:lnTo>
                    <a:pt x="216180" y="18099"/>
                  </a:lnTo>
                  <a:cubicBezTo>
                    <a:pt x="220722" y="7143"/>
                    <a:pt x="231415" y="0"/>
                    <a:pt x="243275" y="0"/>
                  </a:cubicBezTo>
                  <a:close/>
                </a:path>
              </a:pathLst>
            </a:custGeom>
            <a:solidFill>
              <a:srgbClr val="32437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254000" y="-38100"/>
              <a:ext cx="2739938" cy="5933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28700" y="401716"/>
            <a:ext cx="11248011" cy="1449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65"/>
              </a:lnSpc>
            </a:pPr>
            <a:r>
              <a:rPr lang="en-US" sz="4227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Mesure de puissance de la pompe </a:t>
            </a:r>
          </a:p>
          <a:p>
            <a:pPr algn="l" marL="0" indent="0" lvl="0">
              <a:lnSpc>
                <a:spcPts val="5665"/>
              </a:lnSpc>
            </a:pP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47371" y="-803050"/>
            <a:ext cx="13607741" cy="2326449"/>
            <a:chOff x="0" y="0"/>
            <a:chExt cx="3247938" cy="5552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505" y="0"/>
              <a:ext cx="3234928" cy="555284"/>
            </a:xfrm>
            <a:custGeom>
              <a:avLst/>
              <a:gdLst/>
              <a:ahLst/>
              <a:cxnLst/>
              <a:rect r="r" b="b" t="t" l="l"/>
              <a:pathLst>
                <a:path h="555284" w="3234928">
                  <a:moveTo>
                    <a:pt x="243275" y="0"/>
                  </a:moveTo>
                  <a:lnTo>
                    <a:pt x="3221841" y="0"/>
                  </a:lnTo>
                  <a:cubicBezTo>
                    <a:pt x="3226212" y="0"/>
                    <a:pt x="3230295" y="2183"/>
                    <a:pt x="3232723" y="5818"/>
                  </a:cubicBezTo>
                  <a:cubicBezTo>
                    <a:pt x="3235152" y="9453"/>
                    <a:pt x="3235604" y="14061"/>
                    <a:pt x="3233930" y="18099"/>
                  </a:cubicBezTo>
                  <a:lnTo>
                    <a:pt x="3018749" y="537185"/>
                  </a:lnTo>
                  <a:cubicBezTo>
                    <a:pt x="3014207" y="548141"/>
                    <a:pt x="3003513" y="555284"/>
                    <a:pt x="2991653" y="555284"/>
                  </a:cubicBezTo>
                  <a:lnTo>
                    <a:pt x="13088" y="555284"/>
                  </a:lnTo>
                  <a:cubicBezTo>
                    <a:pt x="8716" y="555284"/>
                    <a:pt x="4633" y="553101"/>
                    <a:pt x="2205" y="549466"/>
                  </a:cubicBezTo>
                  <a:cubicBezTo>
                    <a:pt x="-223" y="545831"/>
                    <a:pt x="-676" y="541223"/>
                    <a:pt x="998" y="537185"/>
                  </a:cubicBezTo>
                  <a:lnTo>
                    <a:pt x="216180" y="18099"/>
                  </a:lnTo>
                  <a:cubicBezTo>
                    <a:pt x="220722" y="7143"/>
                    <a:pt x="231415" y="0"/>
                    <a:pt x="243275" y="0"/>
                  </a:cubicBezTo>
                  <a:close/>
                </a:path>
              </a:pathLst>
            </a:custGeom>
            <a:solidFill>
              <a:srgbClr val="32437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254000" y="-38100"/>
              <a:ext cx="2739938" cy="5933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431619" y="1145979"/>
            <a:ext cx="6659096" cy="8878794"/>
          </a:xfrm>
          <a:custGeom>
            <a:avLst/>
            <a:gdLst/>
            <a:ahLst/>
            <a:cxnLst/>
            <a:rect r="r" b="b" t="t" l="l"/>
            <a:pathLst>
              <a:path h="8878794" w="6659096">
                <a:moveTo>
                  <a:pt x="0" y="0"/>
                </a:moveTo>
                <a:lnTo>
                  <a:pt x="6659095" y="0"/>
                </a:lnTo>
                <a:lnTo>
                  <a:pt x="6659095" y="8878795"/>
                </a:lnTo>
                <a:lnTo>
                  <a:pt x="0" y="88787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401716"/>
            <a:ext cx="11248011" cy="744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65"/>
              </a:lnSpc>
            </a:pPr>
            <a:r>
              <a:rPr lang="en-US" sz="4227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Hardware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2494717"/>
            <a:ext cx="7375909" cy="638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38"/>
              </a:lnSpc>
            </a:pPr>
            <a:r>
              <a:rPr lang="en-US" b="true" sz="3461">
                <a:solidFill>
                  <a:srgbClr val="324375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DCS : Simatic PCS 7 de Siemens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9187153"/>
            <a:ext cx="1699781" cy="467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96"/>
              </a:lnSpc>
            </a:pPr>
            <a:r>
              <a:rPr lang="en-US" b="true" sz="2609">
                <a:solidFill>
                  <a:srgbClr val="324375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07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3179240"/>
            <a:ext cx="6755098" cy="638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38"/>
              </a:lnSpc>
            </a:pPr>
            <a:r>
              <a:rPr lang="en-US" b="true" sz="3461">
                <a:solidFill>
                  <a:srgbClr val="324375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Nos capteurs : 4-20 mA HART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3865564"/>
            <a:ext cx="9557615" cy="1810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8"/>
              </a:lnSpc>
            </a:pPr>
            <a:r>
              <a:rPr lang="en-US" sz="3461" b="true">
                <a:solidFill>
                  <a:srgbClr val="324375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Carte d’entrée : SM331 AI 8x 4-20 mA HART</a:t>
            </a:r>
          </a:p>
          <a:p>
            <a:pPr algn="l">
              <a:lnSpc>
                <a:spcPts val="4638"/>
              </a:lnSpc>
            </a:pPr>
            <a:r>
              <a:rPr lang="en-US" sz="3461" b="true">
                <a:solidFill>
                  <a:srgbClr val="324375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                               Compatible PCS 7 et 4-20 </a:t>
            </a:r>
          </a:p>
          <a:p>
            <a:pPr algn="l" marL="0" indent="0" lvl="0">
              <a:lnSpc>
                <a:spcPts val="4638"/>
              </a:lnSpc>
            </a:pPr>
            <a:r>
              <a:rPr lang="en-US" b="true" sz="3461">
                <a:solidFill>
                  <a:srgbClr val="324375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                               mA HART et  assez d’entrée     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5992257"/>
            <a:ext cx="6755098" cy="1810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38"/>
              </a:lnSpc>
            </a:pPr>
            <a:r>
              <a:rPr lang="en-US" b="true" sz="3461">
                <a:solidFill>
                  <a:srgbClr val="324375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gère 8 capteurs en même temps, on en a 10, il faut donc 2 cartes d’entrées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473166" y="8730092"/>
            <a:ext cx="13607741" cy="2326449"/>
            <a:chOff x="0" y="0"/>
            <a:chExt cx="3247938" cy="5552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505" y="0"/>
              <a:ext cx="3234928" cy="555284"/>
            </a:xfrm>
            <a:custGeom>
              <a:avLst/>
              <a:gdLst/>
              <a:ahLst/>
              <a:cxnLst/>
              <a:rect r="r" b="b" t="t" l="l"/>
              <a:pathLst>
                <a:path h="555284" w="3234928">
                  <a:moveTo>
                    <a:pt x="243275" y="0"/>
                  </a:moveTo>
                  <a:lnTo>
                    <a:pt x="3221841" y="0"/>
                  </a:lnTo>
                  <a:cubicBezTo>
                    <a:pt x="3226212" y="0"/>
                    <a:pt x="3230295" y="2183"/>
                    <a:pt x="3232723" y="5818"/>
                  </a:cubicBezTo>
                  <a:cubicBezTo>
                    <a:pt x="3235152" y="9453"/>
                    <a:pt x="3235604" y="14061"/>
                    <a:pt x="3233930" y="18099"/>
                  </a:cubicBezTo>
                  <a:lnTo>
                    <a:pt x="3018749" y="537185"/>
                  </a:lnTo>
                  <a:cubicBezTo>
                    <a:pt x="3014207" y="548141"/>
                    <a:pt x="3003513" y="555284"/>
                    <a:pt x="2991653" y="555284"/>
                  </a:cubicBezTo>
                  <a:lnTo>
                    <a:pt x="13088" y="555284"/>
                  </a:lnTo>
                  <a:cubicBezTo>
                    <a:pt x="8716" y="555284"/>
                    <a:pt x="4633" y="553101"/>
                    <a:pt x="2205" y="549466"/>
                  </a:cubicBezTo>
                  <a:cubicBezTo>
                    <a:pt x="-223" y="545831"/>
                    <a:pt x="-676" y="541223"/>
                    <a:pt x="998" y="537185"/>
                  </a:cubicBezTo>
                  <a:lnTo>
                    <a:pt x="216180" y="18099"/>
                  </a:lnTo>
                  <a:cubicBezTo>
                    <a:pt x="220722" y="7143"/>
                    <a:pt x="231415" y="0"/>
                    <a:pt x="24327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65F8B">
                    <a:alpha val="100000"/>
                  </a:srgbClr>
                </a:gs>
                <a:gs pos="100000">
                  <a:srgbClr val="31427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254000" y="-38100"/>
              <a:ext cx="2739938" cy="5933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117814" y="7496566"/>
            <a:ext cx="8623244" cy="1233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8467"/>
              </a:lnSpc>
            </a:pPr>
            <a:r>
              <a:rPr lang="en-US" b="true" sz="8221">
                <a:solidFill>
                  <a:srgbClr val="324375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Merci !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806118" y="9149053"/>
            <a:ext cx="10575696" cy="753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5665"/>
              </a:lnSpc>
            </a:pPr>
            <a:r>
              <a:rPr lang="en-US" sz="4227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Pour votre attention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-3901091" y="-952470"/>
            <a:ext cx="16736725" cy="9034161"/>
            <a:chOff x="0" y="0"/>
            <a:chExt cx="1188878" cy="6417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5449" y="0"/>
              <a:ext cx="1177981" cy="641733"/>
            </a:xfrm>
            <a:custGeom>
              <a:avLst/>
              <a:gdLst/>
              <a:ahLst/>
              <a:cxnLst/>
              <a:rect r="r" b="b" t="t" l="l"/>
              <a:pathLst>
                <a:path h="641733" w="1177981">
                  <a:moveTo>
                    <a:pt x="218104" y="0"/>
                  </a:moveTo>
                  <a:lnTo>
                    <a:pt x="1163076" y="0"/>
                  </a:lnTo>
                  <a:cubicBezTo>
                    <a:pt x="1167827" y="0"/>
                    <a:pt x="1172293" y="2265"/>
                    <a:pt x="1175101" y="6099"/>
                  </a:cubicBezTo>
                  <a:cubicBezTo>
                    <a:pt x="1177908" y="9932"/>
                    <a:pt x="1178719" y="14874"/>
                    <a:pt x="1177285" y="19404"/>
                  </a:cubicBezTo>
                  <a:lnTo>
                    <a:pt x="986373" y="622330"/>
                  </a:lnTo>
                  <a:cubicBezTo>
                    <a:pt x="982715" y="633882"/>
                    <a:pt x="971993" y="641733"/>
                    <a:pt x="959876" y="641733"/>
                  </a:cubicBezTo>
                  <a:lnTo>
                    <a:pt x="14904" y="641733"/>
                  </a:lnTo>
                  <a:cubicBezTo>
                    <a:pt x="10153" y="641733"/>
                    <a:pt x="5686" y="639468"/>
                    <a:pt x="2879" y="635635"/>
                  </a:cubicBezTo>
                  <a:cubicBezTo>
                    <a:pt x="72" y="631801"/>
                    <a:pt x="-739" y="626859"/>
                    <a:pt x="695" y="622330"/>
                  </a:cubicBezTo>
                  <a:lnTo>
                    <a:pt x="191607" y="19404"/>
                  </a:lnTo>
                  <a:cubicBezTo>
                    <a:pt x="195265" y="7851"/>
                    <a:pt x="205986" y="0"/>
                    <a:pt x="218104" y="0"/>
                  </a:cubicBezTo>
                  <a:close/>
                </a:path>
              </a:pathLst>
            </a:custGeom>
            <a:blipFill>
              <a:blip r:embed="rId2"/>
              <a:stretch>
                <a:fillRect l="-462" t="-1872" r="-462" b="-1872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028700" y="9187153"/>
            <a:ext cx="1699781" cy="467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96"/>
              </a:lnSpc>
            </a:pPr>
            <a:r>
              <a:rPr lang="en-US" b="true" sz="2609">
                <a:solidFill>
                  <a:srgbClr val="324375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2026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5625566" y="8882492"/>
            <a:ext cx="13607741" cy="2326449"/>
            <a:chOff x="0" y="0"/>
            <a:chExt cx="3247938" cy="55528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6505" y="0"/>
              <a:ext cx="3234928" cy="555284"/>
            </a:xfrm>
            <a:custGeom>
              <a:avLst/>
              <a:gdLst/>
              <a:ahLst/>
              <a:cxnLst/>
              <a:rect r="r" b="b" t="t" l="l"/>
              <a:pathLst>
                <a:path h="555284" w="3234928">
                  <a:moveTo>
                    <a:pt x="243275" y="0"/>
                  </a:moveTo>
                  <a:lnTo>
                    <a:pt x="3221841" y="0"/>
                  </a:lnTo>
                  <a:cubicBezTo>
                    <a:pt x="3226212" y="0"/>
                    <a:pt x="3230295" y="2183"/>
                    <a:pt x="3232723" y="5818"/>
                  </a:cubicBezTo>
                  <a:cubicBezTo>
                    <a:pt x="3235152" y="9453"/>
                    <a:pt x="3235604" y="14061"/>
                    <a:pt x="3233930" y="18099"/>
                  </a:cubicBezTo>
                  <a:lnTo>
                    <a:pt x="3018749" y="537185"/>
                  </a:lnTo>
                  <a:cubicBezTo>
                    <a:pt x="3014207" y="548141"/>
                    <a:pt x="3003513" y="555284"/>
                    <a:pt x="2991653" y="555284"/>
                  </a:cubicBezTo>
                  <a:lnTo>
                    <a:pt x="13088" y="555284"/>
                  </a:lnTo>
                  <a:cubicBezTo>
                    <a:pt x="8716" y="555284"/>
                    <a:pt x="4633" y="553101"/>
                    <a:pt x="2205" y="549466"/>
                  </a:cubicBezTo>
                  <a:cubicBezTo>
                    <a:pt x="-223" y="545831"/>
                    <a:pt x="-676" y="541223"/>
                    <a:pt x="998" y="537185"/>
                  </a:cubicBezTo>
                  <a:lnTo>
                    <a:pt x="216180" y="18099"/>
                  </a:lnTo>
                  <a:cubicBezTo>
                    <a:pt x="220722" y="7143"/>
                    <a:pt x="231415" y="0"/>
                    <a:pt x="24327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65F8B">
                    <a:alpha val="100000"/>
                  </a:srgbClr>
                </a:gs>
                <a:gs pos="100000">
                  <a:srgbClr val="31427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254000" y="-38100"/>
              <a:ext cx="2739938" cy="5933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47371" y="-803050"/>
            <a:ext cx="13607741" cy="2326449"/>
            <a:chOff x="0" y="0"/>
            <a:chExt cx="3247938" cy="5552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505" y="0"/>
              <a:ext cx="3234928" cy="555284"/>
            </a:xfrm>
            <a:custGeom>
              <a:avLst/>
              <a:gdLst/>
              <a:ahLst/>
              <a:cxnLst/>
              <a:rect r="r" b="b" t="t" l="l"/>
              <a:pathLst>
                <a:path h="555284" w="3234928">
                  <a:moveTo>
                    <a:pt x="243275" y="0"/>
                  </a:moveTo>
                  <a:lnTo>
                    <a:pt x="3221841" y="0"/>
                  </a:lnTo>
                  <a:cubicBezTo>
                    <a:pt x="3226212" y="0"/>
                    <a:pt x="3230295" y="2183"/>
                    <a:pt x="3232723" y="5818"/>
                  </a:cubicBezTo>
                  <a:cubicBezTo>
                    <a:pt x="3235152" y="9453"/>
                    <a:pt x="3235604" y="14061"/>
                    <a:pt x="3233930" y="18099"/>
                  </a:cubicBezTo>
                  <a:lnTo>
                    <a:pt x="3018749" y="537185"/>
                  </a:lnTo>
                  <a:cubicBezTo>
                    <a:pt x="3014207" y="548141"/>
                    <a:pt x="3003513" y="555284"/>
                    <a:pt x="2991653" y="555284"/>
                  </a:cubicBezTo>
                  <a:lnTo>
                    <a:pt x="13088" y="555284"/>
                  </a:lnTo>
                  <a:cubicBezTo>
                    <a:pt x="8716" y="555284"/>
                    <a:pt x="4633" y="553101"/>
                    <a:pt x="2205" y="549466"/>
                  </a:cubicBezTo>
                  <a:cubicBezTo>
                    <a:pt x="-223" y="545831"/>
                    <a:pt x="-676" y="541223"/>
                    <a:pt x="998" y="537185"/>
                  </a:cubicBezTo>
                  <a:lnTo>
                    <a:pt x="216180" y="18099"/>
                  </a:lnTo>
                  <a:cubicBezTo>
                    <a:pt x="220722" y="7143"/>
                    <a:pt x="231415" y="0"/>
                    <a:pt x="24327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65F8B">
                    <a:alpha val="100000"/>
                  </a:srgbClr>
                </a:gs>
                <a:gs pos="100000">
                  <a:srgbClr val="31427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254000" y="-38100"/>
              <a:ext cx="2739938" cy="5933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187890" y="3311545"/>
            <a:ext cx="17447190" cy="3663910"/>
          </a:xfrm>
          <a:custGeom>
            <a:avLst/>
            <a:gdLst/>
            <a:ahLst/>
            <a:cxnLst/>
            <a:rect r="r" b="b" t="t" l="l"/>
            <a:pathLst>
              <a:path h="3663910" w="17447190">
                <a:moveTo>
                  <a:pt x="0" y="0"/>
                </a:moveTo>
                <a:lnTo>
                  <a:pt x="17447190" y="0"/>
                </a:lnTo>
                <a:lnTo>
                  <a:pt x="17447190" y="3663910"/>
                </a:lnTo>
                <a:lnTo>
                  <a:pt x="0" y="36639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401716"/>
            <a:ext cx="11248011" cy="744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65"/>
              </a:lnSpc>
            </a:pPr>
            <a:r>
              <a:rPr lang="en-US" sz="4227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ANNEXE 1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47371" y="-803050"/>
            <a:ext cx="13607741" cy="2326449"/>
            <a:chOff x="0" y="0"/>
            <a:chExt cx="3247938" cy="5552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505" y="0"/>
              <a:ext cx="3234928" cy="555284"/>
            </a:xfrm>
            <a:custGeom>
              <a:avLst/>
              <a:gdLst/>
              <a:ahLst/>
              <a:cxnLst/>
              <a:rect r="r" b="b" t="t" l="l"/>
              <a:pathLst>
                <a:path h="555284" w="3234928">
                  <a:moveTo>
                    <a:pt x="243275" y="0"/>
                  </a:moveTo>
                  <a:lnTo>
                    <a:pt x="3221841" y="0"/>
                  </a:lnTo>
                  <a:cubicBezTo>
                    <a:pt x="3226212" y="0"/>
                    <a:pt x="3230295" y="2183"/>
                    <a:pt x="3232723" y="5818"/>
                  </a:cubicBezTo>
                  <a:cubicBezTo>
                    <a:pt x="3235152" y="9453"/>
                    <a:pt x="3235604" y="14061"/>
                    <a:pt x="3233930" y="18099"/>
                  </a:cubicBezTo>
                  <a:lnTo>
                    <a:pt x="3018749" y="537185"/>
                  </a:lnTo>
                  <a:cubicBezTo>
                    <a:pt x="3014207" y="548141"/>
                    <a:pt x="3003513" y="555284"/>
                    <a:pt x="2991653" y="555284"/>
                  </a:cubicBezTo>
                  <a:lnTo>
                    <a:pt x="13088" y="555284"/>
                  </a:lnTo>
                  <a:cubicBezTo>
                    <a:pt x="8716" y="555284"/>
                    <a:pt x="4633" y="553101"/>
                    <a:pt x="2205" y="549466"/>
                  </a:cubicBezTo>
                  <a:cubicBezTo>
                    <a:pt x="-223" y="545831"/>
                    <a:pt x="-676" y="541223"/>
                    <a:pt x="998" y="537185"/>
                  </a:cubicBezTo>
                  <a:lnTo>
                    <a:pt x="216180" y="18099"/>
                  </a:lnTo>
                  <a:cubicBezTo>
                    <a:pt x="220722" y="7143"/>
                    <a:pt x="231415" y="0"/>
                    <a:pt x="24327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65F8B">
                    <a:alpha val="100000"/>
                  </a:srgbClr>
                </a:gs>
                <a:gs pos="100000">
                  <a:srgbClr val="31427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254000" y="-38100"/>
              <a:ext cx="2739938" cy="5933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390275" y="3750780"/>
            <a:ext cx="11301259" cy="3785922"/>
          </a:xfrm>
          <a:custGeom>
            <a:avLst/>
            <a:gdLst/>
            <a:ahLst/>
            <a:cxnLst/>
            <a:rect r="r" b="b" t="t" l="l"/>
            <a:pathLst>
              <a:path h="3785922" w="11301259">
                <a:moveTo>
                  <a:pt x="0" y="0"/>
                </a:moveTo>
                <a:lnTo>
                  <a:pt x="11301259" y="0"/>
                </a:lnTo>
                <a:lnTo>
                  <a:pt x="11301259" y="3785922"/>
                </a:lnTo>
                <a:lnTo>
                  <a:pt x="0" y="37859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401716"/>
            <a:ext cx="11248011" cy="744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65"/>
              </a:lnSpc>
            </a:pPr>
            <a:r>
              <a:rPr lang="en-US" sz="4227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ANNEXE 2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47371" y="-803050"/>
            <a:ext cx="13607741" cy="2326449"/>
            <a:chOff x="0" y="0"/>
            <a:chExt cx="3247938" cy="5552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505" y="0"/>
              <a:ext cx="3234928" cy="555284"/>
            </a:xfrm>
            <a:custGeom>
              <a:avLst/>
              <a:gdLst/>
              <a:ahLst/>
              <a:cxnLst/>
              <a:rect r="r" b="b" t="t" l="l"/>
              <a:pathLst>
                <a:path h="555284" w="3234928">
                  <a:moveTo>
                    <a:pt x="243275" y="0"/>
                  </a:moveTo>
                  <a:lnTo>
                    <a:pt x="3221841" y="0"/>
                  </a:lnTo>
                  <a:cubicBezTo>
                    <a:pt x="3226212" y="0"/>
                    <a:pt x="3230295" y="2183"/>
                    <a:pt x="3232723" y="5818"/>
                  </a:cubicBezTo>
                  <a:cubicBezTo>
                    <a:pt x="3235152" y="9453"/>
                    <a:pt x="3235604" y="14061"/>
                    <a:pt x="3233930" y="18099"/>
                  </a:cubicBezTo>
                  <a:lnTo>
                    <a:pt x="3018749" y="537185"/>
                  </a:lnTo>
                  <a:cubicBezTo>
                    <a:pt x="3014207" y="548141"/>
                    <a:pt x="3003513" y="555284"/>
                    <a:pt x="2991653" y="555284"/>
                  </a:cubicBezTo>
                  <a:lnTo>
                    <a:pt x="13088" y="555284"/>
                  </a:lnTo>
                  <a:cubicBezTo>
                    <a:pt x="8716" y="555284"/>
                    <a:pt x="4633" y="553101"/>
                    <a:pt x="2205" y="549466"/>
                  </a:cubicBezTo>
                  <a:cubicBezTo>
                    <a:pt x="-223" y="545831"/>
                    <a:pt x="-676" y="541223"/>
                    <a:pt x="998" y="537185"/>
                  </a:cubicBezTo>
                  <a:lnTo>
                    <a:pt x="216180" y="18099"/>
                  </a:lnTo>
                  <a:cubicBezTo>
                    <a:pt x="220722" y="7143"/>
                    <a:pt x="231415" y="0"/>
                    <a:pt x="24327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65F8B">
                    <a:alpha val="100000"/>
                  </a:srgbClr>
                </a:gs>
                <a:gs pos="100000">
                  <a:srgbClr val="31427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254000" y="-38100"/>
              <a:ext cx="2739938" cy="5933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493371" y="3420058"/>
            <a:ext cx="11301259" cy="3446884"/>
          </a:xfrm>
          <a:custGeom>
            <a:avLst/>
            <a:gdLst/>
            <a:ahLst/>
            <a:cxnLst/>
            <a:rect r="r" b="b" t="t" l="l"/>
            <a:pathLst>
              <a:path h="3446884" w="11301259">
                <a:moveTo>
                  <a:pt x="0" y="0"/>
                </a:moveTo>
                <a:lnTo>
                  <a:pt x="11301258" y="0"/>
                </a:lnTo>
                <a:lnTo>
                  <a:pt x="11301258" y="3446884"/>
                </a:lnTo>
                <a:lnTo>
                  <a:pt x="0" y="34468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401716"/>
            <a:ext cx="11248011" cy="744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65"/>
              </a:lnSpc>
            </a:pPr>
            <a:r>
              <a:rPr lang="en-US" sz="4227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ANNEXE 3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47371" y="-803050"/>
            <a:ext cx="13607741" cy="2326449"/>
            <a:chOff x="0" y="0"/>
            <a:chExt cx="3247938" cy="5552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505" y="0"/>
              <a:ext cx="3234928" cy="555284"/>
            </a:xfrm>
            <a:custGeom>
              <a:avLst/>
              <a:gdLst/>
              <a:ahLst/>
              <a:cxnLst/>
              <a:rect r="r" b="b" t="t" l="l"/>
              <a:pathLst>
                <a:path h="555284" w="3234928">
                  <a:moveTo>
                    <a:pt x="243275" y="0"/>
                  </a:moveTo>
                  <a:lnTo>
                    <a:pt x="3221841" y="0"/>
                  </a:lnTo>
                  <a:cubicBezTo>
                    <a:pt x="3226212" y="0"/>
                    <a:pt x="3230295" y="2183"/>
                    <a:pt x="3232723" y="5818"/>
                  </a:cubicBezTo>
                  <a:cubicBezTo>
                    <a:pt x="3235152" y="9453"/>
                    <a:pt x="3235604" y="14061"/>
                    <a:pt x="3233930" y="18099"/>
                  </a:cubicBezTo>
                  <a:lnTo>
                    <a:pt x="3018749" y="537185"/>
                  </a:lnTo>
                  <a:cubicBezTo>
                    <a:pt x="3014207" y="548141"/>
                    <a:pt x="3003513" y="555284"/>
                    <a:pt x="2991653" y="555284"/>
                  </a:cubicBezTo>
                  <a:lnTo>
                    <a:pt x="13088" y="555284"/>
                  </a:lnTo>
                  <a:cubicBezTo>
                    <a:pt x="8716" y="555284"/>
                    <a:pt x="4633" y="553101"/>
                    <a:pt x="2205" y="549466"/>
                  </a:cubicBezTo>
                  <a:cubicBezTo>
                    <a:pt x="-223" y="545831"/>
                    <a:pt x="-676" y="541223"/>
                    <a:pt x="998" y="537185"/>
                  </a:cubicBezTo>
                  <a:lnTo>
                    <a:pt x="216180" y="18099"/>
                  </a:lnTo>
                  <a:cubicBezTo>
                    <a:pt x="220722" y="7143"/>
                    <a:pt x="231415" y="0"/>
                    <a:pt x="24327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65F8B">
                    <a:alpha val="100000"/>
                  </a:srgbClr>
                </a:gs>
                <a:gs pos="100000">
                  <a:srgbClr val="31427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254000" y="-38100"/>
              <a:ext cx="2739938" cy="5933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058658" y="1973903"/>
            <a:ext cx="6170684" cy="6339194"/>
          </a:xfrm>
          <a:custGeom>
            <a:avLst/>
            <a:gdLst/>
            <a:ahLst/>
            <a:cxnLst/>
            <a:rect r="r" b="b" t="t" l="l"/>
            <a:pathLst>
              <a:path h="6339194" w="6170684">
                <a:moveTo>
                  <a:pt x="0" y="0"/>
                </a:moveTo>
                <a:lnTo>
                  <a:pt x="6170684" y="0"/>
                </a:lnTo>
                <a:lnTo>
                  <a:pt x="6170684" y="6339194"/>
                </a:lnTo>
                <a:lnTo>
                  <a:pt x="0" y="63391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401716"/>
            <a:ext cx="11248011" cy="744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65"/>
              </a:lnSpc>
            </a:pPr>
            <a:r>
              <a:rPr lang="en-US" sz="4227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ANNEXE 3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47371" y="-803050"/>
            <a:ext cx="13607741" cy="2326449"/>
            <a:chOff x="0" y="0"/>
            <a:chExt cx="3247938" cy="5552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505" y="0"/>
              <a:ext cx="3234928" cy="555284"/>
            </a:xfrm>
            <a:custGeom>
              <a:avLst/>
              <a:gdLst/>
              <a:ahLst/>
              <a:cxnLst/>
              <a:rect r="r" b="b" t="t" l="l"/>
              <a:pathLst>
                <a:path h="555284" w="3234928">
                  <a:moveTo>
                    <a:pt x="243275" y="0"/>
                  </a:moveTo>
                  <a:lnTo>
                    <a:pt x="3221841" y="0"/>
                  </a:lnTo>
                  <a:cubicBezTo>
                    <a:pt x="3226212" y="0"/>
                    <a:pt x="3230295" y="2183"/>
                    <a:pt x="3232723" y="5818"/>
                  </a:cubicBezTo>
                  <a:cubicBezTo>
                    <a:pt x="3235152" y="9453"/>
                    <a:pt x="3235604" y="14061"/>
                    <a:pt x="3233930" y="18099"/>
                  </a:cubicBezTo>
                  <a:lnTo>
                    <a:pt x="3018749" y="537185"/>
                  </a:lnTo>
                  <a:cubicBezTo>
                    <a:pt x="3014207" y="548141"/>
                    <a:pt x="3003513" y="555284"/>
                    <a:pt x="2991653" y="555284"/>
                  </a:cubicBezTo>
                  <a:lnTo>
                    <a:pt x="13088" y="555284"/>
                  </a:lnTo>
                  <a:cubicBezTo>
                    <a:pt x="8716" y="555284"/>
                    <a:pt x="4633" y="553101"/>
                    <a:pt x="2205" y="549466"/>
                  </a:cubicBezTo>
                  <a:cubicBezTo>
                    <a:pt x="-223" y="545831"/>
                    <a:pt x="-676" y="541223"/>
                    <a:pt x="998" y="537185"/>
                  </a:cubicBezTo>
                  <a:lnTo>
                    <a:pt x="216180" y="18099"/>
                  </a:lnTo>
                  <a:cubicBezTo>
                    <a:pt x="220722" y="7143"/>
                    <a:pt x="231415" y="0"/>
                    <a:pt x="24327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65F8B">
                    <a:alpha val="100000"/>
                  </a:srgbClr>
                </a:gs>
                <a:gs pos="100000">
                  <a:srgbClr val="31427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254000" y="-38100"/>
              <a:ext cx="2739938" cy="5933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775076" y="3095711"/>
            <a:ext cx="13178856" cy="4925597"/>
          </a:xfrm>
          <a:custGeom>
            <a:avLst/>
            <a:gdLst/>
            <a:ahLst/>
            <a:cxnLst/>
            <a:rect r="r" b="b" t="t" l="l"/>
            <a:pathLst>
              <a:path h="4925597" w="13178856">
                <a:moveTo>
                  <a:pt x="0" y="0"/>
                </a:moveTo>
                <a:lnTo>
                  <a:pt x="13178856" y="0"/>
                </a:lnTo>
                <a:lnTo>
                  <a:pt x="13178856" y="4925597"/>
                </a:lnTo>
                <a:lnTo>
                  <a:pt x="0" y="49255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401716"/>
            <a:ext cx="11248011" cy="744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65"/>
              </a:lnSpc>
            </a:pPr>
            <a:r>
              <a:rPr lang="en-US" sz="4227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ANNEXE 4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47371" y="-803050"/>
            <a:ext cx="13607741" cy="2326449"/>
            <a:chOff x="0" y="0"/>
            <a:chExt cx="3247938" cy="5552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505" y="0"/>
              <a:ext cx="3234928" cy="555284"/>
            </a:xfrm>
            <a:custGeom>
              <a:avLst/>
              <a:gdLst/>
              <a:ahLst/>
              <a:cxnLst/>
              <a:rect r="r" b="b" t="t" l="l"/>
              <a:pathLst>
                <a:path h="555284" w="3234928">
                  <a:moveTo>
                    <a:pt x="243275" y="0"/>
                  </a:moveTo>
                  <a:lnTo>
                    <a:pt x="3221841" y="0"/>
                  </a:lnTo>
                  <a:cubicBezTo>
                    <a:pt x="3226212" y="0"/>
                    <a:pt x="3230295" y="2183"/>
                    <a:pt x="3232723" y="5818"/>
                  </a:cubicBezTo>
                  <a:cubicBezTo>
                    <a:pt x="3235152" y="9453"/>
                    <a:pt x="3235604" y="14061"/>
                    <a:pt x="3233930" y="18099"/>
                  </a:cubicBezTo>
                  <a:lnTo>
                    <a:pt x="3018749" y="537185"/>
                  </a:lnTo>
                  <a:cubicBezTo>
                    <a:pt x="3014207" y="548141"/>
                    <a:pt x="3003513" y="555284"/>
                    <a:pt x="2991653" y="555284"/>
                  </a:cubicBezTo>
                  <a:lnTo>
                    <a:pt x="13088" y="555284"/>
                  </a:lnTo>
                  <a:cubicBezTo>
                    <a:pt x="8716" y="555284"/>
                    <a:pt x="4633" y="553101"/>
                    <a:pt x="2205" y="549466"/>
                  </a:cubicBezTo>
                  <a:cubicBezTo>
                    <a:pt x="-223" y="545831"/>
                    <a:pt x="-676" y="541223"/>
                    <a:pt x="998" y="537185"/>
                  </a:cubicBezTo>
                  <a:lnTo>
                    <a:pt x="216180" y="18099"/>
                  </a:lnTo>
                  <a:cubicBezTo>
                    <a:pt x="220722" y="7143"/>
                    <a:pt x="231415" y="0"/>
                    <a:pt x="24327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65F8B">
                    <a:alpha val="100000"/>
                  </a:srgbClr>
                </a:gs>
                <a:gs pos="100000">
                  <a:srgbClr val="31427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254000" y="-38100"/>
              <a:ext cx="2739938" cy="5933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082916" y="2263934"/>
            <a:ext cx="11301259" cy="6272199"/>
          </a:xfrm>
          <a:custGeom>
            <a:avLst/>
            <a:gdLst/>
            <a:ahLst/>
            <a:cxnLst/>
            <a:rect r="r" b="b" t="t" l="l"/>
            <a:pathLst>
              <a:path h="6272199" w="11301259">
                <a:moveTo>
                  <a:pt x="0" y="0"/>
                </a:moveTo>
                <a:lnTo>
                  <a:pt x="11301259" y="0"/>
                </a:lnTo>
                <a:lnTo>
                  <a:pt x="11301259" y="6272199"/>
                </a:lnTo>
                <a:lnTo>
                  <a:pt x="0" y="62721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401716"/>
            <a:ext cx="11248011" cy="1449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65"/>
              </a:lnSpc>
            </a:pPr>
            <a:r>
              <a:rPr lang="en-US" sz="4227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ANNEXE 5</a:t>
            </a:r>
          </a:p>
          <a:p>
            <a:pPr algn="l" marL="0" indent="0" lvl="0">
              <a:lnSpc>
                <a:spcPts val="5665"/>
              </a:lnSpc>
            </a:pP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47371" y="-803050"/>
            <a:ext cx="13607741" cy="2326449"/>
            <a:chOff x="0" y="0"/>
            <a:chExt cx="3247938" cy="5552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505" y="0"/>
              <a:ext cx="3234928" cy="555284"/>
            </a:xfrm>
            <a:custGeom>
              <a:avLst/>
              <a:gdLst/>
              <a:ahLst/>
              <a:cxnLst/>
              <a:rect r="r" b="b" t="t" l="l"/>
              <a:pathLst>
                <a:path h="555284" w="3234928">
                  <a:moveTo>
                    <a:pt x="243275" y="0"/>
                  </a:moveTo>
                  <a:lnTo>
                    <a:pt x="3221841" y="0"/>
                  </a:lnTo>
                  <a:cubicBezTo>
                    <a:pt x="3226212" y="0"/>
                    <a:pt x="3230295" y="2183"/>
                    <a:pt x="3232723" y="5818"/>
                  </a:cubicBezTo>
                  <a:cubicBezTo>
                    <a:pt x="3235152" y="9453"/>
                    <a:pt x="3235604" y="14061"/>
                    <a:pt x="3233930" y="18099"/>
                  </a:cubicBezTo>
                  <a:lnTo>
                    <a:pt x="3018749" y="537185"/>
                  </a:lnTo>
                  <a:cubicBezTo>
                    <a:pt x="3014207" y="548141"/>
                    <a:pt x="3003513" y="555284"/>
                    <a:pt x="2991653" y="555284"/>
                  </a:cubicBezTo>
                  <a:lnTo>
                    <a:pt x="13088" y="555284"/>
                  </a:lnTo>
                  <a:cubicBezTo>
                    <a:pt x="8716" y="555284"/>
                    <a:pt x="4633" y="553101"/>
                    <a:pt x="2205" y="549466"/>
                  </a:cubicBezTo>
                  <a:cubicBezTo>
                    <a:pt x="-223" y="545831"/>
                    <a:pt x="-676" y="541223"/>
                    <a:pt x="998" y="537185"/>
                  </a:cubicBezTo>
                  <a:lnTo>
                    <a:pt x="216180" y="18099"/>
                  </a:lnTo>
                  <a:cubicBezTo>
                    <a:pt x="220722" y="7143"/>
                    <a:pt x="231415" y="0"/>
                    <a:pt x="24327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65F8B">
                    <a:alpha val="100000"/>
                  </a:srgbClr>
                </a:gs>
                <a:gs pos="100000">
                  <a:srgbClr val="31427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254000" y="-38100"/>
              <a:ext cx="2739938" cy="5933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715276" y="1910110"/>
            <a:ext cx="9303273" cy="7907782"/>
          </a:xfrm>
          <a:custGeom>
            <a:avLst/>
            <a:gdLst/>
            <a:ahLst/>
            <a:cxnLst/>
            <a:rect r="r" b="b" t="t" l="l"/>
            <a:pathLst>
              <a:path h="7907782" w="9303273">
                <a:moveTo>
                  <a:pt x="0" y="0"/>
                </a:moveTo>
                <a:lnTo>
                  <a:pt x="9303273" y="0"/>
                </a:lnTo>
                <a:lnTo>
                  <a:pt x="9303273" y="7907782"/>
                </a:lnTo>
                <a:lnTo>
                  <a:pt x="0" y="79077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401716"/>
            <a:ext cx="11248011" cy="744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65"/>
              </a:lnSpc>
            </a:pPr>
            <a:r>
              <a:rPr lang="en-US" sz="4227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ANNEXE 6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47371" y="-803050"/>
            <a:ext cx="13607741" cy="2326449"/>
            <a:chOff x="0" y="0"/>
            <a:chExt cx="3247938" cy="5552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505" y="0"/>
              <a:ext cx="3234928" cy="555284"/>
            </a:xfrm>
            <a:custGeom>
              <a:avLst/>
              <a:gdLst/>
              <a:ahLst/>
              <a:cxnLst/>
              <a:rect r="r" b="b" t="t" l="l"/>
              <a:pathLst>
                <a:path h="555284" w="3234928">
                  <a:moveTo>
                    <a:pt x="243275" y="0"/>
                  </a:moveTo>
                  <a:lnTo>
                    <a:pt x="3221841" y="0"/>
                  </a:lnTo>
                  <a:cubicBezTo>
                    <a:pt x="3226212" y="0"/>
                    <a:pt x="3230295" y="2183"/>
                    <a:pt x="3232723" y="5818"/>
                  </a:cubicBezTo>
                  <a:cubicBezTo>
                    <a:pt x="3235152" y="9453"/>
                    <a:pt x="3235604" y="14061"/>
                    <a:pt x="3233930" y="18099"/>
                  </a:cubicBezTo>
                  <a:lnTo>
                    <a:pt x="3018749" y="537185"/>
                  </a:lnTo>
                  <a:cubicBezTo>
                    <a:pt x="3014207" y="548141"/>
                    <a:pt x="3003513" y="555284"/>
                    <a:pt x="2991653" y="555284"/>
                  </a:cubicBezTo>
                  <a:lnTo>
                    <a:pt x="13088" y="555284"/>
                  </a:lnTo>
                  <a:cubicBezTo>
                    <a:pt x="8716" y="555284"/>
                    <a:pt x="4633" y="553101"/>
                    <a:pt x="2205" y="549466"/>
                  </a:cubicBezTo>
                  <a:cubicBezTo>
                    <a:pt x="-223" y="545831"/>
                    <a:pt x="-676" y="541223"/>
                    <a:pt x="998" y="537185"/>
                  </a:cubicBezTo>
                  <a:lnTo>
                    <a:pt x="216180" y="18099"/>
                  </a:lnTo>
                  <a:cubicBezTo>
                    <a:pt x="220722" y="7143"/>
                    <a:pt x="231415" y="0"/>
                    <a:pt x="24327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65F8B">
                    <a:alpha val="100000"/>
                  </a:srgbClr>
                </a:gs>
                <a:gs pos="100000">
                  <a:srgbClr val="31427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254000" y="-38100"/>
              <a:ext cx="2739938" cy="5933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498843" y="2275115"/>
            <a:ext cx="9290314" cy="5736769"/>
          </a:xfrm>
          <a:custGeom>
            <a:avLst/>
            <a:gdLst/>
            <a:ahLst/>
            <a:cxnLst/>
            <a:rect r="r" b="b" t="t" l="l"/>
            <a:pathLst>
              <a:path h="5736769" w="9290314">
                <a:moveTo>
                  <a:pt x="0" y="0"/>
                </a:moveTo>
                <a:lnTo>
                  <a:pt x="9290314" y="0"/>
                </a:lnTo>
                <a:lnTo>
                  <a:pt x="9290314" y="5736770"/>
                </a:lnTo>
                <a:lnTo>
                  <a:pt x="0" y="57367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414542"/>
            <a:ext cx="11248011" cy="744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65"/>
              </a:lnSpc>
            </a:pPr>
            <a:r>
              <a:rPr lang="en-US" sz="4227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ANNEXE 7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47371" y="-803050"/>
            <a:ext cx="13607741" cy="2326449"/>
            <a:chOff x="0" y="0"/>
            <a:chExt cx="3247938" cy="55528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505" y="0"/>
              <a:ext cx="3234928" cy="555284"/>
            </a:xfrm>
            <a:custGeom>
              <a:avLst/>
              <a:gdLst/>
              <a:ahLst/>
              <a:cxnLst/>
              <a:rect r="r" b="b" t="t" l="l"/>
              <a:pathLst>
                <a:path h="555284" w="3234928">
                  <a:moveTo>
                    <a:pt x="243275" y="0"/>
                  </a:moveTo>
                  <a:lnTo>
                    <a:pt x="3221841" y="0"/>
                  </a:lnTo>
                  <a:cubicBezTo>
                    <a:pt x="3226212" y="0"/>
                    <a:pt x="3230295" y="2183"/>
                    <a:pt x="3232723" y="5818"/>
                  </a:cubicBezTo>
                  <a:cubicBezTo>
                    <a:pt x="3235152" y="9453"/>
                    <a:pt x="3235604" y="14061"/>
                    <a:pt x="3233930" y="18099"/>
                  </a:cubicBezTo>
                  <a:lnTo>
                    <a:pt x="3018749" y="537185"/>
                  </a:lnTo>
                  <a:cubicBezTo>
                    <a:pt x="3014207" y="548141"/>
                    <a:pt x="3003513" y="555284"/>
                    <a:pt x="2991653" y="555284"/>
                  </a:cubicBezTo>
                  <a:lnTo>
                    <a:pt x="13088" y="555284"/>
                  </a:lnTo>
                  <a:cubicBezTo>
                    <a:pt x="8716" y="555284"/>
                    <a:pt x="4633" y="553101"/>
                    <a:pt x="2205" y="549466"/>
                  </a:cubicBezTo>
                  <a:cubicBezTo>
                    <a:pt x="-223" y="545831"/>
                    <a:pt x="-676" y="541223"/>
                    <a:pt x="998" y="537185"/>
                  </a:cubicBezTo>
                  <a:lnTo>
                    <a:pt x="216180" y="18099"/>
                  </a:lnTo>
                  <a:cubicBezTo>
                    <a:pt x="220722" y="7143"/>
                    <a:pt x="231415" y="0"/>
                    <a:pt x="24327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565F8B">
                    <a:alpha val="100000"/>
                  </a:srgbClr>
                </a:gs>
                <a:gs pos="100000">
                  <a:srgbClr val="314274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254000" y="-38100"/>
              <a:ext cx="2739938" cy="5933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483724" y="2277430"/>
            <a:ext cx="9320552" cy="5732139"/>
          </a:xfrm>
          <a:custGeom>
            <a:avLst/>
            <a:gdLst/>
            <a:ahLst/>
            <a:cxnLst/>
            <a:rect r="r" b="b" t="t" l="l"/>
            <a:pathLst>
              <a:path h="5732139" w="9320552">
                <a:moveTo>
                  <a:pt x="0" y="0"/>
                </a:moveTo>
                <a:lnTo>
                  <a:pt x="9320552" y="0"/>
                </a:lnTo>
                <a:lnTo>
                  <a:pt x="9320552" y="5732140"/>
                </a:lnTo>
                <a:lnTo>
                  <a:pt x="0" y="57321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401716"/>
            <a:ext cx="11248011" cy="744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665"/>
              </a:lnSpc>
            </a:pPr>
            <a:r>
              <a:rPr lang="en-US" sz="4227">
                <a:solidFill>
                  <a:srgbClr val="FFFFFF"/>
                </a:solidFill>
                <a:latin typeface="Codec Pro"/>
                <a:ea typeface="Codec Pro"/>
                <a:cs typeface="Codec Pro"/>
                <a:sym typeface="Codec Pro"/>
              </a:rPr>
              <a:t>ANNEXE 8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DAHDXYB8L38</dc:identifier>
  <dcterms:modified xsi:type="dcterms:W3CDTF">2011-08-01T06:04:30Z</dcterms:modified>
  <cp:revision>1</cp:revision>
  <dc:title>Présentation industrie moderne</dc:title>
</cp:coreProperties>
</file>