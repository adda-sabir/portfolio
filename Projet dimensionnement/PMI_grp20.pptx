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35"/>
  </p:notesMasterIdLst>
  <p:sldIdLst>
    <p:sldId id="256" r:id="rId2"/>
    <p:sldId id="289" r:id="rId3"/>
    <p:sldId id="290" r:id="rId4"/>
    <p:sldId id="291" r:id="rId5"/>
    <p:sldId id="292" r:id="rId6"/>
    <p:sldId id="257" r:id="rId7"/>
    <p:sldId id="258" r:id="rId8"/>
    <p:sldId id="260" r:id="rId9"/>
    <p:sldId id="267" r:id="rId10"/>
    <p:sldId id="268" r:id="rId11"/>
    <p:sldId id="269" r:id="rId12"/>
    <p:sldId id="263" r:id="rId13"/>
    <p:sldId id="262" r:id="rId14"/>
    <p:sldId id="270" r:id="rId15"/>
    <p:sldId id="272" r:id="rId16"/>
    <p:sldId id="271" r:id="rId17"/>
    <p:sldId id="273" r:id="rId18"/>
    <p:sldId id="266" r:id="rId19"/>
    <p:sldId id="286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7" r:id="rId33"/>
    <p:sldId id="288" r:id="rId3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E63BE6-5486-2358-BFBB-811C77108B8A}" v="13" dt="2025-12-17T09:52:08.221"/>
    <p1510:client id="{F540DE8E-E4E0-4545-B523-46F4C76D0DEE}" v="9" dt="2025-12-18T08:11:49.0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97B9F6-8128-4A27-8DC7-1315B2B2775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0E44B6A-14D9-47ED-B8D3-C1C2C07ED2DE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fr-BE" noProof="0">
              <a:latin typeface="Univers Condensed"/>
            </a:rPr>
            <a:t>Clarification </a:t>
          </a:r>
        </a:p>
      </dgm:t>
    </dgm:pt>
    <dgm:pt modelId="{7B83A8CB-160B-4520-8950-695738C9E627}" type="parTrans" cxnId="{68150243-7518-45EC-811B-98E215B74907}">
      <dgm:prSet/>
      <dgm:spPr/>
    </dgm:pt>
    <dgm:pt modelId="{FAC15967-7796-45F8-9EB8-4394117999C8}" type="sibTrans" cxnId="{68150243-7518-45EC-811B-98E215B74907}">
      <dgm:prSet/>
      <dgm:spPr/>
    </dgm:pt>
    <dgm:pt modelId="{8335A5E8-EC2E-4A3A-928A-D50D8D8D57D6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fr-BE" noProof="0">
              <a:latin typeface="Univers Condensed"/>
            </a:rPr>
            <a:t>Design conceptuel</a:t>
          </a:r>
        </a:p>
      </dgm:t>
    </dgm:pt>
    <dgm:pt modelId="{1FB50C16-FF91-49B1-8771-2F5D17AEE63C}" type="parTrans" cxnId="{BDC749D8-EEC7-4F55-A3CD-5C650B50D5C4}">
      <dgm:prSet/>
      <dgm:spPr/>
    </dgm:pt>
    <dgm:pt modelId="{4A04B33B-0D77-4307-BC49-C5EBAD35AB87}" type="sibTrans" cxnId="{BDC749D8-EEC7-4F55-A3CD-5C650B50D5C4}">
      <dgm:prSet/>
      <dgm:spPr/>
    </dgm:pt>
    <dgm:pt modelId="{6999A80C-2972-40CF-95E3-22B29CD63156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fr-BE" noProof="0">
              <a:latin typeface="Univers Condensed"/>
            </a:rPr>
            <a:t>Design</a:t>
          </a:r>
          <a:endParaRPr lang="fr-BE" noProof="0"/>
        </a:p>
      </dgm:t>
    </dgm:pt>
    <dgm:pt modelId="{0CEFED48-3C88-4EC8-8171-89BF98337AE7}" type="parTrans" cxnId="{05F0E0F2-61B0-48D5-9874-B5ACF829BD97}">
      <dgm:prSet/>
      <dgm:spPr/>
    </dgm:pt>
    <dgm:pt modelId="{A40F156B-9BA7-482C-AD5F-5A5612B44DCC}" type="sibTrans" cxnId="{05F0E0F2-61B0-48D5-9874-B5ACF829BD97}">
      <dgm:prSet/>
      <dgm:spPr/>
    </dgm:pt>
    <dgm:pt modelId="{007227A0-AEF3-4E5A-846A-9F4513A38E43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fr-BE" noProof="0">
              <a:latin typeface="Univers Condensed"/>
            </a:rPr>
            <a:t>Design de détails</a:t>
          </a:r>
        </a:p>
      </dgm:t>
    </dgm:pt>
    <dgm:pt modelId="{ECB26758-CB52-4FC5-8368-7827C7FA443D}" type="parTrans" cxnId="{26848D4F-1E33-4B59-BE20-C0C9F6E9FD66}">
      <dgm:prSet/>
      <dgm:spPr/>
    </dgm:pt>
    <dgm:pt modelId="{C5781395-A59B-42B5-A5D1-64B6037F1C9B}" type="sibTrans" cxnId="{26848D4F-1E33-4B59-BE20-C0C9F6E9FD66}">
      <dgm:prSet/>
      <dgm:spPr/>
    </dgm:pt>
    <dgm:pt modelId="{775C07D5-7C9E-4DB1-88F4-EDB4AD2F6C87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fr-BE" noProof="0">
              <a:latin typeface="Univers Condensed"/>
            </a:rPr>
            <a:t>Fabrication &amp; </a:t>
          </a:r>
          <a:r>
            <a:rPr lang="fr-BE" noProof="0" err="1">
              <a:latin typeface="Univers Condensed"/>
            </a:rPr>
            <a:t>asemblage</a:t>
          </a:r>
          <a:endParaRPr lang="fr-BE" noProof="0"/>
        </a:p>
      </dgm:t>
    </dgm:pt>
    <dgm:pt modelId="{26AD4351-ED73-4989-A74A-20FCED4F19AD}" type="parTrans" cxnId="{B5E0B5D2-B479-416A-AA0B-FE0B57B279D1}">
      <dgm:prSet/>
      <dgm:spPr/>
    </dgm:pt>
    <dgm:pt modelId="{92B822BB-2C18-4C41-9382-7FA36C63B6CF}" type="sibTrans" cxnId="{B5E0B5D2-B479-416A-AA0B-FE0B57B279D1}">
      <dgm:prSet/>
      <dgm:spPr/>
    </dgm:pt>
    <dgm:pt modelId="{24C25ED8-1818-43BC-9362-98D9DE5E6B3A}" type="pres">
      <dgm:prSet presAssocID="{4B97B9F6-8128-4A27-8DC7-1315B2B27758}" presName="root" presStyleCnt="0">
        <dgm:presLayoutVars>
          <dgm:dir/>
          <dgm:resizeHandles val="exact"/>
        </dgm:presLayoutVars>
      </dgm:prSet>
      <dgm:spPr/>
    </dgm:pt>
    <dgm:pt modelId="{6AE3E324-6D09-4A25-8373-4F7527DE8501}" type="pres">
      <dgm:prSet presAssocID="{E0E44B6A-14D9-47ED-B8D3-C1C2C07ED2DE}" presName="compNode" presStyleCnt="0"/>
      <dgm:spPr/>
    </dgm:pt>
    <dgm:pt modelId="{9501E822-1E7D-4DDC-8177-CA7A1A8A8D9A}" type="pres">
      <dgm:prSet presAssocID="{E0E44B6A-14D9-47ED-B8D3-C1C2C07ED2DE}" presName="iconRect" presStyleLbl="node1" presStyleIdx="0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rte-bloc avec un remplissage uni"/>
        </a:ext>
      </dgm:extLst>
    </dgm:pt>
    <dgm:pt modelId="{A21D42B3-93D8-4338-839F-56EC4C15314F}" type="pres">
      <dgm:prSet presAssocID="{E0E44B6A-14D9-47ED-B8D3-C1C2C07ED2DE}" presName="spaceRect" presStyleCnt="0"/>
      <dgm:spPr/>
    </dgm:pt>
    <dgm:pt modelId="{ECF3AB76-DACC-461B-82F3-CCB05FAF5F17}" type="pres">
      <dgm:prSet presAssocID="{E0E44B6A-14D9-47ED-B8D3-C1C2C07ED2DE}" presName="textRect" presStyleLbl="revTx" presStyleIdx="0" presStyleCnt="5">
        <dgm:presLayoutVars>
          <dgm:chMax val="1"/>
          <dgm:chPref val="1"/>
        </dgm:presLayoutVars>
      </dgm:prSet>
      <dgm:spPr/>
    </dgm:pt>
    <dgm:pt modelId="{B84A1C90-7176-47DB-A88B-B2CA73F2ADBD}" type="pres">
      <dgm:prSet presAssocID="{FAC15967-7796-45F8-9EB8-4394117999C8}" presName="sibTrans" presStyleCnt="0"/>
      <dgm:spPr/>
    </dgm:pt>
    <dgm:pt modelId="{A1D34E97-8FB4-4222-A208-81E05946F9B4}" type="pres">
      <dgm:prSet presAssocID="{8335A5E8-EC2E-4A3A-928A-D50D8D8D57D6}" presName="compNode" presStyleCnt="0"/>
      <dgm:spPr/>
    </dgm:pt>
    <dgm:pt modelId="{883428C1-7ACE-43E8-96B0-4ACF2A7DECEC}" type="pres">
      <dgm:prSet presAssocID="{8335A5E8-EC2E-4A3A-928A-D50D8D8D57D6}" presName="iconRect" presStyleLbl="node1" presStyleIdx="1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storming avec un remplissage uni"/>
        </a:ext>
      </dgm:extLst>
    </dgm:pt>
    <dgm:pt modelId="{C37EF194-D102-40DE-A7AB-E77AEB486551}" type="pres">
      <dgm:prSet presAssocID="{8335A5E8-EC2E-4A3A-928A-D50D8D8D57D6}" presName="spaceRect" presStyleCnt="0"/>
      <dgm:spPr/>
    </dgm:pt>
    <dgm:pt modelId="{EE48B061-B365-4600-B37F-593AE32B6AA4}" type="pres">
      <dgm:prSet presAssocID="{8335A5E8-EC2E-4A3A-928A-D50D8D8D57D6}" presName="textRect" presStyleLbl="revTx" presStyleIdx="1" presStyleCnt="5">
        <dgm:presLayoutVars>
          <dgm:chMax val="1"/>
          <dgm:chPref val="1"/>
        </dgm:presLayoutVars>
      </dgm:prSet>
      <dgm:spPr/>
    </dgm:pt>
    <dgm:pt modelId="{A370F9FE-06D4-4C49-9B20-C5F0BEB60C3A}" type="pres">
      <dgm:prSet presAssocID="{4A04B33B-0D77-4307-BC49-C5EBAD35AB87}" presName="sibTrans" presStyleCnt="0"/>
      <dgm:spPr/>
    </dgm:pt>
    <dgm:pt modelId="{94DB25E9-71BE-4223-9F58-D394F317AE6A}" type="pres">
      <dgm:prSet presAssocID="{6999A80C-2972-40CF-95E3-22B29CD63156}" presName="compNode" presStyleCnt="0"/>
      <dgm:spPr/>
    </dgm:pt>
    <dgm:pt modelId="{C5D5DB16-507A-4E3B-8C29-2E22D5582BF2}" type="pres">
      <dgm:prSet presAssocID="{6999A80C-2972-40CF-95E3-22B29CD63156}" presName="iconRect" presStyleLbl="node1" presStyleIdx="2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oiture avec un remplissage uni"/>
        </a:ext>
      </dgm:extLst>
    </dgm:pt>
    <dgm:pt modelId="{A8349885-C105-47CA-A069-4CD4301C164A}" type="pres">
      <dgm:prSet presAssocID="{6999A80C-2972-40CF-95E3-22B29CD63156}" presName="spaceRect" presStyleCnt="0"/>
      <dgm:spPr/>
    </dgm:pt>
    <dgm:pt modelId="{EA0C96AD-45EC-4C09-97FE-64E70094D9FD}" type="pres">
      <dgm:prSet presAssocID="{6999A80C-2972-40CF-95E3-22B29CD63156}" presName="textRect" presStyleLbl="revTx" presStyleIdx="2" presStyleCnt="5">
        <dgm:presLayoutVars>
          <dgm:chMax val="1"/>
          <dgm:chPref val="1"/>
        </dgm:presLayoutVars>
      </dgm:prSet>
      <dgm:spPr/>
    </dgm:pt>
    <dgm:pt modelId="{DBDF8875-DBD6-4585-8668-CB078190746C}" type="pres">
      <dgm:prSet presAssocID="{A40F156B-9BA7-482C-AD5F-5A5612B44DCC}" presName="sibTrans" presStyleCnt="0"/>
      <dgm:spPr/>
    </dgm:pt>
    <dgm:pt modelId="{80BC8756-4EC4-4CF2-9044-AADE22D9545F}" type="pres">
      <dgm:prSet presAssocID="{007227A0-AEF3-4E5A-846A-9F4513A38E43}" presName="compNode" presStyleCnt="0"/>
      <dgm:spPr/>
    </dgm:pt>
    <dgm:pt modelId="{94B248C1-D8D0-483F-9A3B-B534490E1C39}" type="pres">
      <dgm:prSet presAssocID="{007227A0-AEF3-4E5A-846A-9F4513A38E43}" presName="iconRect" presStyleLbl="node1" presStyleIdx="3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s avec un remplissage uni"/>
        </a:ext>
      </dgm:extLst>
    </dgm:pt>
    <dgm:pt modelId="{07ADF05B-F399-427B-9387-46E505DA413F}" type="pres">
      <dgm:prSet presAssocID="{007227A0-AEF3-4E5A-846A-9F4513A38E43}" presName="spaceRect" presStyleCnt="0"/>
      <dgm:spPr/>
    </dgm:pt>
    <dgm:pt modelId="{B2CF6947-D237-4C25-8280-892319D815B8}" type="pres">
      <dgm:prSet presAssocID="{007227A0-AEF3-4E5A-846A-9F4513A38E43}" presName="textRect" presStyleLbl="revTx" presStyleIdx="3" presStyleCnt="5">
        <dgm:presLayoutVars>
          <dgm:chMax val="1"/>
          <dgm:chPref val="1"/>
        </dgm:presLayoutVars>
      </dgm:prSet>
      <dgm:spPr/>
    </dgm:pt>
    <dgm:pt modelId="{70DAE92C-E840-463D-ADCA-006F2B6D15D6}" type="pres">
      <dgm:prSet presAssocID="{C5781395-A59B-42B5-A5D1-64B6037F1C9B}" presName="sibTrans" presStyleCnt="0"/>
      <dgm:spPr/>
    </dgm:pt>
    <dgm:pt modelId="{ECE482B8-8A25-4E84-AD29-2D7F784330D1}" type="pres">
      <dgm:prSet presAssocID="{775C07D5-7C9E-4DB1-88F4-EDB4AD2F6C87}" presName="compNode" presStyleCnt="0"/>
      <dgm:spPr/>
    </dgm:pt>
    <dgm:pt modelId="{44B6D5B2-90EF-49A0-9FF9-09EBAB1BA4D9}" type="pres">
      <dgm:prSet presAssocID="{775C07D5-7C9E-4DB1-88F4-EDB4AD2F6C87}" presName="iconRect" presStyleLbl="node1" presStyleIdx="4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utils avec un remplissage uni"/>
        </a:ext>
      </dgm:extLst>
    </dgm:pt>
    <dgm:pt modelId="{987D5720-253B-44EE-94D2-030B4DAD04DB}" type="pres">
      <dgm:prSet presAssocID="{775C07D5-7C9E-4DB1-88F4-EDB4AD2F6C87}" presName="spaceRect" presStyleCnt="0"/>
      <dgm:spPr/>
    </dgm:pt>
    <dgm:pt modelId="{CB4E73B8-6B39-44E5-9D00-E546342431E4}" type="pres">
      <dgm:prSet presAssocID="{775C07D5-7C9E-4DB1-88F4-EDB4AD2F6C8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3CC5615-5031-4ED7-911A-4547A3D6A0CC}" type="presOf" srcId="{E0E44B6A-14D9-47ED-B8D3-C1C2C07ED2DE}" destId="{ECF3AB76-DACC-461B-82F3-CCB05FAF5F17}" srcOrd="0" destOrd="0" presId="urn:microsoft.com/office/officeart/2018/2/layout/IconLabelList"/>
    <dgm:cxn modelId="{68150243-7518-45EC-811B-98E215B74907}" srcId="{4B97B9F6-8128-4A27-8DC7-1315B2B27758}" destId="{E0E44B6A-14D9-47ED-B8D3-C1C2C07ED2DE}" srcOrd="0" destOrd="0" parTransId="{7B83A8CB-160B-4520-8950-695738C9E627}" sibTransId="{FAC15967-7796-45F8-9EB8-4394117999C8}"/>
    <dgm:cxn modelId="{26848D4F-1E33-4B59-BE20-C0C9F6E9FD66}" srcId="{4B97B9F6-8128-4A27-8DC7-1315B2B27758}" destId="{007227A0-AEF3-4E5A-846A-9F4513A38E43}" srcOrd="3" destOrd="0" parTransId="{ECB26758-CB52-4FC5-8368-7827C7FA443D}" sibTransId="{C5781395-A59B-42B5-A5D1-64B6037F1C9B}"/>
    <dgm:cxn modelId="{C72FE551-800D-4532-892C-2A78FDF6A821}" type="presOf" srcId="{775C07D5-7C9E-4DB1-88F4-EDB4AD2F6C87}" destId="{CB4E73B8-6B39-44E5-9D00-E546342431E4}" srcOrd="0" destOrd="0" presId="urn:microsoft.com/office/officeart/2018/2/layout/IconLabelList"/>
    <dgm:cxn modelId="{DBB1A275-A522-4102-A125-1C6380E6EB8E}" type="presOf" srcId="{007227A0-AEF3-4E5A-846A-9F4513A38E43}" destId="{B2CF6947-D237-4C25-8280-892319D815B8}" srcOrd="0" destOrd="0" presId="urn:microsoft.com/office/officeart/2018/2/layout/IconLabelList"/>
    <dgm:cxn modelId="{9DA52898-ECAC-40EB-B753-840455AE2F02}" type="presOf" srcId="{4B97B9F6-8128-4A27-8DC7-1315B2B27758}" destId="{24C25ED8-1818-43BC-9362-98D9DE5E6B3A}" srcOrd="0" destOrd="0" presId="urn:microsoft.com/office/officeart/2018/2/layout/IconLabelList"/>
    <dgm:cxn modelId="{E75B81CE-0079-46A3-AF48-2AD8095AE2EC}" type="presOf" srcId="{8335A5E8-EC2E-4A3A-928A-D50D8D8D57D6}" destId="{EE48B061-B365-4600-B37F-593AE32B6AA4}" srcOrd="0" destOrd="0" presId="urn:microsoft.com/office/officeart/2018/2/layout/IconLabelList"/>
    <dgm:cxn modelId="{B5E0B5D2-B479-416A-AA0B-FE0B57B279D1}" srcId="{4B97B9F6-8128-4A27-8DC7-1315B2B27758}" destId="{775C07D5-7C9E-4DB1-88F4-EDB4AD2F6C87}" srcOrd="4" destOrd="0" parTransId="{26AD4351-ED73-4989-A74A-20FCED4F19AD}" sibTransId="{92B822BB-2C18-4C41-9382-7FA36C63B6CF}"/>
    <dgm:cxn modelId="{722220D3-A498-4B2A-9052-70606F78D9E0}" type="presOf" srcId="{6999A80C-2972-40CF-95E3-22B29CD63156}" destId="{EA0C96AD-45EC-4C09-97FE-64E70094D9FD}" srcOrd="0" destOrd="0" presId="urn:microsoft.com/office/officeart/2018/2/layout/IconLabelList"/>
    <dgm:cxn modelId="{BDC749D8-EEC7-4F55-A3CD-5C650B50D5C4}" srcId="{4B97B9F6-8128-4A27-8DC7-1315B2B27758}" destId="{8335A5E8-EC2E-4A3A-928A-D50D8D8D57D6}" srcOrd="1" destOrd="0" parTransId="{1FB50C16-FF91-49B1-8771-2F5D17AEE63C}" sibTransId="{4A04B33B-0D77-4307-BC49-C5EBAD35AB87}"/>
    <dgm:cxn modelId="{05F0E0F2-61B0-48D5-9874-B5ACF829BD97}" srcId="{4B97B9F6-8128-4A27-8DC7-1315B2B27758}" destId="{6999A80C-2972-40CF-95E3-22B29CD63156}" srcOrd="2" destOrd="0" parTransId="{0CEFED48-3C88-4EC8-8171-89BF98337AE7}" sibTransId="{A40F156B-9BA7-482C-AD5F-5A5612B44DCC}"/>
    <dgm:cxn modelId="{CA5D4F2A-833E-40E5-ADCE-8D421A81F0E8}" type="presParOf" srcId="{24C25ED8-1818-43BC-9362-98D9DE5E6B3A}" destId="{6AE3E324-6D09-4A25-8373-4F7527DE8501}" srcOrd="0" destOrd="0" presId="urn:microsoft.com/office/officeart/2018/2/layout/IconLabelList"/>
    <dgm:cxn modelId="{E0A115BF-88AC-48EA-AD0F-29289DDCEE18}" type="presParOf" srcId="{6AE3E324-6D09-4A25-8373-4F7527DE8501}" destId="{9501E822-1E7D-4DDC-8177-CA7A1A8A8D9A}" srcOrd="0" destOrd="0" presId="urn:microsoft.com/office/officeart/2018/2/layout/IconLabelList"/>
    <dgm:cxn modelId="{27A4E6D7-708A-4F0C-8FE5-2FE50F374E2B}" type="presParOf" srcId="{6AE3E324-6D09-4A25-8373-4F7527DE8501}" destId="{A21D42B3-93D8-4338-839F-56EC4C15314F}" srcOrd="1" destOrd="0" presId="urn:microsoft.com/office/officeart/2018/2/layout/IconLabelList"/>
    <dgm:cxn modelId="{D2BF8274-BAB5-4AA2-B9DF-A234F41B9399}" type="presParOf" srcId="{6AE3E324-6D09-4A25-8373-4F7527DE8501}" destId="{ECF3AB76-DACC-461B-82F3-CCB05FAF5F17}" srcOrd="2" destOrd="0" presId="urn:microsoft.com/office/officeart/2018/2/layout/IconLabelList"/>
    <dgm:cxn modelId="{BD8F8E6A-F579-4EDE-AFED-4F4FED6BFDA5}" type="presParOf" srcId="{24C25ED8-1818-43BC-9362-98D9DE5E6B3A}" destId="{B84A1C90-7176-47DB-A88B-B2CA73F2ADBD}" srcOrd="1" destOrd="0" presId="urn:microsoft.com/office/officeart/2018/2/layout/IconLabelList"/>
    <dgm:cxn modelId="{AA964D74-B36A-4B87-A0C4-1F79BC8CADFE}" type="presParOf" srcId="{24C25ED8-1818-43BC-9362-98D9DE5E6B3A}" destId="{A1D34E97-8FB4-4222-A208-81E05946F9B4}" srcOrd="2" destOrd="0" presId="urn:microsoft.com/office/officeart/2018/2/layout/IconLabelList"/>
    <dgm:cxn modelId="{EAFC7B17-1D2B-45B7-9FE7-C1E5342D1CC4}" type="presParOf" srcId="{A1D34E97-8FB4-4222-A208-81E05946F9B4}" destId="{883428C1-7ACE-43E8-96B0-4ACF2A7DECEC}" srcOrd="0" destOrd="0" presId="urn:microsoft.com/office/officeart/2018/2/layout/IconLabelList"/>
    <dgm:cxn modelId="{DD91D085-9C61-4339-94ED-818FA3D061B1}" type="presParOf" srcId="{A1D34E97-8FB4-4222-A208-81E05946F9B4}" destId="{C37EF194-D102-40DE-A7AB-E77AEB486551}" srcOrd="1" destOrd="0" presId="urn:microsoft.com/office/officeart/2018/2/layout/IconLabelList"/>
    <dgm:cxn modelId="{D1C87E02-0F26-4B2E-A5D8-F2801A013427}" type="presParOf" srcId="{A1D34E97-8FB4-4222-A208-81E05946F9B4}" destId="{EE48B061-B365-4600-B37F-593AE32B6AA4}" srcOrd="2" destOrd="0" presId="urn:microsoft.com/office/officeart/2018/2/layout/IconLabelList"/>
    <dgm:cxn modelId="{7CB98C05-DF9C-4495-A9EB-2A4513862384}" type="presParOf" srcId="{24C25ED8-1818-43BC-9362-98D9DE5E6B3A}" destId="{A370F9FE-06D4-4C49-9B20-C5F0BEB60C3A}" srcOrd="3" destOrd="0" presId="urn:microsoft.com/office/officeart/2018/2/layout/IconLabelList"/>
    <dgm:cxn modelId="{773A1FAF-B392-4EAC-9077-1447EEDBD684}" type="presParOf" srcId="{24C25ED8-1818-43BC-9362-98D9DE5E6B3A}" destId="{94DB25E9-71BE-4223-9F58-D394F317AE6A}" srcOrd="4" destOrd="0" presId="urn:microsoft.com/office/officeart/2018/2/layout/IconLabelList"/>
    <dgm:cxn modelId="{6C1C1C82-0C2A-451C-B258-7EF8B6D25E98}" type="presParOf" srcId="{94DB25E9-71BE-4223-9F58-D394F317AE6A}" destId="{C5D5DB16-507A-4E3B-8C29-2E22D5582BF2}" srcOrd="0" destOrd="0" presId="urn:microsoft.com/office/officeart/2018/2/layout/IconLabelList"/>
    <dgm:cxn modelId="{9F2E2A18-B381-40D2-B248-1BCC835433C5}" type="presParOf" srcId="{94DB25E9-71BE-4223-9F58-D394F317AE6A}" destId="{A8349885-C105-47CA-A069-4CD4301C164A}" srcOrd="1" destOrd="0" presId="urn:microsoft.com/office/officeart/2018/2/layout/IconLabelList"/>
    <dgm:cxn modelId="{A3E64532-29D2-48B7-A211-ED76356C84D2}" type="presParOf" srcId="{94DB25E9-71BE-4223-9F58-D394F317AE6A}" destId="{EA0C96AD-45EC-4C09-97FE-64E70094D9FD}" srcOrd="2" destOrd="0" presId="urn:microsoft.com/office/officeart/2018/2/layout/IconLabelList"/>
    <dgm:cxn modelId="{C3A95890-7B88-409F-96D1-59C94D721E34}" type="presParOf" srcId="{24C25ED8-1818-43BC-9362-98D9DE5E6B3A}" destId="{DBDF8875-DBD6-4585-8668-CB078190746C}" srcOrd="5" destOrd="0" presId="urn:microsoft.com/office/officeart/2018/2/layout/IconLabelList"/>
    <dgm:cxn modelId="{3CE64C66-9C65-4393-8833-CE24165B9395}" type="presParOf" srcId="{24C25ED8-1818-43BC-9362-98D9DE5E6B3A}" destId="{80BC8756-4EC4-4CF2-9044-AADE22D9545F}" srcOrd="6" destOrd="0" presId="urn:microsoft.com/office/officeart/2018/2/layout/IconLabelList"/>
    <dgm:cxn modelId="{96FF68C6-D532-4980-BDBA-AB69DBE4F037}" type="presParOf" srcId="{80BC8756-4EC4-4CF2-9044-AADE22D9545F}" destId="{94B248C1-D8D0-483F-9A3B-B534490E1C39}" srcOrd="0" destOrd="0" presId="urn:microsoft.com/office/officeart/2018/2/layout/IconLabelList"/>
    <dgm:cxn modelId="{3641A6E3-DED6-479E-B515-3C8D7948CA34}" type="presParOf" srcId="{80BC8756-4EC4-4CF2-9044-AADE22D9545F}" destId="{07ADF05B-F399-427B-9387-46E505DA413F}" srcOrd="1" destOrd="0" presId="urn:microsoft.com/office/officeart/2018/2/layout/IconLabelList"/>
    <dgm:cxn modelId="{8F4D6E83-0110-4C5B-8258-EDB5BFFEA8D9}" type="presParOf" srcId="{80BC8756-4EC4-4CF2-9044-AADE22D9545F}" destId="{B2CF6947-D237-4C25-8280-892319D815B8}" srcOrd="2" destOrd="0" presId="urn:microsoft.com/office/officeart/2018/2/layout/IconLabelList"/>
    <dgm:cxn modelId="{A43C8CC2-7C80-452E-9195-4DC84F084ED0}" type="presParOf" srcId="{24C25ED8-1818-43BC-9362-98D9DE5E6B3A}" destId="{70DAE92C-E840-463D-ADCA-006F2B6D15D6}" srcOrd="7" destOrd="0" presId="urn:microsoft.com/office/officeart/2018/2/layout/IconLabelList"/>
    <dgm:cxn modelId="{B7367440-5978-4805-8C0A-D1CAFC37F54E}" type="presParOf" srcId="{24C25ED8-1818-43BC-9362-98D9DE5E6B3A}" destId="{ECE482B8-8A25-4E84-AD29-2D7F784330D1}" srcOrd="8" destOrd="0" presId="urn:microsoft.com/office/officeart/2018/2/layout/IconLabelList"/>
    <dgm:cxn modelId="{36292E70-4099-44F1-AEDA-A9C89F63AB60}" type="presParOf" srcId="{ECE482B8-8A25-4E84-AD29-2D7F784330D1}" destId="{44B6D5B2-90EF-49A0-9FF9-09EBAB1BA4D9}" srcOrd="0" destOrd="0" presId="urn:microsoft.com/office/officeart/2018/2/layout/IconLabelList"/>
    <dgm:cxn modelId="{351ED16C-7B8C-458E-A2C3-306DDC623F0C}" type="presParOf" srcId="{ECE482B8-8A25-4E84-AD29-2D7F784330D1}" destId="{987D5720-253B-44EE-94D2-030B4DAD04DB}" srcOrd="1" destOrd="0" presId="urn:microsoft.com/office/officeart/2018/2/layout/IconLabelList"/>
    <dgm:cxn modelId="{6224521F-BAD1-4EED-9A77-1995C3B3DF66}" type="presParOf" srcId="{ECE482B8-8A25-4E84-AD29-2D7F784330D1}" destId="{CB4E73B8-6B39-44E5-9D00-E546342431E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CAF8203-01B1-4092-8C4B-CE59FF86FE6D}" type="doc">
      <dgm:prSet loTypeId="urn:microsoft.com/office/officeart/2005/8/layout/pList1" loCatId="picture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fr-BE"/>
        </a:p>
      </dgm:t>
    </dgm:pt>
    <dgm:pt modelId="{F836B048-AE41-4421-B270-E15A3052EC82}">
      <dgm:prSet phldrT="[Texte]" phldr="0"/>
      <dgm:spPr/>
      <dgm:t>
        <a:bodyPr/>
        <a:lstStyle/>
        <a:p>
          <a:r>
            <a:rPr lang="fr-BE"/>
            <a:t>Vérification du flambement des profilés</a:t>
          </a:r>
        </a:p>
      </dgm:t>
    </dgm:pt>
    <dgm:pt modelId="{3582671C-7D55-4955-81E3-CB159E50251A}" type="parTrans" cxnId="{B5C60CAC-CB5C-444E-A4AC-EF7396650CCD}">
      <dgm:prSet/>
      <dgm:spPr/>
      <dgm:t>
        <a:bodyPr/>
        <a:lstStyle/>
        <a:p>
          <a:endParaRPr lang="fr-BE"/>
        </a:p>
      </dgm:t>
    </dgm:pt>
    <dgm:pt modelId="{AEBAB7A9-B81A-43A8-B134-7871BE33BF19}" type="sibTrans" cxnId="{B5C60CAC-CB5C-444E-A4AC-EF7396650CCD}">
      <dgm:prSet/>
      <dgm:spPr/>
      <dgm:t>
        <a:bodyPr/>
        <a:lstStyle/>
        <a:p>
          <a:endParaRPr lang="fr-BE"/>
        </a:p>
      </dgm:t>
    </dgm:pt>
    <dgm:pt modelId="{A4BC5A12-34A8-427F-876A-E7D119F166C5}">
      <dgm:prSet phldrT="[Texte]" phldr="0"/>
      <dgm:spPr/>
      <dgm:t>
        <a:bodyPr/>
        <a:lstStyle/>
        <a:p>
          <a:r>
            <a:rPr lang="fr-BE"/>
            <a:t>Doit supporter 2640 N</a:t>
          </a:r>
        </a:p>
      </dgm:t>
    </dgm:pt>
    <dgm:pt modelId="{E3F853F0-A37A-41A6-A121-17C0F517481E}" type="parTrans" cxnId="{8EA0E53A-1B07-4265-B433-12AA726C03DB}">
      <dgm:prSet/>
      <dgm:spPr/>
      <dgm:t>
        <a:bodyPr/>
        <a:lstStyle/>
        <a:p>
          <a:endParaRPr lang="fr-BE"/>
        </a:p>
      </dgm:t>
    </dgm:pt>
    <dgm:pt modelId="{5C980521-C697-45FF-BEBD-E1256BA7288D}" type="sibTrans" cxnId="{8EA0E53A-1B07-4265-B433-12AA726C03DB}">
      <dgm:prSet/>
      <dgm:spPr/>
      <dgm:t>
        <a:bodyPr/>
        <a:lstStyle/>
        <a:p>
          <a:endParaRPr lang="fr-BE"/>
        </a:p>
      </dgm:t>
    </dgm:pt>
    <dgm:pt modelId="{877D7DBB-3B3F-44A2-89AA-715B84E4EE1E}">
      <dgm:prSet phldrT="[Texte]" phldr="0"/>
      <dgm:spPr/>
      <dgm:t>
        <a:bodyPr/>
        <a:lstStyle/>
        <a:p>
          <a:r>
            <a:rPr lang="fr-BE"/>
            <a:t>Dimensionnement des barres &amp; arbres</a:t>
          </a:r>
        </a:p>
      </dgm:t>
    </dgm:pt>
    <dgm:pt modelId="{BA68F62A-8AC4-478B-9779-C38D277E4BBE}" type="parTrans" cxnId="{B11EC837-175F-4CB0-90BD-059B4C3E55AB}">
      <dgm:prSet/>
      <dgm:spPr/>
      <dgm:t>
        <a:bodyPr/>
        <a:lstStyle/>
        <a:p>
          <a:endParaRPr lang="fr-BE"/>
        </a:p>
      </dgm:t>
    </dgm:pt>
    <dgm:pt modelId="{4BAC6969-D0BC-4A32-AAD5-BCE3A5432B8C}" type="sibTrans" cxnId="{B11EC837-175F-4CB0-90BD-059B4C3E55AB}">
      <dgm:prSet/>
      <dgm:spPr/>
      <dgm:t>
        <a:bodyPr/>
        <a:lstStyle/>
        <a:p>
          <a:endParaRPr lang="fr-BE"/>
        </a:p>
      </dgm:t>
    </dgm:pt>
    <dgm:pt modelId="{DEE46030-362C-4807-97B7-AFA1AFC13FA9}">
      <dgm:prSet phldrT="[Texte]" phldr="0"/>
      <dgm:spPr/>
      <dgm:t>
        <a:bodyPr/>
        <a:lstStyle/>
        <a:p>
          <a:r>
            <a:rPr lang="fr-BE"/>
            <a:t>Diamètre de 40mm</a:t>
          </a:r>
        </a:p>
      </dgm:t>
    </dgm:pt>
    <dgm:pt modelId="{91490F4C-E3BC-408F-A026-195A3F179E9B}" type="parTrans" cxnId="{DF220E11-8FF5-41FA-95A8-9FC925246E77}">
      <dgm:prSet/>
      <dgm:spPr/>
      <dgm:t>
        <a:bodyPr/>
        <a:lstStyle/>
        <a:p>
          <a:endParaRPr lang="fr-BE"/>
        </a:p>
      </dgm:t>
    </dgm:pt>
    <dgm:pt modelId="{EF4F4389-424D-42CD-A941-1CA35C235073}" type="sibTrans" cxnId="{DF220E11-8FF5-41FA-95A8-9FC925246E77}">
      <dgm:prSet/>
      <dgm:spPr/>
      <dgm:t>
        <a:bodyPr/>
        <a:lstStyle/>
        <a:p>
          <a:endParaRPr lang="fr-BE"/>
        </a:p>
      </dgm:t>
    </dgm:pt>
    <dgm:pt modelId="{28F34477-C76C-4946-8AED-A873E037557B}">
      <dgm:prSet phldrT="[Texte]" phldr="0"/>
      <dgm:spPr/>
      <dgm:t>
        <a:bodyPr/>
        <a:lstStyle/>
        <a:p>
          <a:r>
            <a:rPr lang="fr-BE"/>
            <a:t>Étude du système de transmission</a:t>
          </a:r>
        </a:p>
      </dgm:t>
    </dgm:pt>
    <dgm:pt modelId="{3B76A358-9F0C-47A7-9BBA-C74C4E5ADACF}" type="parTrans" cxnId="{476DE382-4F3F-4857-BFDB-5D2015191EEA}">
      <dgm:prSet/>
      <dgm:spPr/>
      <dgm:t>
        <a:bodyPr/>
        <a:lstStyle/>
        <a:p>
          <a:endParaRPr lang="fr-BE"/>
        </a:p>
      </dgm:t>
    </dgm:pt>
    <dgm:pt modelId="{F1F1A39D-CB30-4C8A-8B7F-41151E7DC9DF}" type="sibTrans" cxnId="{476DE382-4F3F-4857-BFDB-5D2015191EEA}">
      <dgm:prSet/>
      <dgm:spPr/>
      <dgm:t>
        <a:bodyPr/>
        <a:lstStyle/>
        <a:p>
          <a:endParaRPr lang="fr-BE"/>
        </a:p>
      </dgm:t>
    </dgm:pt>
    <dgm:pt modelId="{A1DAB3E1-0557-40CC-9A4D-6A74FC8B2867}">
      <dgm:prSet phldrT="[Texte]" phldr="0"/>
      <dgm:spPr/>
      <dgm:t>
        <a:bodyPr/>
        <a:lstStyle/>
        <a:p>
          <a:r>
            <a:rPr lang="fr-BE"/>
            <a:t>Rapport de 4.12</a:t>
          </a:r>
        </a:p>
      </dgm:t>
    </dgm:pt>
    <dgm:pt modelId="{1C515BBC-8AC7-477C-9CC9-0B61F3945A2E}" type="parTrans" cxnId="{C3A638BC-8685-4706-8C30-48D5EC617394}">
      <dgm:prSet/>
      <dgm:spPr/>
      <dgm:t>
        <a:bodyPr/>
        <a:lstStyle/>
        <a:p>
          <a:endParaRPr lang="fr-BE"/>
        </a:p>
      </dgm:t>
    </dgm:pt>
    <dgm:pt modelId="{EB769095-43E1-4830-9A1F-6987168D2C44}" type="sibTrans" cxnId="{C3A638BC-8685-4706-8C30-48D5EC617394}">
      <dgm:prSet/>
      <dgm:spPr/>
      <dgm:t>
        <a:bodyPr/>
        <a:lstStyle/>
        <a:p>
          <a:endParaRPr lang="fr-BE"/>
        </a:p>
      </dgm:t>
    </dgm:pt>
    <dgm:pt modelId="{C9CBB6B2-5847-4911-BE66-2D9B2024B49E}" type="pres">
      <dgm:prSet presAssocID="{ACAF8203-01B1-4092-8C4B-CE59FF86FE6D}" presName="Name0" presStyleCnt="0">
        <dgm:presLayoutVars>
          <dgm:dir/>
          <dgm:resizeHandles val="exact"/>
        </dgm:presLayoutVars>
      </dgm:prSet>
      <dgm:spPr/>
    </dgm:pt>
    <dgm:pt modelId="{02D17E63-E4AF-4B90-8D25-D0B56058DF3F}" type="pres">
      <dgm:prSet presAssocID="{F836B048-AE41-4421-B270-E15A3052EC82}" presName="compNode" presStyleCnt="0"/>
      <dgm:spPr/>
    </dgm:pt>
    <dgm:pt modelId="{758E196A-C594-44E6-BEA9-24AB54FE88DD}" type="pres">
      <dgm:prSet presAssocID="{F836B048-AE41-4421-B270-E15A3052EC82}" presName="pictRect" presStyleLbl="node1" presStyleIdx="0" presStyleCnt="3"/>
      <dgm:spPr>
        <a:blipFill dpi="0" rotWithShape="1">
          <a:blip xmlns:r="http://schemas.openxmlformats.org/officeDocument/2006/relationships" r:embed="rId1"/>
          <a:srcRect/>
          <a:stretch>
            <a:fillRect l="2932" t="4516" r="3983" b="2399"/>
          </a:stretch>
        </a:blipFill>
      </dgm:spPr>
    </dgm:pt>
    <dgm:pt modelId="{5316DA42-F407-48B1-9FFF-6114ACED3F96}" type="pres">
      <dgm:prSet presAssocID="{F836B048-AE41-4421-B270-E15A3052EC82}" presName="textRect" presStyleLbl="revTx" presStyleIdx="0" presStyleCnt="3">
        <dgm:presLayoutVars>
          <dgm:bulletEnabled val="1"/>
        </dgm:presLayoutVars>
      </dgm:prSet>
      <dgm:spPr/>
    </dgm:pt>
    <dgm:pt modelId="{08322A9B-8823-4353-B5D8-8F22202C5E3A}" type="pres">
      <dgm:prSet presAssocID="{AEBAB7A9-B81A-43A8-B134-7871BE33BF19}" presName="sibTrans" presStyleLbl="sibTrans2D1" presStyleIdx="0" presStyleCnt="0"/>
      <dgm:spPr/>
    </dgm:pt>
    <dgm:pt modelId="{DADEF676-6BBA-45DB-AE9B-7E4A5D0D73BF}" type="pres">
      <dgm:prSet presAssocID="{877D7DBB-3B3F-44A2-89AA-715B84E4EE1E}" presName="compNode" presStyleCnt="0"/>
      <dgm:spPr/>
    </dgm:pt>
    <dgm:pt modelId="{04785D8D-6542-436B-8F7E-F9F234D03105}" type="pres">
      <dgm:prSet presAssocID="{877D7DBB-3B3F-44A2-89AA-715B84E4EE1E}" presName="pictRect" presStyleLbl="node1" presStyleIdx="1" presStyleCnt="3"/>
      <dgm:spPr>
        <a:blipFill dpi="0" rotWithShape="1">
          <a:blip xmlns:r="http://schemas.openxmlformats.org/officeDocument/2006/relationships" r:embed="rId2"/>
          <a:srcRect/>
          <a:stretch>
            <a:fillRect l="1791" t="1724" r="1775" b="5551"/>
          </a:stretch>
        </a:blipFill>
      </dgm:spPr>
    </dgm:pt>
    <dgm:pt modelId="{A51613AC-6982-46F0-8786-204DABE7A584}" type="pres">
      <dgm:prSet presAssocID="{877D7DBB-3B3F-44A2-89AA-715B84E4EE1E}" presName="textRect" presStyleLbl="revTx" presStyleIdx="1" presStyleCnt="3">
        <dgm:presLayoutVars>
          <dgm:bulletEnabled val="1"/>
        </dgm:presLayoutVars>
      </dgm:prSet>
      <dgm:spPr/>
    </dgm:pt>
    <dgm:pt modelId="{F28FC6E9-1ACC-43F5-AAF6-DD42F64F79B6}" type="pres">
      <dgm:prSet presAssocID="{4BAC6969-D0BC-4A32-AAD5-BCE3A5432B8C}" presName="sibTrans" presStyleLbl="sibTrans2D1" presStyleIdx="0" presStyleCnt="0"/>
      <dgm:spPr/>
    </dgm:pt>
    <dgm:pt modelId="{2BFDF962-CDB4-4C18-9038-FCF232FF3521}" type="pres">
      <dgm:prSet presAssocID="{28F34477-C76C-4946-8AED-A873E037557B}" presName="compNode" presStyleCnt="0"/>
      <dgm:spPr/>
    </dgm:pt>
    <dgm:pt modelId="{22A6E039-6B4F-47F2-A12F-E0AF1E45A24C}" type="pres">
      <dgm:prSet presAssocID="{28F34477-C76C-4946-8AED-A873E037557B}" presName="pictRect" presStyleLbl="node1" presStyleIdx="2" presStyleCnt="3"/>
      <dgm:spPr>
        <a:blipFill dpi="0" rotWithShape="1">
          <a:blip xmlns:r="http://schemas.openxmlformats.org/officeDocument/2006/relationships" r:embed="rId3"/>
          <a:srcRect/>
          <a:stretch>
            <a:fillRect l="24072" t="781" r="25716" b="1806"/>
          </a:stretch>
        </a:blipFill>
      </dgm:spPr>
    </dgm:pt>
    <dgm:pt modelId="{44883642-92B0-4EE7-8A27-FAE298D6A8D9}" type="pres">
      <dgm:prSet presAssocID="{28F34477-C76C-4946-8AED-A873E037557B}" presName="textRect" presStyleLbl="revTx" presStyleIdx="2" presStyleCnt="3">
        <dgm:presLayoutVars>
          <dgm:bulletEnabled val="1"/>
        </dgm:presLayoutVars>
      </dgm:prSet>
      <dgm:spPr/>
    </dgm:pt>
  </dgm:ptLst>
  <dgm:cxnLst>
    <dgm:cxn modelId="{DF220E11-8FF5-41FA-95A8-9FC925246E77}" srcId="{877D7DBB-3B3F-44A2-89AA-715B84E4EE1E}" destId="{DEE46030-362C-4807-97B7-AFA1AFC13FA9}" srcOrd="0" destOrd="0" parTransId="{91490F4C-E3BC-408F-A026-195A3F179E9B}" sibTransId="{EF4F4389-424D-42CD-A941-1CA35C235073}"/>
    <dgm:cxn modelId="{B11EC837-175F-4CB0-90BD-059B4C3E55AB}" srcId="{ACAF8203-01B1-4092-8C4B-CE59FF86FE6D}" destId="{877D7DBB-3B3F-44A2-89AA-715B84E4EE1E}" srcOrd="1" destOrd="0" parTransId="{BA68F62A-8AC4-478B-9779-C38D277E4BBE}" sibTransId="{4BAC6969-D0BC-4A32-AAD5-BCE3A5432B8C}"/>
    <dgm:cxn modelId="{8EA0E53A-1B07-4265-B433-12AA726C03DB}" srcId="{F836B048-AE41-4421-B270-E15A3052EC82}" destId="{A4BC5A12-34A8-427F-876A-E7D119F166C5}" srcOrd="0" destOrd="0" parTransId="{E3F853F0-A37A-41A6-A121-17C0F517481E}" sibTransId="{5C980521-C697-45FF-BEBD-E1256BA7288D}"/>
    <dgm:cxn modelId="{E0837F3C-3252-44E8-A288-1E7F984A6EBB}" type="presOf" srcId="{F836B048-AE41-4421-B270-E15A3052EC82}" destId="{5316DA42-F407-48B1-9FFF-6114ACED3F96}" srcOrd="0" destOrd="0" presId="urn:microsoft.com/office/officeart/2005/8/layout/pList1"/>
    <dgm:cxn modelId="{8054705C-C35A-4AFC-AC0C-498C96519BD3}" type="presOf" srcId="{877D7DBB-3B3F-44A2-89AA-715B84E4EE1E}" destId="{A51613AC-6982-46F0-8786-204DABE7A584}" srcOrd="0" destOrd="0" presId="urn:microsoft.com/office/officeart/2005/8/layout/pList1"/>
    <dgm:cxn modelId="{14C41F5E-9552-4886-8220-A464024AD4AB}" type="presOf" srcId="{4BAC6969-D0BC-4A32-AAD5-BCE3A5432B8C}" destId="{F28FC6E9-1ACC-43F5-AAF6-DD42F64F79B6}" srcOrd="0" destOrd="0" presId="urn:microsoft.com/office/officeart/2005/8/layout/pList1"/>
    <dgm:cxn modelId="{43AE0864-D81F-46F6-BF5D-8FE8C2237A36}" type="presOf" srcId="{28F34477-C76C-4946-8AED-A873E037557B}" destId="{44883642-92B0-4EE7-8A27-FAE298D6A8D9}" srcOrd="0" destOrd="0" presId="urn:microsoft.com/office/officeart/2005/8/layout/pList1"/>
    <dgm:cxn modelId="{8609B550-8C5B-4A7F-9D88-05600E01B53A}" type="presOf" srcId="{AEBAB7A9-B81A-43A8-B134-7871BE33BF19}" destId="{08322A9B-8823-4353-B5D8-8F22202C5E3A}" srcOrd="0" destOrd="0" presId="urn:microsoft.com/office/officeart/2005/8/layout/pList1"/>
    <dgm:cxn modelId="{86562F81-6A16-4ECD-BFCA-DBDDFD2F7BCB}" type="presOf" srcId="{A1DAB3E1-0557-40CC-9A4D-6A74FC8B2867}" destId="{44883642-92B0-4EE7-8A27-FAE298D6A8D9}" srcOrd="0" destOrd="1" presId="urn:microsoft.com/office/officeart/2005/8/layout/pList1"/>
    <dgm:cxn modelId="{476DE382-4F3F-4857-BFDB-5D2015191EEA}" srcId="{ACAF8203-01B1-4092-8C4B-CE59FF86FE6D}" destId="{28F34477-C76C-4946-8AED-A873E037557B}" srcOrd="2" destOrd="0" parTransId="{3B76A358-9F0C-47A7-9BBA-C74C4E5ADACF}" sibTransId="{F1F1A39D-CB30-4C8A-8B7F-41151E7DC9DF}"/>
    <dgm:cxn modelId="{83D8B193-14B7-472A-B46D-4D44C024D7B8}" type="presOf" srcId="{A4BC5A12-34A8-427F-876A-E7D119F166C5}" destId="{5316DA42-F407-48B1-9FFF-6114ACED3F96}" srcOrd="0" destOrd="1" presId="urn:microsoft.com/office/officeart/2005/8/layout/pList1"/>
    <dgm:cxn modelId="{2D323A98-5371-46F1-BD39-C0441D6DDCC7}" type="presOf" srcId="{ACAF8203-01B1-4092-8C4B-CE59FF86FE6D}" destId="{C9CBB6B2-5847-4911-BE66-2D9B2024B49E}" srcOrd="0" destOrd="0" presId="urn:microsoft.com/office/officeart/2005/8/layout/pList1"/>
    <dgm:cxn modelId="{B5C60CAC-CB5C-444E-A4AC-EF7396650CCD}" srcId="{ACAF8203-01B1-4092-8C4B-CE59FF86FE6D}" destId="{F836B048-AE41-4421-B270-E15A3052EC82}" srcOrd="0" destOrd="0" parTransId="{3582671C-7D55-4955-81E3-CB159E50251A}" sibTransId="{AEBAB7A9-B81A-43A8-B134-7871BE33BF19}"/>
    <dgm:cxn modelId="{C3A638BC-8685-4706-8C30-48D5EC617394}" srcId="{28F34477-C76C-4946-8AED-A873E037557B}" destId="{A1DAB3E1-0557-40CC-9A4D-6A74FC8B2867}" srcOrd="0" destOrd="0" parTransId="{1C515BBC-8AC7-477C-9CC9-0B61F3945A2E}" sibTransId="{EB769095-43E1-4830-9A1F-6987168D2C44}"/>
    <dgm:cxn modelId="{A50949BE-26AF-4203-BA1C-4A2BC98697E9}" type="presOf" srcId="{DEE46030-362C-4807-97B7-AFA1AFC13FA9}" destId="{A51613AC-6982-46F0-8786-204DABE7A584}" srcOrd="0" destOrd="1" presId="urn:microsoft.com/office/officeart/2005/8/layout/pList1"/>
    <dgm:cxn modelId="{26A3252F-DA4D-46EB-90D6-C984313469EF}" type="presParOf" srcId="{C9CBB6B2-5847-4911-BE66-2D9B2024B49E}" destId="{02D17E63-E4AF-4B90-8D25-D0B56058DF3F}" srcOrd="0" destOrd="0" presId="urn:microsoft.com/office/officeart/2005/8/layout/pList1"/>
    <dgm:cxn modelId="{BE608F9F-62AD-4018-9789-F99B36ADFDB9}" type="presParOf" srcId="{02D17E63-E4AF-4B90-8D25-D0B56058DF3F}" destId="{758E196A-C594-44E6-BEA9-24AB54FE88DD}" srcOrd="0" destOrd="0" presId="urn:microsoft.com/office/officeart/2005/8/layout/pList1"/>
    <dgm:cxn modelId="{427DB9A5-A106-4C3E-9071-2B459BDE4CF5}" type="presParOf" srcId="{02D17E63-E4AF-4B90-8D25-D0B56058DF3F}" destId="{5316DA42-F407-48B1-9FFF-6114ACED3F96}" srcOrd="1" destOrd="0" presId="urn:microsoft.com/office/officeart/2005/8/layout/pList1"/>
    <dgm:cxn modelId="{8AFBD172-2BE8-442F-A492-A139793395A3}" type="presParOf" srcId="{C9CBB6B2-5847-4911-BE66-2D9B2024B49E}" destId="{08322A9B-8823-4353-B5D8-8F22202C5E3A}" srcOrd="1" destOrd="0" presId="urn:microsoft.com/office/officeart/2005/8/layout/pList1"/>
    <dgm:cxn modelId="{BABC5D16-6CC0-4810-A9E8-9E5D38BA9030}" type="presParOf" srcId="{C9CBB6B2-5847-4911-BE66-2D9B2024B49E}" destId="{DADEF676-6BBA-45DB-AE9B-7E4A5D0D73BF}" srcOrd="2" destOrd="0" presId="urn:microsoft.com/office/officeart/2005/8/layout/pList1"/>
    <dgm:cxn modelId="{849BCCA2-9AD2-403C-858A-2874313088D9}" type="presParOf" srcId="{DADEF676-6BBA-45DB-AE9B-7E4A5D0D73BF}" destId="{04785D8D-6542-436B-8F7E-F9F234D03105}" srcOrd="0" destOrd="0" presId="urn:microsoft.com/office/officeart/2005/8/layout/pList1"/>
    <dgm:cxn modelId="{C84F08F7-E3C1-4C92-A3EF-A2BBE614AE52}" type="presParOf" srcId="{DADEF676-6BBA-45DB-AE9B-7E4A5D0D73BF}" destId="{A51613AC-6982-46F0-8786-204DABE7A584}" srcOrd="1" destOrd="0" presId="urn:microsoft.com/office/officeart/2005/8/layout/pList1"/>
    <dgm:cxn modelId="{25C4E17D-1F4A-4F6A-9F20-DD63A9CE4A45}" type="presParOf" srcId="{C9CBB6B2-5847-4911-BE66-2D9B2024B49E}" destId="{F28FC6E9-1ACC-43F5-AAF6-DD42F64F79B6}" srcOrd="3" destOrd="0" presId="urn:microsoft.com/office/officeart/2005/8/layout/pList1"/>
    <dgm:cxn modelId="{CD9C2735-625A-4177-8CC1-41D1318E35FA}" type="presParOf" srcId="{C9CBB6B2-5847-4911-BE66-2D9B2024B49E}" destId="{2BFDF962-CDB4-4C18-9038-FCF232FF3521}" srcOrd="4" destOrd="0" presId="urn:microsoft.com/office/officeart/2005/8/layout/pList1"/>
    <dgm:cxn modelId="{AFFCAC25-437B-4DF7-B5F6-8BDAF2EFDF9E}" type="presParOf" srcId="{2BFDF962-CDB4-4C18-9038-FCF232FF3521}" destId="{22A6E039-6B4F-47F2-A12F-E0AF1E45A24C}" srcOrd="0" destOrd="0" presId="urn:microsoft.com/office/officeart/2005/8/layout/pList1"/>
    <dgm:cxn modelId="{11F0DEB8-FD66-4849-A545-257C383551CA}" type="presParOf" srcId="{2BFDF962-CDB4-4C18-9038-FCF232FF3521}" destId="{44883642-92B0-4EE7-8A27-FAE298D6A8D9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01E822-1E7D-4DDC-8177-CA7A1A8A8D9A}">
      <dsp:nvSpPr>
        <dsp:cNvPr id="0" name=""/>
        <dsp:cNvSpPr/>
      </dsp:nvSpPr>
      <dsp:spPr>
        <a:xfrm>
          <a:off x="710905" y="96996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F3AB76-DACC-461B-82F3-CCB05FAF5F17}">
      <dsp:nvSpPr>
        <dsp:cNvPr id="0" name=""/>
        <dsp:cNvSpPr/>
      </dsp:nvSpPr>
      <dsp:spPr>
        <a:xfrm>
          <a:off x="215905" y="205018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2200" kern="1200" noProof="0">
              <a:latin typeface="Univers Condensed"/>
            </a:rPr>
            <a:t>Clarification </a:t>
          </a:r>
        </a:p>
      </dsp:txBody>
      <dsp:txXfrm>
        <a:off x="215905" y="2050180"/>
        <a:ext cx="1800000" cy="720000"/>
      </dsp:txXfrm>
    </dsp:sp>
    <dsp:sp modelId="{883428C1-7ACE-43E8-96B0-4ACF2A7DECEC}">
      <dsp:nvSpPr>
        <dsp:cNvPr id="0" name=""/>
        <dsp:cNvSpPr/>
      </dsp:nvSpPr>
      <dsp:spPr>
        <a:xfrm>
          <a:off x="2825905" y="96996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48B061-B365-4600-B37F-593AE32B6AA4}">
      <dsp:nvSpPr>
        <dsp:cNvPr id="0" name=""/>
        <dsp:cNvSpPr/>
      </dsp:nvSpPr>
      <dsp:spPr>
        <a:xfrm>
          <a:off x="2330905" y="205018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2200" kern="1200" noProof="0">
              <a:latin typeface="Univers Condensed"/>
            </a:rPr>
            <a:t>Design conceptuel</a:t>
          </a:r>
        </a:p>
      </dsp:txBody>
      <dsp:txXfrm>
        <a:off x="2330905" y="2050180"/>
        <a:ext cx="1800000" cy="720000"/>
      </dsp:txXfrm>
    </dsp:sp>
    <dsp:sp modelId="{C5D5DB16-507A-4E3B-8C29-2E22D5582BF2}">
      <dsp:nvSpPr>
        <dsp:cNvPr id="0" name=""/>
        <dsp:cNvSpPr/>
      </dsp:nvSpPr>
      <dsp:spPr>
        <a:xfrm>
          <a:off x="4940905" y="96996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0C96AD-45EC-4C09-97FE-64E70094D9FD}">
      <dsp:nvSpPr>
        <dsp:cNvPr id="0" name=""/>
        <dsp:cNvSpPr/>
      </dsp:nvSpPr>
      <dsp:spPr>
        <a:xfrm>
          <a:off x="4445905" y="205018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2200" kern="1200" noProof="0">
              <a:latin typeface="Univers Condensed"/>
            </a:rPr>
            <a:t>Design</a:t>
          </a:r>
          <a:endParaRPr lang="fr-BE" sz="2200" kern="1200" noProof="0"/>
        </a:p>
      </dsp:txBody>
      <dsp:txXfrm>
        <a:off x="4445905" y="2050180"/>
        <a:ext cx="1800000" cy="720000"/>
      </dsp:txXfrm>
    </dsp:sp>
    <dsp:sp modelId="{94B248C1-D8D0-483F-9A3B-B534490E1C39}">
      <dsp:nvSpPr>
        <dsp:cNvPr id="0" name=""/>
        <dsp:cNvSpPr/>
      </dsp:nvSpPr>
      <dsp:spPr>
        <a:xfrm>
          <a:off x="7055906" y="96996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CF6947-D237-4C25-8280-892319D815B8}">
      <dsp:nvSpPr>
        <dsp:cNvPr id="0" name=""/>
        <dsp:cNvSpPr/>
      </dsp:nvSpPr>
      <dsp:spPr>
        <a:xfrm>
          <a:off x="6560905" y="205018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2200" kern="1200" noProof="0">
              <a:latin typeface="Univers Condensed"/>
            </a:rPr>
            <a:t>Design de détails</a:t>
          </a:r>
        </a:p>
      </dsp:txBody>
      <dsp:txXfrm>
        <a:off x="6560905" y="2050180"/>
        <a:ext cx="1800000" cy="720000"/>
      </dsp:txXfrm>
    </dsp:sp>
    <dsp:sp modelId="{44B6D5B2-90EF-49A0-9FF9-09EBAB1BA4D9}">
      <dsp:nvSpPr>
        <dsp:cNvPr id="0" name=""/>
        <dsp:cNvSpPr/>
      </dsp:nvSpPr>
      <dsp:spPr>
        <a:xfrm>
          <a:off x="9170906" y="96996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4E73B8-6B39-44E5-9D00-E546342431E4}">
      <dsp:nvSpPr>
        <dsp:cNvPr id="0" name=""/>
        <dsp:cNvSpPr/>
      </dsp:nvSpPr>
      <dsp:spPr>
        <a:xfrm>
          <a:off x="8675906" y="205018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2200" kern="1200" noProof="0">
              <a:latin typeface="Univers Condensed"/>
            </a:rPr>
            <a:t>Fabrication &amp; </a:t>
          </a:r>
          <a:r>
            <a:rPr lang="fr-BE" sz="2200" kern="1200" noProof="0" err="1">
              <a:latin typeface="Univers Condensed"/>
            </a:rPr>
            <a:t>asemblage</a:t>
          </a:r>
          <a:endParaRPr lang="fr-BE" sz="2200" kern="1200" noProof="0"/>
        </a:p>
      </dsp:txBody>
      <dsp:txXfrm>
        <a:off x="8675906" y="2050180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8E196A-C594-44E6-BEA9-24AB54FE88DD}">
      <dsp:nvSpPr>
        <dsp:cNvPr id="0" name=""/>
        <dsp:cNvSpPr/>
      </dsp:nvSpPr>
      <dsp:spPr>
        <a:xfrm>
          <a:off x="2104" y="99987"/>
          <a:ext cx="3339787" cy="2301113"/>
        </a:xfrm>
        <a:prstGeom prst="roundRect">
          <a:avLst/>
        </a:prstGeom>
        <a:blipFill dpi="0" rotWithShape="1">
          <a:blip xmlns:r="http://schemas.openxmlformats.org/officeDocument/2006/relationships" r:embed="rId1"/>
          <a:srcRect/>
          <a:stretch>
            <a:fillRect l="2932" t="4516" r="3983" b="2399"/>
          </a:stretch>
        </a:blip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16DA42-F407-48B1-9FFF-6114ACED3F96}">
      <dsp:nvSpPr>
        <dsp:cNvPr id="0" name=""/>
        <dsp:cNvSpPr/>
      </dsp:nvSpPr>
      <dsp:spPr>
        <a:xfrm>
          <a:off x="2104" y="2401101"/>
          <a:ext cx="3339787" cy="12390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2300" kern="1200"/>
            <a:t>Vérification du flambement des profilés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BE" sz="1800" kern="1200"/>
            <a:t>Doit supporter 2640 N</a:t>
          </a:r>
        </a:p>
      </dsp:txBody>
      <dsp:txXfrm>
        <a:off x="2104" y="2401101"/>
        <a:ext cx="3339787" cy="1239061"/>
      </dsp:txXfrm>
    </dsp:sp>
    <dsp:sp modelId="{04785D8D-6542-436B-8F7E-F9F234D03105}">
      <dsp:nvSpPr>
        <dsp:cNvPr id="0" name=""/>
        <dsp:cNvSpPr/>
      </dsp:nvSpPr>
      <dsp:spPr>
        <a:xfrm>
          <a:off x="3676012" y="99987"/>
          <a:ext cx="3339787" cy="2301113"/>
        </a:xfrm>
        <a:prstGeom prst="roundRect">
          <a:avLst/>
        </a:prstGeom>
        <a:blipFill dpi="0" rotWithShape="1">
          <a:blip xmlns:r="http://schemas.openxmlformats.org/officeDocument/2006/relationships" r:embed="rId2"/>
          <a:srcRect/>
          <a:stretch>
            <a:fillRect l="1791" t="1724" r="1775" b="5551"/>
          </a:stretch>
        </a:blip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1613AC-6982-46F0-8786-204DABE7A584}">
      <dsp:nvSpPr>
        <dsp:cNvPr id="0" name=""/>
        <dsp:cNvSpPr/>
      </dsp:nvSpPr>
      <dsp:spPr>
        <a:xfrm>
          <a:off x="3676012" y="2401101"/>
          <a:ext cx="3339787" cy="12390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2300" kern="1200"/>
            <a:t>Dimensionnement des barres &amp; arbres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BE" sz="1800" kern="1200"/>
            <a:t>Diamètre de 40mm</a:t>
          </a:r>
        </a:p>
      </dsp:txBody>
      <dsp:txXfrm>
        <a:off x="3676012" y="2401101"/>
        <a:ext cx="3339787" cy="1239061"/>
      </dsp:txXfrm>
    </dsp:sp>
    <dsp:sp modelId="{22A6E039-6B4F-47F2-A12F-E0AF1E45A24C}">
      <dsp:nvSpPr>
        <dsp:cNvPr id="0" name=""/>
        <dsp:cNvSpPr/>
      </dsp:nvSpPr>
      <dsp:spPr>
        <a:xfrm>
          <a:off x="7349919" y="99987"/>
          <a:ext cx="3339787" cy="2301113"/>
        </a:xfrm>
        <a:prstGeom prst="roundRect">
          <a:avLst/>
        </a:prstGeom>
        <a:blipFill dpi="0" rotWithShape="1">
          <a:blip xmlns:r="http://schemas.openxmlformats.org/officeDocument/2006/relationships" r:embed="rId3"/>
          <a:srcRect/>
          <a:stretch>
            <a:fillRect l="24072" t="781" r="25716" b="1806"/>
          </a:stretch>
        </a:blip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883642-92B0-4EE7-8A27-FAE298D6A8D9}">
      <dsp:nvSpPr>
        <dsp:cNvPr id="0" name=""/>
        <dsp:cNvSpPr/>
      </dsp:nvSpPr>
      <dsp:spPr>
        <a:xfrm>
          <a:off x="7349919" y="2401101"/>
          <a:ext cx="3339787" cy="12390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2300" kern="1200"/>
            <a:t>Étude du système de transmission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BE" sz="1800" kern="1200"/>
            <a:t>Rapport de 4.12</a:t>
          </a:r>
        </a:p>
      </dsp:txBody>
      <dsp:txXfrm>
        <a:off x="7349919" y="2401101"/>
        <a:ext cx="3339787" cy="12390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F7700F-BB51-480E-8E97-B21E71A6970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A27E-2B73-486E-903C-573E2076243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241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E41AD5-892A-452B-9F08-A740942EF319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96214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A27E-2B73-486E-903C-573E2076243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48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55687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100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906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7936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08733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75095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33863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50892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31948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53299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56497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7593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2" r:id="rId6"/>
    <p:sldLayoutId id="2147483698" r:id="rId7"/>
    <p:sldLayoutId id="2147483699" r:id="rId8"/>
    <p:sldLayoutId id="2147483700" r:id="rId9"/>
    <p:sldLayoutId id="2147483701" r:id="rId10"/>
    <p:sldLayoutId id="2147483703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noProof="0"/>
          </a:p>
        </p:txBody>
      </p:sp>
      <p:pic>
        <p:nvPicPr>
          <p:cNvPr id="4" name="Image 3" descr="Arrière Plan Industriel Avec Roues Dentées En Rendu 3d, Roue Dentée,  Engrenage 3d, Génie Mécanique Image de Fond Pour le Téléchargement Gratuit  - Pngtree">
            <a:extLst>
              <a:ext uri="{FF2B5EF4-FFF2-40B4-BE49-F238E27FC236}">
                <a16:creationId xmlns:a16="http://schemas.microsoft.com/office/drawing/2014/main" id="{79CF6F49-C05F-B8A6-72CF-3A63DE1F59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4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noProof="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fr-BE" noProof="0">
                <a:solidFill>
                  <a:srgbClr val="FFFFFF"/>
                </a:solidFill>
              </a:rPr>
              <a:t>PMI</a:t>
            </a:r>
            <a:endParaRPr lang="fr-BE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895719" cy="407669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fr-BE" noProof="0">
              <a:solidFill>
                <a:srgbClr val="FFFFFF"/>
              </a:solidFill>
            </a:endParaRPr>
          </a:p>
          <a:p>
            <a:r>
              <a:rPr lang="fr-BE" noProof="0">
                <a:solidFill>
                  <a:srgbClr val="FFFFFF"/>
                </a:solidFill>
              </a:rPr>
              <a:t>Abdoullah </a:t>
            </a:r>
            <a:r>
              <a:rPr lang="fr-BE" noProof="0" err="1">
                <a:solidFill>
                  <a:srgbClr val="FFFFFF"/>
                </a:solidFill>
              </a:rPr>
              <a:t>Ziani</a:t>
            </a:r>
            <a:r>
              <a:rPr lang="fr-BE" noProof="0">
                <a:solidFill>
                  <a:srgbClr val="FFFFFF"/>
                </a:solidFill>
              </a:rPr>
              <a:t> 22051</a:t>
            </a:r>
          </a:p>
          <a:p>
            <a:r>
              <a:rPr lang="fr-BE" noProof="0">
                <a:solidFill>
                  <a:srgbClr val="FFFFFF"/>
                </a:solidFill>
              </a:rPr>
              <a:t>Amadou Diallo </a:t>
            </a:r>
            <a:r>
              <a:rPr lang="fr-BE" noProof="0">
                <a:solidFill>
                  <a:srgbClr val="FFFFFF"/>
                </a:solidFill>
                <a:ea typeface="+mn-lt"/>
                <a:cs typeface="+mn-lt"/>
              </a:rPr>
              <a:t>23247</a:t>
            </a:r>
          </a:p>
          <a:p>
            <a:r>
              <a:rPr lang="fr-BE" noProof="0">
                <a:solidFill>
                  <a:srgbClr val="FFFFFF"/>
                </a:solidFill>
              </a:rPr>
              <a:t>Sabir Adda </a:t>
            </a:r>
            <a:r>
              <a:rPr lang="fr-BE" noProof="0">
                <a:solidFill>
                  <a:srgbClr val="FFFFFF"/>
                </a:solidFill>
                <a:ea typeface="+mn-lt"/>
                <a:cs typeface="+mn-lt"/>
              </a:rPr>
              <a:t>23027</a:t>
            </a:r>
          </a:p>
          <a:p>
            <a:r>
              <a:rPr lang="fr-BE" noProof="0">
                <a:solidFill>
                  <a:srgbClr val="FFFFFF"/>
                </a:solidFill>
              </a:rPr>
              <a:t>Antonin </a:t>
            </a:r>
            <a:r>
              <a:rPr lang="fr-BE" noProof="0">
                <a:solidFill>
                  <a:srgbClr val="FFFFFF"/>
                </a:solidFill>
                <a:ea typeface="+mn-lt"/>
                <a:cs typeface="+mn-lt"/>
              </a:rPr>
              <a:t>Lüthi 23177</a:t>
            </a:r>
            <a:endParaRPr lang="fr-BE" noProof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FE9AB411-A421-4D45-5F62-A2BD8CEDDCE4}"/>
              </a:ext>
            </a:extLst>
          </p:cNvPr>
          <p:cNvSpPr txBox="1"/>
          <p:nvPr/>
        </p:nvSpPr>
        <p:spPr>
          <a:xfrm>
            <a:off x="8812445" y="1779852"/>
            <a:ext cx="280307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BE" sz="2400" noProof="0" err="1"/>
              <a:t>Urbike</a:t>
            </a:r>
            <a:r>
              <a:rPr lang="fr-BE" sz="2400" noProof="0"/>
              <a:t> – Groupe 20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C32BE-2757-E731-3B13-2F8B16BDC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fr-BE" noProof="0" smtClean="0"/>
              <a:t>1</a:t>
            </a:fld>
            <a:endParaRPr lang="fr-BE" noProof="0"/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374114" y="229019"/>
            <a:ext cx="488331" cy="414471"/>
            <a:chOff x="0" y="-35182"/>
            <a:chExt cx="976661" cy="466358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fr-BE" sz="1200"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endParaRP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279935" y="-35182"/>
              <a:ext cx="375278" cy="466358"/>
              <a:chOff x="-22477" y="-38100"/>
              <a:chExt cx="406400" cy="50503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-22477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fr-BE" sz="1200" dirty="0"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endParaRP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fr-BE" sz="1200" dirty="0"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endParaRPr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965200" y="3346392"/>
            <a:ext cx="6445180" cy="4057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220"/>
              </a:lnSpc>
              <a:spcBef>
                <a:spcPct val="0"/>
              </a:spcBef>
            </a:pPr>
            <a:r>
              <a:rPr lang="en-US" sz="1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Squada One"/>
              </a:rPr>
              <a:t>							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Squada One"/>
              </a:rPr>
              <a:t>	Année académique 2025–2026</a:t>
            </a:r>
          </a:p>
          <a:p>
            <a:pPr>
              <a:lnSpc>
                <a:spcPts val="11220"/>
              </a:lnSpc>
              <a:spcBef>
                <a:spcPct val="0"/>
              </a:spcBef>
            </a:pP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  <a:sym typeface="Squada One"/>
            </a:endParaRPr>
          </a:p>
        </p:txBody>
      </p:sp>
      <p:sp>
        <p:nvSpPr>
          <p:cNvPr id="22" name="AutoShape 17">
            <a:extLst>
              <a:ext uri="{FF2B5EF4-FFF2-40B4-BE49-F238E27FC236}">
                <a16:creationId xmlns:a16="http://schemas.microsoft.com/office/drawing/2014/main" id="{01F55DE7-A1E2-9DAA-3257-84A50230CEC9}"/>
              </a:ext>
            </a:extLst>
          </p:cNvPr>
          <p:cNvSpPr/>
          <p:nvPr/>
        </p:nvSpPr>
        <p:spPr>
          <a:xfrm>
            <a:off x="467172" y="1938866"/>
            <a:ext cx="4427353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BE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00284F3-C72B-2D92-028A-47873D621D63}"/>
              </a:ext>
            </a:extLst>
          </p:cNvPr>
          <p:cNvSpPr txBox="1"/>
          <p:nvPr/>
        </p:nvSpPr>
        <p:spPr>
          <a:xfrm>
            <a:off x="965200" y="1616344"/>
            <a:ext cx="5632393" cy="2113720"/>
          </a:xfrm>
          <a:prstGeom prst="rect">
            <a:avLst/>
          </a:prstGeom>
          <a:noFill/>
        </p:spPr>
        <p:txBody>
          <a:bodyPr wrap="square" lIns="60960" tIns="30480" rIns="60960" bIns="30480" rtlCol="0" anchor="t">
            <a:spAutoFit/>
          </a:bodyPr>
          <a:lstStyle/>
          <a:p>
            <a:pPr algn="ctr"/>
            <a:r>
              <a:rPr lang="fr-BE" sz="2667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Projet Machine industrielle</a:t>
            </a:r>
          </a:p>
          <a:p>
            <a:pPr algn="ctr"/>
            <a:endParaRPr lang="fr-BE" sz="2667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algn="ctr"/>
            <a:r>
              <a:rPr lang="fr-BE" sz="2667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Défense de projet</a:t>
            </a:r>
          </a:p>
          <a:p>
            <a:endParaRPr lang="fr-BE" sz="2667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endParaRPr lang="fr-BE" sz="2667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6" name="AutoShape 17">
            <a:extLst>
              <a:ext uri="{FF2B5EF4-FFF2-40B4-BE49-F238E27FC236}">
                <a16:creationId xmlns:a16="http://schemas.microsoft.com/office/drawing/2014/main" id="{90B91A05-0628-A1C6-9AAE-E91A0EC7F876}"/>
              </a:ext>
            </a:extLst>
          </p:cNvPr>
          <p:cNvSpPr/>
          <p:nvPr/>
        </p:nvSpPr>
        <p:spPr>
          <a:xfrm>
            <a:off x="4971776" y="3514047"/>
            <a:ext cx="417280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BE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73B1167-80C7-B235-8A7E-4B2FE2834E5A}"/>
              </a:ext>
            </a:extLst>
          </p:cNvPr>
          <p:cNvSpPr txBox="1"/>
          <p:nvPr/>
        </p:nvSpPr>
        <p:spPr>
          <a:xfrm>
            <a:off x="862445" y="3158530"/>
            <a:ext cx="526719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BE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fr-BE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Adda Sabir</a:t>
            </a:r>
          </a:p>
          <a:p>
            <a:r>
              <a:rPr lang="fr-BE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Diallo Amadou</a:t>
            </a:r>
          </a:p>
          <a:p>
            <a:r>
              <a:rPr lang="fr-BE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Lüthi Antonin</a:t>
            </a:r>
          </a:p>
          <a:p>
            <a:r>
              <a:rPr lang="fr-BE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Ziani Abdoullah</a:t>
            </a:r>
          </a:p>
          <a:p>
            <a:endParaRPr lang="fr-BE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fr-BE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Groupe 20</a:t>
            </a:r>
          </a:p>
          <a:p>
            <a:endParaRPr lang="fr-FR" sz="2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5" name="Image 4" descr="Une image contenant machine, levier&#10;&#10;Le contenu généré par l’IA peut être incorrect.">
            <a:extLst>
              <a:ext uri="{FF2B5EF4-FFF2-40B4-BE49-F238E27FC236}">
                <a16:creationId xmlns:a16="http://schemas.microsoft.com/office/drawing/2014/main" id="{389AB520-94B8-9974-D39C-ED2521ECE7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10"/>
          <a:stretch>
            <a:fillRect/>
          </a:stretch>
        </p:blipFill>
        <p:spPr>
          <a:xfrm>
            <a:off x="6654800" y="0"/>
            <a:ext cx="5537200" cy="6896738"/>
          </a:xfrm>
          <a:prstGeom prst="rect">
            <a:avLst/>
          </a:prstGeom>
        </p:spPr>
      </p:pic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BD95D7B6-3F2D-81EC-D0C7-F14CB2917B0E}"/>
              </a:ext>
            </a:extLst>
          </p:cNvPr>
          <p:cNvCxnSpPr>
            <a:cxnSpLocks/>
          </p:cNvCxnSpPr>
          <p:nvPr/>
        </p:nvCxnSpPr>
        <p:spPr>
          <a:xfrm>
            <a:off x="1346200" y="2207538"/>
            <a:ext cx="5134328" cy="0"/>
          </a:xfrm>
          <a:prstGeom prst="line">
            <a:avLst/>
          </a:prstGeom>
          <a:ln w="508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" name="Image 29" descr="Une image contenant Police, texte, logo, Graphique&#10;&#10;Le contenu généré par l’IA peut être incorrect.">
            <a:extLst>
              <a:ext uri="{FF2B5EF4-FFF2-40B4-BE49-F238E27FC236}">
                <a16:creationId xmlns:a16="http://schemas.microsoft.com/office/drawing/2014/main" id="{80BFBF94-196B-4939-BB04-70AB435DF7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3" y="12434"/>
            <a:ext cx="1708483" cy="1297637"/>
          </a:xfrm>
          <a:prstGeom prst="rect">
            <a:avLst/>
          </a:prstGeom>
        </p:spPr>
      </p:pic>
      <p:pic>
        <p:nvPicPr>
          <p:cNvPr id="32" name="Image 31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6010DE1F-CCEA-3022-2E41-D07971AFAA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753" y="260287"/>
            <a:ext cx="1861775" cy="5876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71AB78-FF74-0EE6-E1EC-FC5108FC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fr-BE" noProof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fr-BE" noProof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CA1000E-50AB-EA9D-1962-9079AC182F6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92223" y="216852"/>
            <a:ext cx="6338888" cy="1308100"/>
          </a:xfrm>
        </p:spPr>
        <p:txBody>
          <a:bodyPr>
            <a:normAutofit/>
          </a:bodyPr>
          <a:lstStyle/>
          <a:p>
            <a:r>
              <a:rPr lang="fr-BE" noProof="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 des matières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4D5CAF-CC01-7F6E-EE79-0380D95D9F3F}"/>
              </a:ext>
            </a:extLst>
          </p:cNvPr>
          <p:cNvSpPr txBox="1"/>
          <p:nvPr/>
        </p:nvSpPr>
        <p:spPr>
          <a:xfrm>
            <a:off x="801563" y="728260"/>
            <a:ext cx="6462837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BE" sz="1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			</a:t>
            </a:r>
          </a:p>
          <a:p>
            <a:pPr>
              <a:lnSpc>
                <a:spcPct val="150000"/>
              </a:lnSpc>
            </a:pPr>
            <a:r>
              <a:rPr lang="fr-BE" sz="1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1. Introduction</a:t>
            </a:r>
          </a:p>
          <a:p>
            <a:pPr>
              <a:lnSpc>
                <a:spcPct val="150000"/>
              </a:lnSpc>
            </a:pPr>
            <a:r>
              <a:rPr lang="fr-BE" sz="1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 Contexte et </a:t>
            </a:r>
            <a:r>
              <a:rPr lang="fr-BE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</a:t>
            </a:r>
            <a:r>
              <a:rPr lang="fr-BE" sz="1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bjectifs</a:t>
            </a:r>
          </a:p>
          <a:p>
            <a:pPr>
              <a:lnSpc>
                <a:spcPct val="150000"/>
              </a:lnSpc>
            </a:pPr>
            <a:endParaRPr lang="fr-BE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fr-BE" sz="1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2. Méthode de conception</a:t>
            </a:r>
          </a:p>
          <a:p>
            <a:pPr>
              <a:lnSpc>
                <a:spcPct val="150000"/>
              </a:lnSpc>
            </a:pPr>
            <a:r>
              <a:rPr lang="fr-BE" sz="1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Résultats des 5 outils</a:t>
            </a:r>
          </a:p>
          <a:p>
            <a:pPr>
              <a:lnSpc>
                <a:spcPct val="150000"/>
              </a:lnSpc>
            </a:pPr>
            <a:r>
              <a:rPr lang="fr-BE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D</a:t>
            </a:r>
            <a:r>
              <a:rPr lang="fr-BE" sz="1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escription de la solution retenue</a:t>
            </a:r>
          </a:p>
          <a:p>
            <a:pPr>
              <a:lnSpc>
                <a:spcPct val="150000"/>
              </a:lnSpc>
            </a:pPr>
            <a:r>
              <a:rPr lang="fr-BE" sz="1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 				</a:t>
            </a:r>
          </a:p>
          <a:p>
            <a:pPr>
              <a:lnSpc>
                <a:spcPct val="150000"/>
              </a:lnSpc>
            </a:pPr>
            <a:r>
              <a:rPr lang="fr-BE" sz="1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3. Démarche de dimensionnement</a:t>
            </a:r>
          </a:p>
          <a:p>
            <a:pPr>
              <a:lnSpc>
                <a:spcPct val="150000"/>
              </a:lnSpc>
            </a:pPr>
            <a:r>
              <a:rPr lang="fr-BE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</a:t>
            </a:r>
            <a:r>
              <a:rPr lang="fr-BE" sz="1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Calculs des pièces critiques</a:t>
            </a:r>
          </a:p>
          <a:p>
            <a:pPr>
              <a:lnSpc>
                <a:spcPct val="150000"/>
              </a:lnSpc>
            </a:pPr>
            <a:r>
              <a:rPr lang="fr-BE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S</a:t>
            </a:r>
            <a:r>
              <a:rPr lang="fr-BE" sz="1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élection des composants</a:t>
            </a:r>
          </a:p>
          <a:p>
            <a:pPr>
              <a:lnSpc>
                <a:spcPct val="150000"/>
              </a:lnSpc>
            </a:pPr>
            <a:endParaRPr lang="fr-BE" sz="16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150000"/>
              </a:lnSpc>
            </a:pPr>
            <a:endParaRPr lang="fr-BE" sz="16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86C43BE-B637-C869-FD52-CD8194ADA3E6}"/>
              </a:ext>
            </a:extLst>
          </p:cNvPr>
          <p:cNvSpPr txBox="1"/>
          <p:nvPr/>
        </p:nvSpPr>
        <p:spPr>
          <a:xfrm>
            <a:off x="6364051" y="945936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fr-BE" sz="16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fr-BE" sz="1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4. Fabrication du prototype</a:t>
            </a:r>
          </a:p>
          <a:p>
            <a:pPr>
              <a:lnSpc>
                <a:spcPct val="150000"/>
              </a:lnSpc>
            </a:pPr>
            <a:r>
              <a:rPr lang="fr-BE" sz="1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      Méthode de fabrication &amp; assemblage</a:t>
            </a:r>
          </a:p>
          <a:p>
            <a:pPr>
              <a:lnSpc>
                <a:spcPct val="150000"/>
              </a:lnSpc>
            </a:pPr>
            <a:r>
              <a:rPr lang="fr-BE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      </a:t>
            </a:r>
            <a:r>
              <a:rPr lang="fr-BE" sz="1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Résultats, démonstration &amp; observations</a:t>
            </a:r>
          </a:p>
          <a:p>
            <a:pPr>
              <a:lnSpc>
                <a:spcPct val="150000"/>
              </a:lnSpc>
            </a:pPr>
            <a:endParaRPr lang="fr-BE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fr-BE" sz="1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5. Conclusion</a:t>
            </a:r>
          </a:p>
          <a:p>
            <a:pPr>
              <a:lnSpc>
                <a:spcPct val="150000"/>
              </a:lnSpc>
            </a:pPr>
            <a:r>
              <a:rPr lang="fr-BE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      </a:t>
            </a:r>
            <a:r>
              <a:rPr lang="fr-BE" sz="1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Atteintes des objectifs</a:t>
            </a:r>
          </a:p>
          <a:p>
            <a:pPr>
              <a:lnSpc>
                <a:spcPct val="150000"/>
              </a:lnSpc>
            </a:pPr>
            <a:r>
              <a:rPr lang="fr-BE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      </a:t>
            </a:r>
            <a:r>
              <a:rPr lang="fr-BE" sz="1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Amélioration &amp; développement futures</a:t>
            </a:r>
          </a:p>
          <a:p>
            <a:pPr>
              <a:lnSpc>
                <a:spcPct val="150000"/>
              </a:lnSpc>
            </a:pPr>
            <a:r>
              <a:rPr lang="fr-BE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2579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B0C9CD-D423-0B96-3D8F-015345B2B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938" y="111198"/>
            <a:ext cx="6770499" cy="1316736"/>
          </a:xfrm>
        </p:spPr>
        <p:txBody>
          <a:bodyPr>
            <a:normAutofit/>
          </a:bodyPr>
          <a:lstStyle/>
          <a:p>
            <a:r>
              <a:rPr lang="fr-BE" noProof="0" dirty="0"/>
              <a:t>Introduction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EDB58B-4E19-8BCA-A99B-101F3373C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fr-BE" noProof="0" smtClean="0"/>
              <a:t>4</a:t>
            </a:fld>
            <a:endParaRPr lang="fr-BE" noProof="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12B5C18-5811-1FFF-3661-2999C0F167F4}"/>
              </a:ext>
            </a:extLst>
          </p:cNvPr>
          <p:cNvSpPr txBox="1"/>
          <p:nvPr/>
        </p:nvSpPr>
        <p:spPr>
          <a:xfrm>
            <a:off x="6222891" y="968313"/>
            <a:ext cx="161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Contexte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016F931-C088-84B2-CDBA-165E22BDBC92}"/>
              </a:ext>
            </a:extLst>
          </p:cNvPr>
          <p:cNvSpPr txBox="1"/>
          <p:nvPr/>
        </p:nvSpPr>
        <p:spPr>
          <a:xfrm>
            <a:off x="6420191" y="1326612"/>
            <a:ext cx="480906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fr-FR" sz="1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Projet Machine Industrielle – UE de 3ᵉ bachelier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fr-FR" altLang="fr-FR" sz="16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fr-FR" sz="1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Collaboration ECAM – Urbike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fr-FR" sz="16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1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Problème: gestion non optimale du stockage des vélos cargo</a:t>
            </a:r>
          </a:p>
          <a:p>
            <a:endParaRPr lang="fr-FR" sz="16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34" name="Image 33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C530E09F-E740-A558-AD08-97268ADBE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741" y="769566"/>
            <a:ext cx="4657316" cy="531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693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EFDAF7-4CBF-827C-98B1-CD41AD2E1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E8D8F38E-64A6-4B2C-14F6-17E55972EB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835"/>
          <a:stretch>
            <a:fillRect/>
          </a:stretch>
        </p:blipFill>
        <p:spPr>
          <a:xfrm>
            <a:off x="6775485" y="1237504"/>
            <a:ext cx="3984487" cy="40982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8FD7DC-4F8F-847A-981C-4A2EC5113F5F}"/>
              </a:ext>
            </a:extLst>
          </p:cNvPr>
          <p:cNvSpPr txBox="1"/>
          <p:nvPr/>
        </p:nvSpPr>
        <p:spPr>
          <a:xfrm>
            <a:off x="7712677" y="5620496"/>
            <a:ext cx="387868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BE" sz="1600" noProof="0" dirty="0"/>
              <a:t>Entrepôt actuel d'</a:t>
            </a:r>
            <a:r>
              <a:rPr lang="fr-BE" sz="1600" noProof="0" dirty="0" err="1"/>
              <a:t>urbike</a:t>
            </a:r>
            <a:endParaRPr lang="fr-BE" sz="1600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7C477AA-21C8-9C03-EC02-8CDAC7E00AB8}"/>
              </a:ext>
            </a:extLst>
          </p:cNvPr>
          <p:cNvSpPr txBox="1"/>
          <p:nvPr/>
        </p:nvSpPr>
        <p:spPr>
          <a:xfrm>
            <a:off x="733782" y="946348"/>
            <a:ext cx="161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Objectifs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CCCE478-5F4C-E091-372E-B96098EB071A}"/>
              </a:ext>
            </a:extLst>
          </p:cNvPr>
          <p:cNvSpPr txBox="1"/>
          <p:nvPr/>
        </p:nvSpPr>
        <p:spPr>
          <a:xfrm>
            <a:off x="842842" y="1518080"/>
            <a:ext cx="3906839" cy="23544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800" dirty="0"/>
              <a:t>⏱️</a:t>
            </a:r>
            <a:r>
              <a:rPr lang="fr-FR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Gain de temps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📏 Optimisation d'espace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👤 Ergonomie 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🛡️ Sécurité</a:t>
            </a:r>
          </a:p>
        </p:txBody>
      </p:sp>
    </p:spTree>
    <p:extLst>
      <p:ext uri="{BB962C8B-B14F-4D97-AF65-F5344CB8AC3E}">
        <p14:creationId xmlns:p14="http://schemas.microsoft.com/office/powerpoint/2010/main" val="825559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CA1000E-50AB-EA9D-1962-9079AC182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r>
              <a:rPr lang="fr-BE" noProof="0"/>
              <a:t>Sommaire</a:t>
            </a:r>
          </a:p>
        </p:txBody>
      </p:sp>
      <p:pic>
        <p:nvPicPr>
          <p:cNvPr id="4" name="Image 3" descr="538 700+ Sommaire Photos, taleaux et images libre de droits - iStock |  Agenda, Table des matières, Plan">
            <a:extLst>
              <a:ext uri="{FF2B5EF4-FFF2-40B4-BE49-F238E27FC236}">
                <a16:creationId xmlns:a16="http://schemas.microsoft.com/office/drawing/2014/main" id="{00AF4AD2-8ADF-B388-2E01-1976B50FFE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775" r="393" b="2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2D5D78-DC25-92F2-DF7C-3D107C676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8857"/>
            <a:ext cx="6627924" cy="373989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fr-BE" noProof="0"/>
              <a:t>Introduction &amp; demande client</a:t>
            </a:r>
          </a:p>
          <a:p>
            <a:r>
              <a:rPr lang="fr-BE" noProof="0"/>
              <a:t>Méthode </a:t>
            </a:r>
            <a:r>
              <a:rPr lang="fr-BE" noProof="0" err="1"/>
              <a:t>Pahl</a:t>
            </a:r>
            <a:r>
              <a:rPr lang="fr-BE" noProof="0"/>
              <a:t> &amp; </a:t>
            </a:r>
            <a:r>
              <a:rPr lang="fr-BE" noProof="0" err="1"/>
              <a:t>Beitz</a:t>
            </a:r>
            <a:endParaRPr lang="fr-BE" noProof="0"/>
          </a:p>
          <a:p>
            <a:r>
              <a:rPr lang="fr-BE" noProof="0"/>
              <a:t>Conception</a:t>
            </a:r>
          </a:p>
          <a:p>
            <a:r>
              <a:rPr lang="fr-BE" noProof="0"/>
              <a:t>Dimensionnement </a:t>
            </a:r>
          </a:p>
          <a:p>
            <a:r>
              <a:rPr lang="fr-BE" noProof="0"/>
              <a:t>Fabrication Mécanique</a:t>
            </a:r>
          </a:p>
          <a:p>
            <a:r>
              <a:rPr lang="fr-BE" noProof="0"/>
              <a:t>Résultats &amp; Esprit critique</a:t>
            </a:r>
          </a:p>
          <a:p>
            <a:r>
              <a:rPr lang="fr-BE" noProof="0"/>
              <a:t>Budget</a:t>
            </a:r>
          </a:p>
          <a:p>
            <a:r>
              <a:rPr lang="fr-BE" noProof="0"/>
              <a:t>Limites et Améliorations</a:t>
            </a:r>
          </a:p>
          <a:p>
            <a:r>
              <a:rPr lang="fr-BE"/>
              <a:t>Projet en taille réelle</a:t>
            </a:r>
          </a:p>
          <a:p>
            <a:r>
              <a:rPr lang="fr-BE" noProof="0"/>
              <a:t>Annexes</a:t>
            </a:r>
          </a:p>
          <a:p>
            <a:endParaRPr lang="fr-BE" noProof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71AB78-FF74-0EE6-E1EC-FC5108FC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fr-BE" noProof="0" smtClean="0"/>
              <a:t>6</a:t>
            </a:fld>
            <a:endParaRPr lang="fr-BE" noProof="0"/>
          </a:p>
        </p:txBody>
      </p:sp>
    </p:spTree>
    <p:extLst>
      <p:ext uri="{BB962C8B-B14F-4D97-AF65-F5344CB8AC3E}">
        <p14:creationId xmlns:p14="http://schemas.microsoft.com/office/powerpoint/2010/main" val="744678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7B0C9CD-D423-0B96-3D8F-015345B2B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0181" y="909637"/>
            <a:ext cx="6770499" cy="1316736"/>
          </a:xfrm>
        </p:spPr>
        <p:txBody>
          <a:bodyPr>
            <a:normAutofit/>
          </a:bodyPr>
          <a:lstStyle/>
          <a:p>
            <a:r>
              <a:rPr lang="fr-BE" noProof="0"/>
              <a:t>Introduction</a:t>
            </a:r>
          </a:p>
        </p:txBody>
      </p:sp>
      <p:pic>
        <p:nvPicPr>
          <p:cNvPr id="9" name="Image 8" descr="Une image contenant habits, intérieur, personne, Rayonnage&#10;&#10;Le contenu généré par l’IA peut être incorrect.">
            <a:extLst>
              <a:ext uri="{FF2B5EF4-FFF2-40B4-BE49-F238E27FC236}">
                <a16:creationId xmlns:a16="http://schemas.microsoft.com/office/drawing/2014/main" id="{C722709F-492B-6D8E-459D-AFA0A49FCF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70" r="-2" b="9685"/>
          <a:stretch>
            <a:fillRect/>
          </a:stretch>
        </p:blipFill>
        <p:spPr>
          <a:xfrm>
            <a:off x="20" y="10"/>
            <a:ext cx="4040074" cy="2325746"/>
          </a:xfrm>
          <a:prstGeom prst="rect">
            <a:avLst/>
          </a:prstGeom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76800" y="722376"/>
            <a:ext cx="65151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Espace réservé du contenu 6" descr="Urbike Déploie la Cyclologistique en Belgique">
            <a:extLst>
              <a:ext uri="{FF2B5EF4-FFF2-40B4-BE49-F238E27FC236}">
                <a16:creationId xmlns:a16="http://schemas.microsoft.com/office/drawing/2014/main" id="{4F2EC6B4-6E2E-0D2A-072A-5C0556F8D8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" b="1955"/>
          <a:stretch>
            <a:fillRect/>
          </a:stretch>
        </p:blipFill>
        <p:spPr>
          <a:xfrm>
            <a:off x="-2" y="2325755"/>
            <a:ext cx="4040094" cy="2228071"/>
          </a:xfrm>
          <a:prstGeom prst="rect">
            <a:avLst/>
          </a:prstGeom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Image 7" descr="Gestion temps">
            <a:extLst>
              <a:ext uri="{FF2B5EF4-FFF2-40B4-BE49-F238E27FC236}">
                <a16:creationId xmlns:a16="http://schemas.microsoft.com/office/drawing/2014/main" id="{F6E50981-910E-7E72-E06F-F8669FF98A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46" r="18759" b="1"/>
          <a:stretch>
            <a:fillRect/>
          </a:stretch>
        </p:blipFill>
        <p:spPr>
          <a:xfrm>
            <a:off x="-2" y="4532244"/>
            <a:ext cx="4040094" cy="2325756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D6E98B07-FFC1-4201-7611-53333DC1B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179" y="2226374"/>
            <a:ext cx="6770501" cy="360321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BE" b="1" noProof="0"/>
              <a:t>Demande Client</a:t>
            </a:r>
            <a:endParaRPr lang="fr-BE" noProof="0"/>
          </a:p>
          <a:p>
            <a:pPr marL="342900" indent="-342900"/>
            <a:r>
              <a:rPr lang="fr-BE" noProof="0"/>
              <a:t>Problème de </a:t>
            </a:r>
            <a:r>
              <a:rPr lang="fr-BE" u="sng" noProof="0"/>
              <a:t>gestion de place</a:t>
            </a:r>
            <a:endParaRPr lang="fr-BE" noProof="0"/>
          </a:p>
          <a:p>
            <a:pPr marL="457200" lvl="1" indent="0">
              <a:buNone/>
            </a:pPr>
            <a:endParaRPr lang="fr-BE" noProof="0"/>
          </a:p>
          <a:p>
            <a:pPr lvl="1">
              <a:buFont typeface="Courier New" panose="020B0604020202020204" pitchFamily="34" charset="0"/>
              <a:buChar char="o"/>
            </a:pPr>
            <a:endParaRPr lang="fr-BE" noProof="0"/>
          </a:p>
          <a:p>
            <a:pPr lvl="1">
              <a:buFont typeface="Courier New" panose="020B0604020202020204" pitchFamily="34" charset="0"/>
              <a:buChar char="o"/>
            </a:pPr>
            <a:endParaRPr lang="fr-BE" noProof="0"/>
          </a:p>
          <a:p>
            <a:pPr marL="0" indent="0">
              <a:buNone/>
            </a:pPr>
            <a:r>
              <a:rPr lang="fr-BE" noProof="0"/>
              <a:t>               Perte de temps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76800" y="6138866"/>
            <a:ext cx="65151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EDB58B-4E19-8BCA-A99B-101F3373C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fr-BE" noProof="0" smtClean="0"/>
              <a:t>7</a:t>
            </a:fld>
            <a:endParaRPr lang="fr-BE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8F38E-64A6-4B2C-14F6-17E55972EB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8877" y="1297459"/>
            <a:ext cx="3203437" cy="42699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5C44FCA5-C034-C267-ADF3-2267D263869A}"/>
              </a:ext>
            </a:extLst>
          </p:cNvPr>
          <p:cNvSpPr/>
          <p:nvPr/>
        </p:nvSpPr>
        <p:spPr>
          <a:xfrm>
            <a:off x="5384800" y="4028989"/>
            <a:ext cx="2390345" cy="9144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noProof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7964234-204B-961C-E1FA-33BE03BA5DBC}"/>
              </a:ext>
            </a:extLst>
          </p:cNvPr>
          <p:cNvCxnSpPr/>
          <p:nvPr/>
        </p:nvCxnSpPr>
        <p:spPr>
          <a:xfrm flipH="1">
            <a:off x="6893868" y="3031010"/>
            <a:ext cx="506627" cy="7565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F8FD7DC-4F8F-847A-981C-4A2EC5113F5F}"/>
              </a:ext>
            </a:extLst>
          </p:cNvPr>
          <p:cNvSpPr txBox="1"/>
          <p:nvPr/>
        </p:nvSpPr>
        <p:spPr>
          <a:xfrm>
            <a:off x="9404865" y="5690972"/>
            <a:ext cx="286264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BE" sz="1200" noProof="0"/>
              <a:t>Entrepôt actuel d'</a:t>
            </a:r>
            <a:r>
              <a:rPr lang="fr-BE" sz="1200" noProof="0" err="1"/>
              <a:t>urbike</a:t>
            </a:r>
            <a:endParaRPr lang="fr-BE" sz="1200" noProof="0"/>
          </a:p>
        </p:txBody>
      </p:sp>
    </p:spTree>
    <p:extLst>
      <p:ext uri="{BB962C8B-B14F-4D97-AF65-F5344CB8AC3E}">
        <p14:creationId xmlns:p14="http://schemas.microsoft.com/office/powerpoint/2010/main" val="3911432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DD1C7A7-8239-C145-C9B8-F2A4E2D52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fr-BE" noProof="0"/>
              <a:t>Méthode </a:t>
            </a:r>
            <a:r>
              <a:rPr lang="fr-BE" noProof="0" err="1"/>
              <a:t>pahl</a:t>
            </a:r>
            <a:r>
              <a:rPr lang="fr-BE" noProof="0"/>
              <a:t> &amp; </a:t>
            </a:r>
            <a:r>
              <a:rPr lang="fr-BE" noProof="0" err="1"/>
              <a:t>beitz</a:t>
            </a:r>
            <a:endParaRPr lang="fr-BE" noProof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C75D48AF-E13B-4489-D78E-AC10E93606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8039313"/>
              </p:ext>
            </p:extLst>
          </p:nvPr>
        </p:nvGraphicFramePr>
        <p:xfrm>
          <a:off x="700088" y="1961635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FD1387F-A7D9-3808-5ED4-D2CA10F37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fr-BE" noProof="0" smtClean="0"/>
              <a:t>8</a:t>
            </a:fld>
            <a:endParaRPr lang="fr-BE" noProof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8A9DFAC-499A-FE8A-C9D2-18B04D745F4C}"/>
              </a:ext>
            </a:extLst>
          </p:cNvPr>
          <p:cNvSpPr/>
          <p:nvPr/>
        </p:nvSpPr>
        <p:spPr>
          <a:xfrm>
            <a:off x="880947" y="2463799"/>
            <a:ext cx="3937619" cy="2543716"/>
          </a:xfrm>
          <a:prstGeom prst="roundRect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noProof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CAAD90A-7F4B-DD57-8900-75243AABF290}"/>
              </a:ext>
            </a:extLst>
          </p:cNvPr>
          <p:cNvSpPr/>
          <p:nvPr/>
        </p:nvSpPr>
        <p:spPr>
          <a:xfrm>
            <a:off x="5155580" y="2463798"/>
            <a:ext cx="3813716" cy="2543716"/>
          </a:xfrm>
          <a:prstGeom prst="roundRect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noProof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1283CA1-AACE-C125-FFE1-58791FFDDEEC}"/>
              </a:ext>
            </a:extLst>
          </p:cNvPr>
          <p:cNvSpPr/>
          <p:nvPr/>
        </p:nvSpPr>
        <p:spPr>
          <a:xfrm>
            <a:off x="9238163" y="2463797"/>
            <a:ext cx="2085278" cy="2543716"/>
          </a:xfrm>
          <a:prstGeom prst="roundRect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noProof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C076B2-535C-8DB4-7AEC-7B4E9B7C6877}"/>
              </a:ext>
            </a:extLst>
          </p:cNvPr>
          <p:cNvSpPr txBox="1"/>
          <p:nvPr/>
        </p:nvSpPr>
        <p:spPr>
          <a:xfrm>
            <a:off x="2008894" y="2089095"/>
            <a:ext cx="20800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BE" noProof="0"/>
              <a:t>Conception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99C119-9750-77B5-FD68-2CC51372E263}"/>
              </a:ext>
            </a:extLst>
          </p:cNvPr>
          <p:cNvSpPr txBox="1"/>
          <p:nvPr/>
        </p:nvSpPr>
        <p:spPr>
          <a:xfrm>
            <a:off x="6097673" y="2089094"/>
            <a:ext cx="20800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BE" noProof="0"/>
              <a:t>Dimensionnement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BE22A1-9FF3-F811-05C2-9196F782A4C5}"/>
              </a:ext>
            </a:extLst>
          </p:cNvPr>
          <p:cNvSpPr txBox="1"/>
          <p:nvPr/>
        </p:nvSpPr>
        <p:spPr>
          <a:xfrm>
            <a:off x="9077526" y="2089094"/>
            <a:ext cx="31146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BE" noProof="0"/>
              <a:t>Fabrication mécanique</a:t>
            </a:r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471D6BCD-8D85-BD63-91CF-5F9D92FDFFAB}"/>
              </a:ext>
            </a:extLst>
          </p:cNvPr>
          <p:cNvSpPr/>
          <p:nvPr/>
        </p:nvSpPr>
        <p:spPr>
          <a:xfrm>
            <a:off x="2435668" y="3348531"/>
            <a:ext cx="922652" cy="484631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noProof="0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C1C6125C-6541-1CBB-2146-1594DDE038CD}"/>
              </a:ext>
            </a:extLst>
          </p:cNvPr>
          <p:cNvSpPr/>
          <p:nvPr/>
        </p:nvSpPr>
        <p:spPr>
          <a:xfrm>
            <a:off x="4548204" y="3348530"/>
            <a:ext cx="922652" cy="484631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noProof="0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D00FF66C-CB42-FBBA-3FCA-0A24404CA7E4}"/>
              </a:ext>
            </a:extLst>
          </p:cNvPr>
          <p:cNvSpPr/>
          <p:nvPr/>
        </p:nvSpPr>
        <p:spPr>
          <a:xfrm>
            <a:off x="6604984" y="3348529"/>
            <a:ext cx="922652" cy="484631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noProof="0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53E5B298-3DD6-59DC-91F8-39DD19AE4A92}"/>
              </a:ext>
            </a:extLst>
          </p:cNvPr>
          <p:cNvSpPr/>
          <p:nvPr/>
        </p:nvSpPr>
        <p:spPr>
          <a:xfrm>
            <a:off x="8661764" y="3348528"/>
            <a:ext cx="922652" cy="484631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noProof="0"/>
          </a:p>
        </p:txBody>
      </p:sp>
    </p:spTree>
    <p:extLst>
      <p:ext uri="{BB962C8B-B14F-4D97-AF65-F5344CB8AC3E}">
        <p14:creationId xmlns:p14="http://schemas.microsoft.com/office/powerpoint/2010/main" val="3168496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14459-F11A-881B-83A1-732B44420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noProof="0"/>
              <a:t>Conception</a:t>
            </a:r>
            <a:br>
              <a:rPr lang="fr-BE" noProof="0"/>
            </a:br>
            <a:r>
              <a:rPr lang="fr-BE" sz="2000" noProof="0"/>
              <a:t>Outils utilisés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30060-0DAF-C9CB-DF8F-066739DA9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fr-BE" noProof="0" smtClean="0"/>
              <a:t>9</a:t>
            </a:fld>
            <a:endParaRPr lang="fr-BE" noProof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501B55E-8401-A1B1-7B80-A68F6F751191}"/>
              </a:ext>
            </a:extLst>
          </p:cNvPr>
          <p:cNvSpPr txBox="1"/>
          <p:nvPr/>
        </p:nvSpPr>
        <p:spPr>
          <a:xfrm>
            <a:off x="981906" y="2270658"/>
            <a:ext cx="363918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/>
              <a:t>Graphe des objectifs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/>
              <a:t>Cahier des charges fonctionnel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/>
              <a:t>Diagramme fonctionnel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/>
              <a:t>Tableau morphologique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/>
              <a:t>Tableau Comparatif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E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F77DE78-02C6-695A-52DA-56DEC53ABBF0}"/>
              </a:ext>
            </a:extLst>
          </p:cNvPr>
          <p:cNvSpPr txBox="1"/>
          <p:nvPr/>
        </p:nvSpPr>
        <p:spPr>
          <a:xfrm>
            <a:off x="6096000" y="914400"/>
            <a:ext cx="50670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u="sng"/>
              <a:t>Hiérarchisation des priorités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1400"/>
              <a:t>Ergonomie 	Utilisation, optimisation de l’espace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1400"/>
              <a:t>Qualité 	Durable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1400"/>
              <a:t>Sécurité 	Ne pas endommager les vélos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B0B5724-A22A-6ECC-94DB-4FA9280ABB99}"/>
              </a:ext>
            </a:extLst>
          </p:cNvPr>
          <p:cNvSpPr/>
          <p:nvPr/>
        </p:nvSpPr>
        <p:spPr>
          <a:xfrm>
            <a:off x="6046266" y="914400"/>
            <a:ext cx="4926534" cy="954107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80C12B6B-C110-3C88-EEB6-5323331F64B6}"/>
              </a:ext>
            </a:extLst>
          </p:cNvPr>
          <p:cNvCxnSpPr/>
          <p:nvPr/>
        </p:nvCxnSpPr>
        <p:spPr>
          <a:xfrm>
            <a:off x="7456349" y="1294889"/>
            <a:ext cx="4664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B94C3A90-5133-60D8-71E4-C6C68074DFB8}"/>
              </a:ext>
            </a:extLst>
          </p:cNvPr>
          <p:cNvCxnSpPr>
            <a:cxnSpLocks/>
          </p:cNvCxnSpPr>
          <p:nvPr/>
        </p:nvCxnSpPr>
        <p:spPr>
          <a:xfrm>
            <a:off x="7259968" y="1508659"/>
            <a:ext cx="6627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780F6D84-13AD-544A-B891-DE45BE22A459}"/>
              </a:ext>
            </a:extLst>
          </p:cNvPr>
          <p:cNvCxnSpPr>
            <a:cxnSpLocks/>
          </p:cNvCxnSpPr>
          <p:nvPr/>
        </p:nvCxnSpPr>
        <p:spPr>
          <a:xfrm>
            <a:off x="7259968" y="1704018"/>
            <a:ext cx="6627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 : en arc 14">
            <a:extLst>
              <a:ext uri="{FF2B5EF4-FFF2-40B4-BE49-F238E27FC236}">
                <a16:creationId xmlns:a16="http://schemas.microsoft.com/office/drawing/2014/main" id="{1BC2B554-EDD1-6D2D-1C6D-0DB50D677340}"/>
              </a:ext>
            </a:extLst>
          </p:cNvPr>
          <p:cNvCxnSpPr/>
          <p:nvPr/>
        </p:nvCxnSpPr>
        <p:spPr>
          <a:xfrm flipV="1">
            <a:off x="3473493" y="1386942"/>
            <a:ext cx="2411806" cy="1043275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43070C5E-8AB8-1D8A-232A-D753844DA6E2}"/>
              </a:ext>
            </a:extLst>
          </p:cNvPr>
          <p:cNvSpPr txBox="1"/>
          <p:nvPr/>
        </p:nvSpPr>
        <p:spPr>
          <a:xfrm>
            <a:off x="6843680" y="2221992"/>
            <a:ext cx="50670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u="sng"/>
              <a:t>Contraintes &amp; performances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400"/>
              <a:t>Déplacement de min. 5 vélos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400"/>
              <a:t>Besoin d’un seul opérateur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400"/>
              <a:t>Dimensions cohérentes avec le hangar actuel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A1AF9F39-D250-8DB6-4C74-FA2E1F02490D}"/>
              </a:ext>
            </a:extLst>
          </p:cNvPr>
          <p:cNvSpPr/>
          <p:nvPr/>
        </p:nvSpPr>
        <p:spPr>
          <a:xfrm>
            <a:off x="6724778" y="2221992"/>
            <a:ext cx="4076188" cy="954107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18" name="Connecteur : en arc 17">
            <a:extLst>
              <a:ext uri="{FF2B5EF4-FFF2-40B4-BE49-F238E27FC236}">
                <a16:creationId xmlns:a16="http://schemas.microsoft.com/office/drawing/2014/main" id="{41E76FF9-4468-2C99-6ED3-9DC0BC741F10}"/>
              </a:ext>
            </a:extLst>
          </p:cNvPr>
          <p:cNvCxnSpPr>
            <a:cxnSpLocks/>
          </p:cNvCxnSpPr>
          <p:nvPr/>
        </p:nvCxnSpPr>
        <p:spPr>
          <a:xfrm flipV="1">
            <a:off x="4431874" y="2694534"/>
            <a:ext cx="2153033" cy="592029"/>
          </a:xfrm>
          <a:prstGeom prst="curvedConnector3">
            <a:avLst>
              <a:gd name="adj1" fmla="val 5570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0383CE6A-F4D3-1617-09E8-86E194029B17}"/>
              </a:ext>
            </a:extLst>
          </p:cNvPr>
          <p:cNvSpPr txBox="1"/>
          <p:nvPr/>
        </p:nvSpPr>
        <p:spPr>
          <a:xfrm>
            <a:off x="8173705" y="3805195"/>
            <a:ext cx="21530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u="sng"/>
              <a:t>Génération de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400"/>
              <a:t>Sécuriser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400"/>
              <a:t>Déplacer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400"/>
              <a:t>Ranger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400"/>
              <a:t>Charger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400"/>
              <a:t>Placer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726F4FAE-81D9-F6FE-A998-F2CFE41C3289}"/>
              </a:ext>
            </a:extLst>
          </p:cNvPr>
          <p:cNvSpPr/>
          <p:nvPr/>
        </p:nvSpPr>
        <p:spPr>
          <a:xfrm>
            <a:off x="8120822" y="3759105"/>
            <a:ext cx="2205916" cy="1465268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E547908-A26D-CFEC-4AAB-7679BB1AE457}"/>
              </a:ext>
            </a:extLst>
          </p:cNvPr>
          <p:cNvSpPr txBox="1"/>
          <p:nvPr/>
        </p:nvSpPr>
        <p:spPr>
          <a:xfrm>
            <a:off x="4994105" y="3702978"/>
            <a:ext cx="1890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u="sng"/>
              <a:t>Logique du système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2BCF349D-0B2A-4B77-00F1-D980A21AAFE4}"/>
              </a:ext>
            </a:extLst>
          </p:cNvPr>
          <p:cNvSpPr/>
          <p:nvPr/>
        </p:nvSpPr>
        <p:spPr>
          <a:xfrm>
            <a:off x="4967664" y="3669938"/>
            <a:ext cx="1778019" cy="395155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29" name="Connecteur : en arc 28">
            <a:extLst>
              <a:ext uri="{FF2B5EF4-FFF2-40B4-BE49-F238E27FC236}">
                <a16:creationId xmlns:a16="http://schemas.microsoft.com/office/drawing/2014/main" id="{AAE9CECD-F9E6-C887-7CE9-D19D0D0C5252}"/>
              </a:ext>
            </a:extLst>
          </p:cNvPr>
          <p:cNvCxnSpPr>
            <a:cxnSpLocks/>
          </p:cNvCxnSpPr>
          <p:nvPr/>
        </p:nvCxnSpPr>
        <p:spPr>
          <a:xfrm flipV="1">
            <a:off x="3893233" y="4418577"/>
            <a:ext cx="3888372" cy="537691"/>
          </a:xfrm>
          <a:prstGeom prst="curvedConnector3">
            <a:avLst>
              <a:gd name="adj1" fmla="val 6041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 : en arc 32">
            <a:extLst>
              <a:ext uri="{FF2B5EF4-FFF2-40B4-BE49-F238E27FC236}">
                <a16:creationId xmlns:a16="http://schemas.microsoft.com/office/drawing/2014/main" id="{EB450897-5EC0-93E5-F09C-40A05CDCBA76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6884274" y="3856867"/>
            <a:ext cx="995522" cy="273978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 : en arc 36">
            <a:extLst>
              <a:ext uri="{FF2B5EF4-FFF2-40B4-BE49-F238E27FC236}">
                <a16:creationId xmlns:a16="http://schemas.microsoft.com/office/drawing/2014/main" id="{397D1C23-829D-46B9-B97A-7768D28C3CC4}"/>
              </a:ext>
            </a:extLst>
          </p:cNvPr>
          <p:cNvCxnSpPr>
            <a:cxnSpLocks/>
          </p:cNvCxnSpPr>
          <p:nvPr/>
        </p:nvCxnSpPr>
        <p:spPr>
          <a:xfrm flipV="1">
            <a:off x="3780683" y="3867515"/>
            <a:ext cx="1038480" cy="253050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ZoneTexte 40">
            <a:extLst>
              <a:ext uri="{FF2B5EF4-FFF2-40B4-BE49-F238E27FC236}">
                <a16:creationId xmlns:a16="http://schemas.microsoft.com/office/drawing/2014/main" id="{B4494376-934B-6607-21ED-4F942DF19F68}"/>
              </a:ext>
            </a:extLst>
          </p:cNvPr>
          <p:cNvSpPr txBox="1"/>
          <p:nvPr/>
        </p:nvSpPr>
        <p:spPr>
          <a:xfrm>
            <a:off x="4994105" y="5492045"/>
            <a:ext cx="3012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u="sng"/>
              <a:t>Sélection objective de la solution</a:t>
            </a:r>
          </a:p>
          <a:p>
            <a:endParaRPr lang="fr-BE" sz="1400" u="sng"/>
          </a:p>
        </p:txBody>
      </p: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B85CB13D-1378-C27B-E5CD-52E29C32B4A7}"/>
              </a:ext>
            </a:extLst>
          </p:cNvPr>
          <p:cNvSpPr/>
          <p:nvPr/>
        </p:nvSpPr>
        <p:spPr>
          <a:xfrm>
            <a:off x="4941637" y="5448371"/>
            <a:ext cx="2727139" cy="395155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43" name="Connecteur : en arc 42">
            <a:extLst>
              <a:ext uri="{FF2B5EF4-FFF2-40B4-BE49-F238E27FC236}">
                <a16:creationId xmlns:a16="http://schemas.microsoft.com/office/drawing/2014/main" id="{8267BE73-0926-4C9B-47AE-C77E6DA3F84A}"/>
              </a:ext>
            </a:extLst>
          </p:cNvPr>
          <p:cNvCxnSpPr>
            <a:cxnSpLocks/>
          </p:cNvCxnSpPr>
          <p:nvPr/>
        </p:nvCxnSpPr>
        <p:spPr>
          <a:xfrm flipV="1">
            <a:off x="3473493" y="5645948"/>
            <a:ext cx="1345670" cy="109318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206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A4C3B0-2588-EE44-8756-F02F7716B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Solution retenue</a:t>
            </a:r>
            <a:br>
              <a:rPr lang="fr-BE"/>
            </a:br>
            <a:r>
              <a:rPr lang="fr-BE" sz="2000"/>
              <a:t>Conclusion de la conception</a:t>
            </a:r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49377B-0B1D-C29B-83E9-F689FF935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10</a:t>
            </a:fld>
            <a:endParaRPr lang="en-US"/>
          </a:p>
        </p:txBody>
      </p:sp>
      <p:pic>
        <p:nvPicPr>
          <p:cNvPr id="10" name="Espace réservé du contenu 9" descr="Une image contenant Graphique, conception, art&#10;&#10;Le contenu généré par l’IA peut être incorrect.">
            <a:extLst>
              <a:ext uri="{FF2B5EF4-FFF2-40B4-BE49-F238E27FC236}">
                <a16:creationId xmlns:a16="http://schemas.microsoft.com/office/drawing/2014/main" id="{CFC2D9FC-D302-43E7-3B49-DA0D8FB883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7" y="2419096"/>
            <a:ext cx="4024788" cy="3740150"/>
          </a:xfr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E500475A-B806-A6CB-E328-DBB131B1383F}"/>
              </a:ext>
            </a:extLst>
          </p:cNvPr>
          <p:cNvSpPr txBox="1"/>
          <p:nvPr/>
        </p:nvSpPr>
        <p:spPr>
          <a:xfrm>
            <a:off x="5933439" y="1239520"/>
            <a:ext cx="379306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u="sng"/>
              <a:t>Meilleur compromis global :</a:t>
            </a:r>
          </a:p>
          <a:p>
            <a:r>
              <a:rPr lang="fr-BE"/>
              <a:t> </a:t>
            </a:r>
          </a:p>
          <a:p>
            <a:endParaRPr lang="fr-B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/>
              <a:t>Stockage vertical : Gain d’espace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/>
              <a:t>Système simple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/>
              <a:t>Ergonomie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/>
              <a:t>Sécurité des vélos</a:t>
            </a:r>
          </a:p>
        </p:txBody>
      </p:sp>
    </p:spTree>
    <p:extLst>
      <p:ext uri="{BB962C8B-B14F-4D97-AF65-F5344CB8AC3E}">
        <p14:creationId xmlns:p14="http://schemas.microsoft.com/office/powerpoint/2010/main" val="3101928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CFC2F-164A-4E13-D111-267B04F39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74CF6C-C721-F3C9-B5EA-ECDF38440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Dimensionnement</a:t>
            </a:r>
            <a:br>
              <a:rPr lang="fr-BE"/>
            </a:br>
            <a:r>
              <a:rPr lang="fr-BE" sz="2000"/>
              <a:t>Approche globale</a:t>
            </a:r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86C801-459C-5A14-2F31-332AEA747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139C43CA-E4B6-3B78-236C-6FBB324D1F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411696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592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4C773B9-E328-72B3-9664-40A613C33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770" y="5852162"/>
            <a:ext cx="5965190" cy="7468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BE" noProof="0"/>
              <a:t>Plan du prototype</a:t>
            </a:r>
          </a:p>
        </p:txBody>
      </p:sp>
      <p:pic>
        <p:nvPicPr>
          <p:cNvPr id="4" name="Espace réservé du contenu 3" descr="Une image contenant croquis, dessin, diagramme, Dessin au trait&#10;&#10;Le contenu généré par l’IA peut être incorrect.">
            <a:extLst>
              <a:ext uri="{FF2B5EF4-FFF2-40B4-BE49-F238E27FC236}">
                <a16:creationId xmlns:a16="http://schemas.microsoft.com/office/drawing/2014/main" id="{47EFFE0D-7F03-4DDC-B107-0BDA55AE8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818" y="396704"/>
            <a:ext cx="7450142" cy="519647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69770" y="5719083"/>
            <a:ext cx="8229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CD707B-E832-966E-3878-DDFD9DF5F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fr-BE" noProof="0" smtClean="0"/>
              <a:t>12</a:t>
            </a:fld>
            <a:endParaRPr lang="fr-BE" noProof="0"/>
          </a:p>
        </p:txBody>
      </p:sp>
      <p:pic>
        <p:nvPicPr>
          <p:cNvPr id="6" name="Image 5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1A8A872A-B579-90E1-6A3B-4A6F428E7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959" y="1403624"/>
            <a:ext cx="4521041" cy="405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74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8EB459-3385-4BF6-A9E1-154CBA251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AAC1859-8360-6ABE-EB40-E3A8A63A4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7"/>
            <a:ext cx="5957701" cy="1316736"/>
          </a:xfrm>
        </p:spPr>
        <p:txBody>
          <a:bodyPr>
            <a:normAutofit/>
          </a:bodyPr>
          <a:lstStyle/>
          <a:p>
            <a:r>
              <a:rPr lang="fr-BE" noProof="0"/>
              <a:t>Fabrication mécanique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7014CBA-C1F2-4C20-AB1D-D2C610CEE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 descr="Fraiseuse industrielle">
            <a:extLst>
              <a:ext uri="{FF2B5EF4-FFF2-40B4-BE49-F238E27FC236}">
                <a16:creationId xmlns:a16="http://schemas.microsoft.com/office/drawing/2014/main" id="{B957D7B1-C24F-0A53-B2F7-E793071361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726" r="7" b="7"/>
          <a:stretch>
            <a:fillRect/>
          </a:stretch>
        </p:blipFill>
        <p:spPr>
          <a:xfrm>
            <a:off x="6800182" y="4031991"/>
            <a:ext cx="2110740" cy="1884317"/>
          </a:xfrm>
          <a:prstGeom prst="rect">
            <a:avLst/>
          </a:prstGeom>
        </p:spPr>
      </p:pic>
      <p:pic>
        <p:nvPicPr>
          <p:cNvPr id="4" name="Espace réservé du contenu 3" descr="Tours à Metaux - Damatomacchine Dm Italia">
            <a:extLst>
              <a:ext uri="{FF2B5EF4-FFF2-40B4-BE49-F238E27FC236}">
                <a16:creationId xmlns:a16="http://schemas.microsoft.com/office/drawing/2014/main" id="{8A28AE15-E2A8-A4F0-A521-2FB68EA2D4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58" r="11730"/>
          <a:stretch>
            <a:fillRect/>
          </a:stretch>
        </p:blipFill>
        <p:spPr>
          <a:xfrm>
            <a:off x="9429531" y="4021073"/>
            <a:ext cx="1963861" cy="175319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4A07BB-925F-4473-86EC-518B6F14D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0D5BCC-0E5F-8D8E-F413-E7FCF19FD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fr-BE" noProof="0" smtClean="0"/>
              <a:t>13</a:t>
            </a:fld>
            <a:endParaRPr lang="fr-BE" noProof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C60410C-5635-C4DC-E5A8-BDBB2EF7FE1A}"/>
              </a:ext>
            </a:extLst>
          </p:cNvPr>
          <p:cNvSpPr txBox="1"/>
          <p:nvPr/>
        </p:nvSpPr>
        <p:spPr>
          <a:xfrm>
            <a:off x="894907" y="1777987"/>
            <a:ext cx="55168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u="sng"/>
              <a:t>Prototype réalisé à l’échelle 1/10</a:t>
            </a:r>
          </a:p>
          <a:p>
            <a:endParaRPr lang="fr-BE"/>
          </a:p>
          <a:p>
            <a:endParaRPr lang="fr-BE"/>
          </a:p>
          <a:p>
            <a:r>
              <a:rPr lang="fr-BE"/>
              <a:t>Pièces usinées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/>
              <a:t>Paliers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/>
              <a:t>Axes &amp; arbres</a:t>
            </a:r>
          </a:p>
          <a:p>
            <a:endParaRPr lang="fr-BE"/>
          </a:p>
          <a:p>
            <a:endParaRPr lang="fr-BE"/>
          </a:p>
          <a:p>
            <a:r>
              <a:rPr lang="fr-BE"/>
              <a:t>Impression 3D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/>
              <a:t>Mâchoires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/>
              <a:t>Manivelles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/>
              <a:t>Transmission</a:t>
            </a:r>
          </a:p>
        </p:txBody>
      </p:sp>
      <p:pic>
        <p:nvPicPr>
          <p:cNvPr id="20" name="Image 19" descr="Une image contenant croquis, dessin, diagramme, illustration&#10;&#10;Le contenu généré par l’IA peut être incorrect.">
            <a:extLst>
              <a:ext uri="{FF2B5EF4-FFF2-40B4-BE49-F238E27FC236}">
                <a16:creationId xmlns:a16="http://schemas.microsoft.com/office/drawing/2014/main" id="{E9CEA554-06B2-61EE-41D9-BA308E0B2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3788" y="758835"/>
            <a:ext cx="4264912" cy="3216386"/>
          </a:xfrm>
          <a:prstGeom prst="rect">
            <a:avLst/>
          </a:prstGeom>
        </p:spPr>
      </p:pic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4A2C9E6B-76F5-FBD2-0BA0-ADEC6F37D0AB}"/>
              </a:ext>
            </a:extLst>
          </p:cNvPr>
          <p:cNvSpPr/>
          <p:nvPr/>
        </p:nvSpPr>
        <p:spPr>
          <a:xfrm>
            <a:off x="800100" y="2547512"/>
            <a:ext cx="2101850" cy="1060450"/>
          </a:xfrm>
          <a:prstGeom prst="roundRect">
            <a:avLst/>
          </a:prstGeom>
          <a:noFill/>
          <a:ln w="38100" cap="flat" cmpd="sng" algn="ctr">
            <a:solidFill>
              <a:srgbClr val="FF33C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63790343-AA3F-9F16-7708-52C14978A1C9}"/>
              </a:ext>
            </a:extLst>
          </p:cNvPr>
          <p:cNvSpPr/>
          <p:nvPr/>
        </p:nvSpPr>
        <p:spPr>
          <a:xfrm>
            <a:off x="792258" y="3929100"/>
            <a:ext cx="2101850" cy="1316735"/>
          </a:xfrm>
          <a:prstGeom prst="roundRect">
            <a:avLst/>
          </a:prstGeom>
          <a:noFill/>
          <a:ln w="38100" cap="flat" cmpd="sng" algn="ctr">
            <a:solidFill>
              <a:srgbClr val="00B0F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F69B8AEE-5586-7BAB-C1CF-3C718276884C}"/>
              </a:ext>
            </a:extLst>
          </p:cNvPr>
          <p:cNvCxnSpPr>
            <a:cxnSpLocks/>
          </p:cNvCxnSpPr>
          <p:nvPr/>
        </p:nvCxnSpPr>
        <p:spPr>
          <a:xfrm>
            <a:off x="3022600" y="3060700"/>
            <a:ext cx="1143000" cy="7298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8161F9DB-81BF-14BB-2235-BCF11F72E0F2}"/>
              </a:ext>
            </a:extLst>
          </p:cNvPr>
          <p:cNvSpPr txBox="1"/>
          <p:nvPr/>
        </p:nvSpPr>
        <p:spPr>
          <a:xfrm>
            <a:off x="4227387" y="3605889"/>
            <a:ext cx="179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/>
              <a:t>Contrôle qualité</a:t>
            </a: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E279F81A-5C96-8D2E-F531-5ABE77A46006}"/>
              </a:ext>
            </a:extLst>
          </p:cNvPr>
          <p:cNvCxnSpPr>
            <a:cxnSpLocks/>
          </p:cNvCxnSpPr>
          <p:nvPr/>
        </p:nvCxnSpPr>
        <p:spPr>
          <a:xfrm flipV="1">
            <a:off x="3022600" y="3929100"/>
            <a:ext cx="1143000" cy="7199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5432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0D8548-FF3A-BC10-B5E4-DEF69CA92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Résultats &amp; Esprit critique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BEC79E62-17A9-5849-AE6A-98714352F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2660" y="1980692"/>
            <a:ext cx="4039362" cy="139115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BE" sz="2400" u="sng"/>
              <a:t>Ce que notre prototype propose :</a:t>
            </a:r>
            <a:endParaRPr lang="fr-BE" sz="2400"/>
          </a:p>
          <a:p>
            <a:r>
              <a:rPr lang="fr-BE" sz="1900"/>
              <a:t>Gain de temps</a:t>
            </a:r>
          </a:p>
          <a:p>
            <a:r>
              <a:rPr lang="fr-BE" sz="1900"/>
              <a:t>Simplicité d’utilisation (1 pers)</a:t>
            </a:r>
          </a:p>
          <a:p>
            <a:r>
              <a:rPr lang="fr-BE" sz="1900"/>
              <a:t>Gestion de l’espace dans le hangar</a:t>
            </a:r>
          </a:p>
          <a:p>
            <a:pPr marL="0" indent="0">
              <a:buNone/>
            </a:pPr>
            <a:endParaRPr lang="fr-BE" sz="1900"/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4CDBD079-7376-F57B-3276-A9D6EE2348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67550" y="1980692"/>
            <a:ext cx="4188206" cy="188010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BE" sz="2600" u="sng"/>
              <a:t>Hypothèses du prototype :</a:t>
            </a:r>
          </a:p>
          <a:p>
            <a:pPr marL="285750" indent="-285750"/>
            <a:r>
              <a:rPr lang="fr-BE" sz="1800" err="1"/>
              <a:t>Hyp</a:t>
            </a:r>
            <a:r>
              <a:rPr lang="fr-BE" sz="1800"/>
              <a:t> de base de la RM</a:t>
            </a:r>
          </a:p>
          <a:p>
            <a:pPr marL="285750" indent="-285750"/>
            <a:r>
              <a:rPr lang="fr-BE" sz="1800"/>
              <a:t>Répartition des charges simplifiée</a:t>
            </a:r>
          </a:p>
          <a:p>
            <a:pPr marL="285750" indent="-285750"/>
            <a:r>
              <a:rPr lang="fr-BE" sz="1800"/>
              <a:t>Frottements négligés</a:t>
            </a:r>
          </a:p>
          <a:p>
            <a:pPr marL="285750" indent="-285750"/>
            <a:r>
              <a:rPr lang="fr-BE" sz="1800"/>
              <a:t>Hypothèses pour la RM de la plaque</a:t>
            </a:r>
          </a:p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638EE7-AE73-A50B-5BE4-FCD981092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14</a:t>
            </a:fld>
            <a:endParaRPr lang="en-US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CD52230-E134-3514-1C28-8D609B0BE22C}"/>
              </a:ext>
            </a:extLst>
          </p:cNvPr>
          <p:cNvSpPr txBox="1"/>
          <p:nvPr/>
        </p:nvSpPr>
        <p:spPr>
          <a:xfrm>
            <a:off x="8315706" y="3763748"/>
            <a:ext cx="2940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/>
              <a:t>Coefficient de sécurité</a:t>
            </a:r>
          </a:p>
        </p:txBody>
      </p:sp>
      <p:pic>
        <p:nvPicPr>
          <p:cNvPr id="26" name="Image 25" descr="Une image contenant diagramme, capture d’écran, Rectangle, ligne&#10;&#10;Le contenu généré par l’IA peut être incorrect.">
            <a:extLst>
              <a:ext uri="{FF2B5EF4-FFF2-40B4-BE49-F238E27FC236}">
                <a16:creationId xmlns:a16="http://schemas.microsoft.com/office/drawing/2014/main" id="{1C954446-78C8-659B-750D-29139F45F3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19" t="5113" b="4376"/>
          <a:stretch>
            <a:fillRect/>
          </a:stretch>
        </p:blipFill>
        <p:spPr>
          <a:xfrm>
            <a:off x="715219" y="3371850"/>
            <a:ext cx="2393950" cy="2555403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1BF5C12A-80C1-0618-A679-3A2091D5BD41}"/>
              </a:ext>
            </a:extLst>
          </p:cNvPr>
          <p:cNvSpPr txBox="1"/>
          <p:nvPr/>
        </p:nvSpPr>
        <p:spPr>
          <a:xfrm>
            <a:off x="917778" y="5816642"/>
            <a:ext cx="23939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050"/>
              <a:t>Hangar </a:t>
            </a:r>
            <a:r>
              <a:rPr lang="fr-BE" sz="1050" err="1"/>
              <a:t>Urbike</a:t>
            </a:r>
            <a:r>
              <a:rPr lang="fr-BE" sz="1050"/>
              <a:t> avec 4 de nos systèmes</a:t>
            </a:r>
          </a:p>
        </p:txBody>
      </p: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73CAC0B8-3630-27ED-0CB2-2F7DF52DACB3}"/>
              </a:ext>
            </a:extLst>
          </p:cNvPr>
          <p:cNvGrpSpPr/>
          <p:nvPr/>
        </p:nvGrpSpPr>
        <p:grpSpPr>
          <a:xfrm>
            <a:off x="3747968" y="4022663"/>
            <a:ext cx="3178893" cy="500757"/>
            <a:chOff x="3962079" y="4304775"/>
            <a:chExt cx="3178893" cy="500757"/>
          </a:xfrm>
        </p:grpSpPr>
        <p:sp>
          <p:nvSpPr>
            <p:cNvPr id="34" name="Rectangle : coins arrondis 33">
              <a:extLst>
                <a:ext uri="{FF2B5EF4-FFF2-40B4-BE49-F238E27FC236}">
                  <a16:creationId xmlns:a16="http://schemas.microsoft.com/office/drawing/2014/main" id="{541A4189-EE0F-5400-E786-19353EFAB085}"/>
                </a:ext>
              </a:extLst>
            </p:cNvPr>
            <p:cNvSpPr/>
            <p:nvPr/>
          </p:nvSpPr>
          <p:spPr>
            <a:xfrm>
              <a:off x="3962079" y="4343867"/>
              <a:ext cx="2914683" cy="43871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AA5F7BD8-78E1-61AC-A4FF-452E7E86DAD3}"/>
                </a:ext>
              </a:extLst>
            </p:cNvPr>
            <p:cNvSpPr txBox="1">
              <a:spLocks/>
            </p:cNvSpPr>
            <p:nvPr/>
          </p:nvSpPr>
          <p:spPr>
            <a:xfrm>
              <a:off x="3980539" y="4304775"/>
              <a:ext cx="31604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sz="1200"/>
                <a:t>Transport de 8 vélos en même temps</a:t>
              </a:r>
            </a:p>
            <a:p>
              <a:r>
                <a:rPr lang="fr-BE" sz="1200"/>
                <a:t>Estimation de 20min          3x plus rapide !</a:t>
              </a:r>
            </a:p>
          </p:txBody>
        </p:sp>
        <p:pic>
          <p:nvPicPr>
            <p:cNvPr id="33" name="Graphique 32" descr="Flèche vers la droite contour">
              <a:extLst>
                <a:ext uri="{FF2B5EF4-FFF2-40B4-BE49-F238E27FC236}">
                  <a16:creationId xmlns:a16="http://schemas.microsoft.com/office/drawing/2014/main" id="{2D69415E-2576-B8FF-91C2-09AB823215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66170" y="4475598"/>
              <a:ext cx="335101" cy="329934"/>
            </a:xfrm>
            <a:prstGeom prst="rect">
              <a:avLst/>
            </a:prstGeom>
          </p:spPr>
        </p:pic>
      </p:grpSp>
      <p:cxnSp>
        <p:nvCxnSpPr>
          <p:cNvPr id="43" name="Connecteur : en arc 42">
            <a:extLst>
              <a:ext uri="{FF2B5EF4-FFF2-40B4-BE49-F238E27FC236}">
                <a16:creationId xmlns:a16="http://schemas.microsoft.com/office/drawing/2014/main" id="{85E5E1D1-C0F5-C9E8-F8E7-E2B584801E71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2114753" y="2540000"/>
            <a:ext cx="3231892" cy="1482663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lèche : droite 46">
            <a:extLst>
              <a:ext uri="{FF2B5EF4-FFF2-40B4-BE49-F238E27FC236}">
                <a16:creationId xmlns:a16="http://schemas.microsoft.com/office/drawing/2014/main" id="{D3978666-CB49-3EB1-2878-CD880FECC0E1}"/>
              </a:ext>
            </a:extLst>
          </p:cNvPr>
          <p:cNvSpPr/>
          <p:nvPr/>
        </p:nvSpPr>
        <p:spPr>
          <a:xfrm>
            <a:off x="7388606" y="3835236"/>
            <a:ext cx="876300" cy="226355"/>
          </a:xfrm>
          <a:prstGeom prst="rightArrow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06706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B345F1-4C81-ECDA-AFAB-B359610DF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Budget</a:t>
            </a:r>
            <a:br>
              <a:rPr lang="fr-BE"/>
            </a:br>
            <a:r>
              <a:rPr lang="fr-BE" sz="2000"/>
              <a:t>Dépenses de notre projet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87C4E2-1046-C06D-88A2-C490035E0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3852315" cy="1530858"/>
          </a:xfrm>
        </p:spPr>
        <p:txBody>
          <a:bodyPr/>
          <a:lstStyle/>
          <a:p>
            <a:pPr marL="0" indent="0">
              <a:buNone/>
            </a:pPr>
            <a:r>
              <a:rPr lang="fr-BE" sz="1800"/>
              <a:t>Commande de bruts :</a:t>
            </a:r>
          </a:p>
          <a:p>
            <a:r>
              <a:rPr lang="fr-BE" sz="1400"/>
              <a:t>Axes (ø = 12mm, 400mm) ≈ 5€</a:t>
            </a:r>
          </a:p>
          <a:p>
            <a:r>
              <a:rPr lang="fr-BE" sz="1400"/>
              <a:t>Profilés (20x20, 1000mm) ≈ 8€ </a:t>
            </a:r>
          </a:p>
          <a:p>
            <a:pPr marL="0" indent="0">
              <a:buNone/>
            </a:pPr>
            <a:endParaRPr lang="fr-BE"/>
          </a:p>
          <a:p>
            <a:pPr marL="0" indent="0">
              <a:buNone/>
            </a:pPr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F1083C-165F-4EC3-4BF3-AB39E6C9B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15</a:t>
            </a:fld>
            <a:endParaRPr lang="en-US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B0028EE1-4BFA-7170-68AE-A5A433ED51A9}"/>
              </a:ext>
            </a:extLst>
          </p:cNvPr>
          <p:cNvSpPr txBox="1">
            <a:spLocks/>
          </p:cNvSpPr>
          <p:nvPr/>
        </p:nvSpPr>
        <p:spPr>
          <a:xfrm>
            <a:off x="4120109" y="2221992"/>
            <a:ext cx="3852315" cy="2311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BE" sz="1800"/>
              <a:t>Pièces de base dispo au </a:t>
            </a:r>
            <a:r>
              <a:rPr lang="fr-BE" sz="1800" err="1"/>
              <a:t>FabLab</a:t>
            </a:r>
            <a:endParaRPr lang="fr-BE" sz="1800"/>
          </a:p>
          <a:p>
            <a:r>
              <a:rPr lang="fr-BE" sz="1400"/>
              <a:t>Angles pour profilés (8x) ≈ 20€</a:t>
            </a:r>
          </a:p>
          <a:p>
            <a:r>
              <a:rPr lang="fr-BE" sz="1400"/>
              <a:t>Visserie ≈ 3€</a:t>
            </a:r>
          </a:p>
          <a:p>
            <a:r>
              <a:rPr lang="fr-BE" sz="1400"/>
              <a:t>Roues ≈ 6.4€</a:t>
            </a:r>
          </a:p>
          <a:p>
            <a:r>
              <a:rPr lang="fr-BE" sz="1400"/>
              <a:t>Courroie ≈ 1.6€</a:t>
            </a:r>
          </a:p>
          <a:p>
            <a:r>
              <a:rPr lang="fr-BE" sz="1400"/>
              <a:t>Chute de bois récupérée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BE"/>
          </a:p>
        </p:txBody>
      </p: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3CFA3852-EC2E-A53A-B655-545B0254D7C2}"/>
              </a:ext>
            </a:extLst>
          </p:cNvPr>
          <p:cNvSpPr txBox="1">
            <a:spLocks/>
          </p:cNvSpPr>
          <p:nvPr/>
        </p:nvSpPr>
        <p:spPr>
          <a:xfrm>
            <a:off x="7972424" y="2221992"/>
            <a:ext cx="3852315" cy="2311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BE" sz="1800"/>
              <a:t>Impression 3D</a:t>
            </a:r>
          </a:p>
          <a:p>
            <a:r>
              <a:rPr lang="fr-BE" sz="1200"/>
              <a:t>Filament total : 46m = 138,3g             </a:t>
            </a:r>
          </a:p>
          <a:p>
            <a:pPr marL="0" indent="0">
              <a:buNone/>
            </a:pPr>
            <a:r>
              <a:rPr lang="fr-BE" sz="1200"/>
              <a:t>	4.9€ (non facturés)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7DD704B9-C5E6-E8A6-B645-4E4B5BA8FA48}"/>
              </a:ext>
            </a:extLst>
          </p:cNvPr>
          <p:cNvCxnSpPr/>
          <p:nvPr/>
        </p:nvCxnSpPr>
        <p:spPr>
          <a:xfrm>
            <a:off x="8496300" y="3136900"/>
            <a:ext cx="3556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3462D65C-C5D9-2422-93BE-9BFA8B97B0D6}"/>
              </a:ext>
            </a:extLst>
          </p:cNvPr>
          <p:cNvSpPr txBox="1"/>
          <p:nvPr/>
        </p:nvSpPr>
        <p:spPr>
          <a:xfrm>
            <a:off x="768350" y="5479365"/>
            <a:ext cx="454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/>
              <a:t>Dépenses totales : 44.0€</a:t>
            </a:r>
          </a:p>
          <a:p>
            <a:r>
              <a:rPr lang="fr-BE"/>
              <a:t>Prix du matériel altéré : 14.6 €</a:t>
            </a:r>
          </a:p>
        </p:txBody>
      </p:sp>
    </p:spTree>
    <p:extLst>
      <p:ext uri="{BB962C8B-B14F-4D97-AF65-F5344CB8AC3E}">
        <p14:creationId xmlns:p14="http://schemas.microsoft.com/office/powerpoint/2010/main" val="1914428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A3769FE6-7153-F76F-F8B1-161F727F6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Limites &amp; Améliorations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BC9D32E-D364-61A7-D09F-F422A1438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535" y="2577592"/>
            <a:ext cx="4925465" cy="21595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BE" sz="1600"/>
              <a:t>Problèmes mal anticipés liés à la taille de la maquette : </a:t>
            </a:r>
          </a:p>
          <a:p>
            <a:r>
              <a:rPr lang="fr-BE" sz="1600"/>
              <a:t>Interférence entre certains composants</a:t>
            </a:r>
          </a:p>
          <a:p>
            <a:r>
              <a:rPr lang="fr-BE" sz="1600"/>
              <a:t>Fluidité du transfert de puissance</a:t>
            </a:r>
          </a:p>
          <a:p>
            <a:pPr marL="0" indent="0">
              <a:buNone/>
            </a:pPr>
            <a:r>
              <a:rPr lang="fr-BE" sz="1600"/>
              <a:t>Blocage des vélos en position haute</a:t>
            </a:r>
          </a:p>
          <a:p>
            <a:pPr marL="0" indent="0">
              <a:buNone/>
            </a:pPr>
            <a:r>
              <a:rPr lang="fr-BE" sz="1600"/>
              <a:t>Fluidité des déplacements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C5C169-6607-7AA0-6D4D-622C20BE3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16</a:t>
            </a:fld>
            <a:endParaRPr lang="en-US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ECC48E9-E33D-59A0-62B8-BF2B9F759C9B}"/>
              </a:ext>
            </a:extLst>
          </p:cNvPr>
          <p:cNvSpPr txBox="1"/>
          <p:nvPr/>
        </p:nvSpPr>
        <p:spPr>
          <a:xfrm>
            <a:off x="2616200" y="1839385"/>
            <a:ext cx="1612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/>
              <a:t>Limites</a:t>
            </a:r>
            <a:endParaRPr lang="fr-BE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4F6C68D8-E544-6B6F-1EEF-E21B4A52B080}"/>
              </a:ext>
            </a:extLst>
          </p:cNvPr>
          <p:cNvSpPr/>
          <p:nvPr/>
        </p:nvSpPr>
        <p:spPr>
          <a:xfrm>
            <a:off x="1070003" y="2474960"/>
            <a:ext cx="4976264" cy="221134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16D3A5D-83AA-E6ED-9DC9-CD8B7D0DF81E}"/>
              </a:ext>
            </a:extLst>
          </p:cNvPr>
          <p:cNvSpPr txBox="1"/>
          <p:nvPr/>
        </p:nvSpPr>
        <p:spPr>
          <a:xfrm>
            <a:off x="7241080" y="1839385"/>
            <a:ext cx="30395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/>
              <a:t>Améliorations</a:t>
            </a:r>
            <a:endParaRPr lang="fr-BE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7690D5D6-32D2-3C3E-3AF4-5C959652F93C}"/>
              </a:ext>
            </a:extLst>
          </p:cNvPr>
          <p:cNvSpPr/>
          <p:nvPr/>
        </p:nvSpPr>
        <p:spPr>
          <a:xfrm>
            <a:off x="6145733" y="2474960"/>
            <a:ext cx="5070980" cy="346864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A9D47EB-5857-1202-51ED-830D1365C642}"/>
              </a:ext>
            </a:extLst>
          </p:cNvPr>
          <p:cNvSpPr txBox="1"/>
          <p:nvPr/>
        </p:nvSpPr>
        <p:spPr>
          <a:xfrm>
            <a:off x="6305016" y="2600420"/>
            <a:ext cx="4911697" cy="37856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600"/>
              <a:t>Système de transmission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BE" sz="1600"/>
              <a:t>Reprise des jeux / tolérances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BE" sz="1600"/>
              <a:t>Optimisation du système de transmission (Courroie personnalisée)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BE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600"/>
              <a:t>Déplacement des vélos motorisé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E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600"/>
              <a:t>Usinage des paliers en aluminium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E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600"/>
              <a:t>Système de charge et de sécurisation complet</a:t>
            </a:r>
          </a:p>
          <a:p>
            <a:endParaRPr lang="fr-BE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600"/>
              <a:t>Validation géométriques sur taille réelle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E" sz="1600"/>
          </a:p>
          <a:p>
            <a:endParaRPr lang="fr-BE" sz="1600"/>
          </a:p>
          <a:p>
            <a:endParaRPr lang="fr-BE" sz="1600"/>
          </a:p>
        </p:txBody>
      </p:sp>
    </p:spTree>
    <p:extLst>
      <p:ext uri="{BB962C8B-B14F-4D97-AF65-F5344CB8AC3E}">
        <p14:creationId xmlns:p14="http://schemas.microsoft.com/office/powerpoint/2010/main" val="358543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F3DCEA-A380-2470-EDAB-8517F9655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Projet en taille réelle</a:t>
            </a:r>
            <a:br>
              <a:rPr lang="fr-BE"/>
            </a:br>
            <a:r>
              <a:rPr lang="fr-BE" sz="2000"/>
              <a:t>Estimation du prix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C047A7-19E0-AD88-4BC4-D110B1465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Profilés (10m) = 300€</a:t>
            </a:r>
          </a:p>
          <a:p>
            <a:r>
              <a:rPr lang="fr-BE"/>
              <a:t>Barres (ø 40) = 70€</a:t>
            </a:r>
          </a:p>
          <a:p>
            <a:r>
              <a:rPr lang="fr-BE"/>
              <a:t>Planche en bois = 15€</a:t>
            </a:r>
          </a:p>
          <a:p>
            <a:r>
              <a:rPr lang="fr-BE"/>
              <a:t>Éléments de connexion (visseries, équerres,..) + manivelle ≈ 200€</a:t>
            </a:r>
          </a:p>
          <a:p>
            <a:r>
              <a:rPr lang="fr-BE"/>
              <a:t>Mâchoires (assemblage en bois) = 30€</a:t>
            </a:r>
          </a:p>
          <a:p>
            <a:r>
              <a:rPr lang="fr-BE"/>
              <a:t>Système de transmission de puissance ≈ 400-700€ </a:t>
            </a:r>
          </a:p>
          <a:p>
            <a:pPr marL="0" indent="0">
              <a:buNone/>
            </a:pPr>
            <a:endParaRPr lang="fr-BE"/>
          </a:p>
          <a:p>
            <a:pPr marL="0" indent="0">
              <a:buNone/>
            </a:pPr>
            <a:r>
              <a:rPr lang="fr-BE"/>
              <a:t>Estimation totale : 1015€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A8F0A4F-4640-49B1-563C-3CC51D2FD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17</a:t>
            </a:fld>
            <a:endParaRPr lang="en-US"/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B636FAF6-8996-4BCC-4EBA-FBA921F8AC30}"/>
              </a:ext>
            </a:extLst>
          </p:cNvPr>
          <p:cNvCxnSpPr>
            <a:cxnSpLocks/>
          </p:cNvCxnSpPr>
          <p:nvPr/>
        </p:nvCxnSpPr>
        <p:spPr>
          <a:xfrm flipV="1">
            <a:off x="6451600" y="4381500"/>
            <a:ext cx="2254250" cy="3683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3754ED63-587A-8B57-03BE-C6C333A8B89E}"/>
              </a:ext>
            </a:extLst>
          </p:cNvPr>
          <p:cNvSpPr txBox="1"/>
          <p:nvPr/>
        </p:nvSpPr>
        <p:spPr>
          <a:xfrm>
            <a:off x="8848539" y="4012135"/>
            <a:ext cx="24066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/>
              <a:t>La piste du moteur semble plus rentable !</a:t>
            </a:r>
          </a:p>
          <a:p>
            <a:r>
              <a:rPr lang="fr-BE"/>
              <a:t>(~200€)</a:t>
            </a:r>
          </a:p>
        </p:txBody>
      </p:sp>
    </p:spTree>
    <p:extLst>
      <p:ext uri="{BB962C8B-B14F-4D97-AF65-F5344CB8AC3E}">
        <p14:creationId xmlns:p14="http://schemas.microsoft.com/office/powerpoint/2010/main" val="3802405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D4E505A-C0D5-BA98-9849-9B6BA6543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770" y="5852162"/>
            <a:ext cx="5965190" cy="7468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BE" sz="3700" noProof="0"/>
              <a:t>Merci pour votre écoute</a:t>
            </a:r>
          </a:p>
        </p:txBody>
      </p:sp>
      <p:pic>
        <p:nvPicPr>
          <p:cNvPr id="4" name="Espace réservé du contenu 3" descr="Image vectorielle Stock Diapositive &quot;QUESTIONS&quot; (présentation fin merci  conclusions faq) | Adobe Stock">
            <a:extLst>
              <a:ext uri="{FF2B5EF4-FFF2-40B4-BE49-F238E27FC236}">
                <a16:creationId xmlns:a16="http://schemas.microsoft.com/office/drawing/2014/main" id="{8DA3535F-04DA-F9D4-27D8-C04E4AE8F7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2586" y="406400"/>
            <a:ext cx="6726827" cy="519647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69770" y="5719083"/>
            <a:ext cx="8229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9526A1-66F5-F9D7-8487-4921DE23F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fr-BE" noProof="0" smtClean="0"/>
              <a:t>18</a:t>
            </a:fld>
            <a:endParaRPr lang="fr-BE" noProof="0"/>
          </a:p>
        </p:txBody>
      </p:sp>
    </p:spTree>
    <p:extLst>
      <p:ext uri="{BB962C8B-B14F-4D97-AF65-F5344CB8AC3E}">
        <p14:creationId xmlns:p14="http://schemas.microsoft.com/office/powerpoint/2010/main" val="777327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FE07BDF-4380-F679-DDC3-9C2899F18AEA}"/>
              </a:ext>
            </a:extLst>
          </p:cNvPr>
          <p:cNvSpPr txBox="1"/>
          <p:nvPr/>
        </p:nvSpPr>
        <p:spPr>
          <a:xfrm>
            <a:off x="695324" y="871758"/>
            <a:ext cx="10283452" cy="38711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6600" cap="all" spc="30">
                <a:latin typeface="+mj-lt"/>
                <a:ea typeface="+mj-ea"/>
                <a:cs typeface="+mj-cs"/>
              </a:rPr>
              <a:t>ANNEXES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39C2F8-C5DE-9D9B-F88B-981A05005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19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97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4071A95-2313-B4F9-761D-BB2AC0506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20</a:t>
            </a:fld>
            <a:endParaRPr lang="en-US"/>
          </a:p>
        </p:txBody>
      </p:sp>
      <p:pic>
        <p:nvPicPr>
          <p:cNvPr id="4" name="Image 3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855A7107-A1AF-AEB7-AE3D-3F97EC2600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294" y="0"/>
            <a:ext cx="5299364" cy="6858000"/>
          </a:xfrm>
          <a:prstGeom prst="rect">
            <a:avLst/>
          </a:prstGeom>
        </p:spPr>
      </p:pic>
      <p:pic>
        <p:nvPicPr>
          <p:cNvPr id="6" name="Image 5" descr="Une image contenant texte, Police, nombre, écriture manuscrite&#10;&#10;Le contenu généré par l’IA peut être incorrect.">
            <a:extLst>
              <a:ext uri="{FF2B5EF4-FFF2-40B4-BE49-F238E27FC236}">
                <a16:creationId xmlns:a16="http://schemas.microsoft.com/office/drawing/2014/main" id="{AD3C59E3-F31C-891C-363D-D3F8944F21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002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023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EA50F53-A828-9768-CF57-71B2B591D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21</a:t>
            </a:fld>
            <a:endParaRPr lang="en-US"/>
          </a:p>
        </p:txBody>
      </p:sp>
      <p:pic>
        <p:nvPicPr>
          <p:cNvPr id="4" name="Image 3" descr="Une image contenant texte, Police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E509ECF5-3EC6-7606-81B0-2D0D721EC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368" y="0"/>
            <a:ext cx="5299364" cy="6858000"/>
          </a:xfrm>
          <a:prstGeom prst="rect">
            <a:avLst/>
          </a:prstGeom>
        </p:spPr>
      </p:pic>
      <p:pic>
        <p:nvPicPr>
          <p:cNvPr id="6" name="Image 5" descr="Une image contenant texte, Police, lettre, document&#10;&#10;Le contenu généré par l’IA peut être incorrect.">
            <a:extLst>
              <a:ext uri="{FF2B5EF4-FFF2-40B4-BE49-F238E27FC236}">
                <a16:creationId xmlns:a16="http://schemas.microsoft.com/office/drawing/2014/main" id="{5EC1F40C-7336-724F-9391-907C13860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468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85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F983415-D424-29AD-BD64-47FE0D1B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22</a:t>
            </a:fld>
            <a:endParaRPr lang="en-US"/>
          </a:p>
        </p:txBody>
      </p:sp>
      <p:pic>
        <p:nvPicPr>
          <p:cNvPr id="4" name="Image 3" descr="Une image contenant texte, Police, lettre, papier&#10;&#10;Le contenu généré par l’IA peut être incorrect.">
            <a:extLst>
              <a:ext uri="{FF2B5EF4-FFF2-40B4-BE49-F238E27FC236}">
                <a16:creationId xmlns:a16="http://schemas.microsoft.com/office/drawing/2014/main" id="{6CE4721F-75D9-CDB5-1532-D0AAF39A28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318" y="0"/>
            <a:ext cx="5299364" cy="6858000"/>
          </a:xfrm>
          <a:prstGeom prst="rect">
            <a:avLst/>
          </a:prstGeom>
        </p:spPr>
      </p:pic>
      <p:pic>
        <p:nvPicPr>
          <p:cNvPr id="6" name="Image 5" descr="Une image contenant texte, Police, lettre, papier&#10;&#10;Le contenu généré par l’IA peut être incorrect.">
            <a:extLst>
              <a:ext uri="{FF2B5EF4-FFF2-40B4-BE49-F238E27FC236}">
                <a16:creationId xmlns:a16="http://schemas.microsoft.com/office/drawing/2014/main" id="{498F44FE-A588-76A2-228F-E5C2DC2D2E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768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155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BA83ED9-7E34-5643-F54F-D5899BE4C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23</a:t>
            </a:fld>
            <a:endParaRPr lang="en-US"/>
          </a:p>
        </p:txBody>
      </p:sp>
      <p:pic>
        <p:nvPicPr>
          <p:cNvPr id="4" name="Image 3" descr="Une image contenant texte, capture d’écran, Police, lettre&#10;&#10;Le contenu généré par l’IA peut être incorrect.">
            <a:extLst>
              <a:ext uri="{FF2B5EF4-FFF2-40B4-BE49-F238E27FC236}">
                <a16:creationId xmlns:a16="http://schemas.microsoft.com/office/drawing/2014/main" id="{EE354C3B-9402-0AAD-A6B0-49A6ED5C7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368" y="0"/>
            <a:ext cx="5299364" cy="6858000"/>
          </a:xfrm>
          <a:prstGeom prst="rect">
            <a:avLst/>
          </a:prstGeom>
        </p:spPr>
      </p:pic>
      <p:pic>
        <p:nvPicPr>
          <p:cNvPr id="6" name="Image 5" descr="Une image contenant texte, Police, lettr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3D299B00-9EDD-8387-27EB-CC4086F139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818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0225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D5D60F4-7152-678E-D235-DCEB31BF8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24</a:t>
            </a:fld>
            <a:endParaRPr lang="en-US"/>
          </a:p>
        </p:txBody>
      </p:sp>
      <p:pic>
        <p:nvPicPr>
          <p:cNvPr id="4" name="Image 3" descr="Une image contenant texte, Police, lettr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9B2B0415-A36D-05F3-A18A-72D4DAD6A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368" y="0"/>
            <a:ext cx="5299364" cy="6858000"/>
          </a:xfrm>
          <a:prstGeom prst="rect">
            <a:avLst/>
          </a:prstGeom>
        </p:spPr>
      </p:pic>
      <p:pic>
        <p:nvPicPr>
          <p:cNvPr id="6" name="Image 5" descr="Une image contenant texte, capture d’écran, Police, lettre&#10;&#10;Le contenu généré par l’IA peut être incorrect.">
            <a:extLst>
              <a:ext uri="{FF2B5EF4-FFF2-40B4-BE49-F238E27FC236}">
                <a16:creationId xmlns:a16="http://schemas.microsoft.com/office/drawing/2014/main" id="{036A4BF0-4FFC-8A22-6306-CB78B484C0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468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2736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CA73291-F2C9-DE39-00CE-79604AE3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25</a:t>
            </a:fld>
            <a:endParaRPr lang="en-US"/>
          </a:p>
        </p:txBody>
      </p:sp>
      <p:pic>
        <p:nvPicPr>
          <p:cNvPr id="4" name="Image 3" descr="Une image contenant texte, lettre, capture d’écran, document&#10;&#10;Le contenu généré par l’IA peut être incorrect.">
            <a:extLst>
              <a:ext uri="{FF2B5EF4-FFF2-40B4-BE49-F238E27FC236}">
                <a16:creationId xmlns:a16="http://schemas.microsoft.com/office/drawing/2014/main" id="{7182BF17-D1A6-B80B-EA26-5FC4DAB32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18" y="0"/>
            <a:ext cx="5299364" cy="6858000"/>
          </a:xfrm>
          <a:prstGeom prst="rect">
            <a:avLst/>
          </a:prstGeom>
        </p:spPr>
      </p:pic>
      <p:pic>
        <p:nvPicPr>
          <p:cNvPr id="6" name="Image 5" descr="Une image contenant texte, Police, lettre, document&#10;&#10;Le contenu généré par l’IA peut être incorrect.">
            <a:extLst>
              <a:ext uri="{FF2B5EF4-FFF2-40B4-BE49-F238E27FC236}">
                <a16:creationId xmlns:a16="http://schemas.microsoft.com/office/drawing/2014/main" id="{3674F836-19E0-74E0-9556-B2CFBCB886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818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9696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D52663D-C6CB-D8E0-3C3E-9B0322178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26</a:t>
            </a:fld>
            <a:endParaRPr lang="en-US"/>
          </a:p>
        </p:txBody>
      </p:sp>
      <p:pic>
        <p:nvPicPr>
          <p:cNvPr id="4" name="Image 3" descr="Une image contenant texte, Police, lettre, papier&#10;&#10;Le contenu généré par l’IA peut être incorrect.">
            <a:extLst>
              <a:ext uri="{FF2B5EF4-FFF2-40B4-BE49-F238E27FC236}">
                <a16:creationId xmlns:a16="http://schemas.microsoft.com/office/drawing/2014/main" id="{B1911D20-8528-F95A-1253-144ADE23B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68" y="0"/>
            <a:ext cx="5299364" cy="6858000"/>
          </a:xfrm>
          <a:prstGeom prst="rect">
            <a:avLst/>
          </a:prstGeom>
        </p:spPr>
      </p:pic>
      <p:pic>
        <p:nvPicPr>
          <p:cNvPr id="6" name="Image 5" descr="Une image contenant texte, Police, lettre, document&#10;&#10;Le contenu généré par l’IA peut être incorrect.">
            <a:extLst>
              <a:ext uri="{FF2B5EF4-FFF2-40B4-BE49-F238E27FC236}">
                <a16:creationId xmlns:a16="http://schemas.microsoft.com/office/drawing/2014/main" id="{185555E9-35C9-D5EA-D8E1-C38FFDE9DC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868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7198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617950C-BA6E-E0F4-890A-30657798F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27</a:t>
            </a:fld>
            <a:endParaRPr lang="en-US"/>
          </a:p>
        </p:txBody>
      </p:sp>
      <p:pic>
        <p:nvPicPr>
          <p:cNvPr id="4" name="Image 3" descr="Une image contenant texte, Police, lettr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37A22A52-9559-5348-58A7-D1642E1AC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18" y="0"/>
            <a:ext cx="5299364" cy="6858000"/>
          </a:xfrm>
          <a:prstGeom prst="rect">
            <a:avLst/>
          </a:prstGeom>
        </p:spPr>
      </p:pic>
      <p:pic>
        <p:nvPicPr>
          <p:cNvPr id="6" name="Image 5" descr="Une image contenant texte, Police, capture d’écran, document&#10;&#10;Le contenu généré par l’IA peut être incorrect.">
            <a:extLst>
              <a:ext uri="{FF2B5EF4-FFF2-40B4-BE49-F238E27FC236}">
                <a16:creationId xmlns:a16="http://schemas.microsoft.com/office/drawing/2014/main" id="{91974997-B9DA-B92A-FF44-A252CB217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168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5842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88E9FD1-5961-769C-62F5-5D236D2D0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28</a:t>
            </a:fld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F76FA9C-F4BC-6E85-D60B-A97B1F63A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18" y="0"/>
            <a:ext cx="5299364" cy="6858000"/>
          </a:xfrm>
          <a:prstGeom prst="rect">
            <a:avLst/>
          </a:prstGeom>
        </p:spPr>
      </p:pic>
      <p:pic>
        <p:nvPicPr>
          <p:cNvPr id="6" name="Image 5" descr="Une image contenant texte, Police, diagramme, document&#10;&#10;Le contenu généré par l’IA peut être incorrect.">
            <a:extLst>
              <a:ext uri="{FF2B5EF4-FFF2-40B4-BE49-F238E27FC236}">
                <a16:creationId xmlns:a16="http://schemas.microsoft.com/office/drawing/2014/main" id="{FAAF3F60-A815-9537-3FDA-DAEF5DE212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168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1010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645AEDC-AE2F-1870-6ACE-C54DAA247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29</a:t>
            </a:fld>
            <a:endParaRPr lang="en-US"/>
          </a:p>
        </p:txBody>
      </p:sp>
      <p:pic>
        <p:nvPicPr>
          <p:cNvPr id="4" name="Image 3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10E66F99-1EF8-6135-22F5-79509F4731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368" y="0"/>
            <a:ext cx="5299364" cy="6858000"/>
          </a:xfrm>
          <a:prstGeom prst="rect">
            <a:avLst/>
          </a:prstGeom>
        </p:spPr>
      </p:pic>
      <p:pic>
        <p:nvPicPr>
          <p:cNvPr id="6" name="Image 5" descr="Une image contenant texte, capture d’écran, diagramme, conception&#10;&#10;Le contenu généré par l’IA peut être incorrect.">
            <a:extLst>
              <a:ext uri="{FF2B5EF4-FFF2-40B4-BE49-F238E27FC236}">
                <a16:creationId xmlns:a16="http://schemas.microsoft.com/office/drawing/2014/main" id="{33232D4B-768E-6FDA-2EE1-80178AB832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818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4070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9D3D49F-F7C0-30CC-397D-758E51203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30</a:t>
            </a:fld>
            <a:endParaRPr lang="en-US"/>
          </a:p>
        </p:txBody>
      </p:sp>
      <p:pic>
        <p:nvPicPr>
          <p:cNvPr id="4" name="Image 3" descr="Une image contenant texte, diagramme, Pla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89DE86C-08C4-094C-38E8-E28707482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18" y="0"/>
            <a:ext cx="5299364" cy="6858000"/>
          </a:xfrm>
          <a:prstGeom prst="rect">
            <a:avLst/>
          </a:prstGeom>
        </p:spPr>
      </p:pic>
      <p:pic>
        <p:nvPicPr>
          <p:cNvPr id="6" name="Image 5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57D682AE-84F3-8857-6BFC-C6B47FF2B0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168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3822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3C1EF73-D3DE-1EC7-6D62-9108AEF40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31</a:t>
            </a:fld>
            <a:endParaRPr lang="en-US"/>
          </a:p>
        </p:txBody>
      </p:sp>
      <p:pic>
        <p:nvPicPr>
          <p:cNvPr id="4" name="Image 3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E5E8412A-7A88-2146-6DD9-47BBEA82A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368" y="0"/>
            <a:ext cx="5299364" cy="6858000"/>
          </a:xfrm>
          <a:prstGeom prst="rect">
            <a:avLst/>
          </a:prstGeom>
        </p:spPr>
      </p:pic>
      <p:pic>
        <p:nvPicPr>
          <p:cNvPr id="6" name="Image 5" descr="Une image contenant texte, Police, capture d’écran, document&#10;&#10;Le contenu généré par l’IA peut être incorrect.">
            <a:extLst>
              <a:ext uri="{FF2B5EF4-FFF2-40B4-BE49-F238E27FC236}">
                <a16:creationId xmlns:a16="http://schemas.microsoft.com/office/drawing/2014/main" id="{A3248CF0-F4B1-235F-7EDD-5C306F2089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568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3534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7C4514F-AE84-8DE0-8035-BE67D1E98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32</a:t>
            </a:fld>
            <a:endParaRPr lang="en-US"/>
          </a:p>
        </p:txBody>
      </p:sp>
      <p:pic>
        <p:nvPicPr>
          <p:cNvPr id="16" name="Image 15" descr="Une image contenant croquis, dessin, diagramme, blanc&#10;&#10;Le contenu généré par l’IA peut être incorrect.">
            <a:extLst>
              <a:ext uri="{FF2B5EF4-FFF2-40B4-BE49-F238E27FC236}">
                <a16:creationId xmlns:a16="http://schemas.microsoft.com/office/drawing/2014/main" id="{04DF905E-6BF4-C6AB-A1BA-680CB357C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82" r="36719" b="10135"/>
          <a:stretch>
            <a:fillRect/>
          </a:stretch>
        </p:blipFill>
        <p:spPr>
          <a:xfrm>
            <a:off x="0" y="427781"/>
            <a:ext cx="4472940" cy="6315919"/>
          </a:xfrm>
          <a:prstGeom prst="rect">
            <a:avLst/>
          </a:prstGeom>
        </p:spPr>
      </p:pic>
      <p:pic>
        <p:nvPicPr>
          <p:cNvPr id="18" name="Image 17" descr="Une image contenant croquis, dessin, Dessin au trait, illustration&#10;&#10;Le contenu généré par l’IA peut être incorrect.">
            <a:extLst>
              <a:ext uri="{FF2B5EF4-FFF2-40B4-BE49-F238E27FC236}">
                <a16:creationId xmlns:a16="http://schemas.microsoft.com/office/drawing/2014/main" id="{FF2301BC-760F-1446-E8B8-9005F5FD1E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45" t="14851" r="31062" b="6101"/>
          <a:stretch>
            <a:fillRect/>
          </a:stretch>
        </p:blipFill>
        <p:spPr>
          <a:xfrm>
            <a:off x="4274820" y="342900"/>
            <a:ext cx="4564380" cy="6400800"/>
          </a:xfrm>
          <a:prstGeom prst="rect">
            <a:avLst/>
          </a:prstGeom>
        </p:spPr>
      </p:pic>
      <p:pic>
        <p:nvPicPr>
          <p:cNvPr id="14" name="Image 13" descr="Une image contenant croquis, blanc, texte, conception&#10;&#10;Le contenu généré par l’IA peut être incorrect.">
            <a:extLst>
              <a:ext uri="{FF2B5EF4-FFF2-40B4-BE49-F238E27FC236}">
                <a16:creationId xmlns:a16="http://schemas.microsoft.com/office/drawing/2014/main" id="{D3EF966D-6F39-C86B-9A19-CFAAA42495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58" t="28808" r="38150" b="16897"/>
          <a:stretch>
            <a:fillRect/>
          </a:stretch>
        </p:blipFill>
        <p:spPr>
          <a:xfrm>
            <a:off x="8275319" y="662940"/>
            <a:ext cx="3679129" cy="499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5965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D44B5EA-11D9-15DE-BA68-540E9DAF6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33</a:t>
            </a:fld>
            <a:endParaRPr lang="en-US"/>
          </a:p>
        </p:txBody>
      </p:sp>
      <p:pic>
        <p:nvPicPr>
          <p:cNvPr id="4" name="Image 3" descr="Une image contenant croquis, dessin, diagramme, Dessin au trait&#10;&#10;Le contenu généré par l’IA peut être incorrect.">
            <a:extLst>
              <a:ext uri="{FF2B5EF4-FFF2-40B4-BE49-F238E27FC236}">
                <a16:creationId xmlns:a16="http://schemas.microsoft.com/office/drawing/2014/main" id="{D44249F2-C86C-3389-C026-61D42E3006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50" t="10047" r="31813" b="4744"/>
          <a:stretch>
            <a:fillRect/>
          </a:stretch>
        </p:blipFill>
        <p:spPr>
          <a:xfrm>
            <a:off x="809625" y="72391"/>
            <a:ext cx="4352926" cy="6570283"/>
          </a:xfrm>
          <a:prstGeom prst="rect">
            <a:avLst/>
          </a:prstGeom>
        </p:spPr>
      </p:pic>
      <p:pic>
        <p:nvPicPr>
          <p:cNvPr id="6" name="Image 5" descr="Une image contenant croquis, diagramme, dessin, conception&#10;&#10;Le contenu généré par l’IA peut être incorrect.">
            <a:extLst>
              <a:ext uri="{FF2B5EF4-FFF2-40B4-BE49-F238E27FC236}">
                <a16:creationId xmlns:a16="http://schemas.microsoft.com/office/drawing/2014/main" id="{F814A6A7-01DD-6641-EDB3-4A31454330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25" t="11695" r="33313" b="20470"/>
          <a:stretch>
            <a:fillRect/>
          </a:stretch>
        </p:blipFill>
        <p:spPr>
          <a:xfrm>
            <a:off x="6122670" y="381000"/>
            <a:ext cx="5421630" cy="63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85287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720</Words>
  <Application>Microsoft Office PowerPoint</Application>
  <PresentationFormat>Grand écran</PresentationFormat>
  <Paragraphs>242</Paragraphs>
  <Slides>33</Slides>
  <Notes>2</Notes>
  <HiddenSlides>3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4" baseType="lpstr">
      <vt:lpstr>ChronicleVTI</vt:lpstr>
      <vt:lpstr>PMI</vt:lpstr>
      <vt:lpstr>Présentation PowerPoint</vt:lpstr>
      <vt:lpstr>Table des matières</vt:lpstr>
      <vt:lpstr>Introduction</vt:lpstr>
      <vt:lpstr>Présentation PowerPoint</vt:lpstr>
      <vt:lpstr>Sommaire</vt:lpstr>
      <vt:lpstr>Introduction</vt:lpstr>
      <vt:lpstr>Méthode pahl &amp; beitz</vt:lpstr>
      <vt:lpstr>Conception Outils utilisés</vt:lpstr>
      <vt:lpstr>Solution retenue Conclusion de la conception</vt:lpstr>
      <vt:lpstr>Dimensionnement Approche globale</vt:lpstr>
      <vt:lpstr>Plan du prototype</vt:lpstr>
      <vt:lpstr>Fabrication mécanique</vt:lpstr>
      <vt:lpstr>Résultats &amp; Esprit critique</vt:lpstr>
      <vt:lpstr>Budget Dépenses de notre projet</vt:lpstr>
      <vt:lpstr>Limites &amp; Améliorations</vt:lpstr>
      <vt:lpstr>Projet en taille réelle Estimation du prix</vt:lpstr>
      <vt:lpstr>Merci pour votre écoute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Antonin Lüthi</dc:creator>
  <cp:lastModifiedBy>Antonin Lüthi</cp:lastModifiedBy>
  <cp:revision>2</cp:revision>
  <dcterms:created xsi:type="dcterms:W3CDTF">2025-12-14T14:08:37Z</dcterms:created>
  <dcterms:modified xsi:type="dcterms:W3CDTF">2026-09-19T13:23:30Z</dcterms:modified>
</cp:coreProperties>
</file>